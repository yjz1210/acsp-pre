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Yijun Zhang from MKSK. This presentation examines how industrial land use shapes access to urban and environmental resources in Seattle’s Lower Duwamish corridor. The research focuses on Georgetown and South Park, where residential life and industrial activity occupy the same landscape. The study period is approximately 2023 to 2025, based on presenter clarification. Its central argument is that land use decisions help organize residents’ everyday opportunities and constraints. I will explain the study’s approach and reported findings on zoning, mobility, public space, and income. I will introduce FOOD. CO., a separate studio proposal, as a possible design response, keeping research findings distinct from proposed interventions.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Georgetown and South Park are long established neighborhoods within a corridor organized around manufacturing, maritime activity, and logistics. These functions connect Seattle to global systems, while residents depend on the same landscape for everyday movement, public space, and services. The abstract describes disproportionate environmental burdens and limited access to urban amenities in these communities. This creates an important planning question: how do land use arrangements distribute the benefits and costs of urban infrastructure? The setting brings environmental quality into the discussion of accessibility. Access includes the conditions under which people reach and use resources, alongside the presence of those resources on a 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connects spatial patterns with community perspectives. GIS analysis examines zoning, access to public and environmental resources, and socioeconomic conditions, drawing on municipal data and the American Community Survey. Community input came through a workshop between the project team and community. This adds a perspective on how mapped constraints relate to everyday mobility, environmental exposure, public space, and planning participation. The supplied abstract provides the research framework, while the presenter’s clarification identifies the workshop setting. It does not provide analytical measures, precise dataset vintages, or participant details. I therefore present this approach without adding methods or testimony that the materials do not document.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numerical finding is the concentration of land designated for maritime manufacturing and logistics. The abstract reports approximately eighty seven percent in Georgetown and approximately sixty one percent in South Park. These figures suggest that industrial designation occupies a substantial share of each neighborhood, with a higher reported concentration in Georgetown. They establish the spatial context for the study’s discussion of access. The abstract does not provide the data year, neighborhood boundaries, or denominator definitions, so these are reported estimates. The comparison identifies a pattern that merits examination alongside mobility, environmental resources, and community perspectives. It does not establish a causal relationship on its 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findings extend from industrial concentration to dimensions of everyday access. The abstract identifies limited public green space, fragmented mobility networks, and reduced environmental amenities. It also reports median household incomes below the King County average in both neighborhoods, without supplying the income amounts. The abstract summarizes community perspectives as describing persistent and structural conditions. The combined account places spatial constraints within a social context: resources, connections, and household circumstances influence opportunities together. For planning, this means that examining zoning alone offers an incomplete picture. The study’s contribution is to connect the organization of land with the experience of moving through and living within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FOOD. CO. introduces a different kind of material: a landscape architecture studio proposal by Su Li, Yijun Zhang, and Yanrong Zheng, developed in LARCH 507 under Catherine de Almeida. Its organizing ideas are community, container reuse, and collaboration. The proposal adapts idle shipping containers into spaces and services associated with food distribution, food waste, mobility, and community activities. Food Lifeline provides a central site within this network. Here, the project illustrates how a design response can translate access concerns into specific spatial arrangements. Its drawings show proposed possibilities; the supplied material does not establish that these interventions were constructed or that their effects were evaluated.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network connects four sites: South Park, Marra Farm, the Duwamish River Community Hub, and Food Lifeline. Each contributes a different setting for community activity, food services, learning, or movement. The studio’s network drawing distributes container modules and proposed connections across these locations. The planning idea is to organize services across community places, allowing interventions to support a wider system. This shifts attention from one redesigned site to the relationships among sites. For the access argument, those relationships matter because useful destinations require workable connections. The diagram illustrates that intention, while the feasibility and everyday usefulness of the proposed routes remain questions for further testing.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studio develops a vocabulary of container adaptations rather than a single repeated building. Its module taxonomy includes a cafe bus, food collection facilities, bus stops, seating, and pavilions, among other functions. Containers can be opened, divided, combined, or given components to support different uses. This range allows the proposal to address several access needs through a shared design approach. In the proposal, collection points support food waste handling, bus stops support waiting and movement, and seating supports staying in public space. The drawings communicate functional possibilities. Choosing modules would require attention to the needs of each site, the people using it, and the organizations responsible for its operation.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Food Lifeline, the proposal gives attention to the space around the buildings. The site plan introduces an entry plaza, pedestrian circulation, a cafe, and urban farm areas alongside loading and vehicle functions. Different drawings show arrangements for circulation, events, and a night market. The design intention is to create opportunities for public activity around a facility associated with food distribution. This makes the site edge an important interface between organizational operations and community use. The plan allows us to discuss how those functions might coexist spatially. It does not demonstrate operational compatibility, so access, loading, maintenance, and safe circulation would need assessment before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studio renderings combine proposed mobility services with food waste collection. They show collection containers, a bio bus concept, redesigned bus stops, and a bicycle system with racks and sheltered spaces. These elements suggest that community movement and resource collection could share a coordinated network. They also make the proposal’s experience visible: residents might encounter the system through a stop, a bicycle facility, or a collection point. The material supplies a design scenario rather than evidence about routes, fuel, energy production, or emissions. Its contribution here is to identify possible connections between services that planners and operators could investigate through more detailed technical and community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Taken together, the materials connect a diagnosis of uneven access with a proposal for reorganizing community services and spaces. The research argues that land use decisions shape access across industrial corridors. The studio translates related concerns into a network of specific interventions. A next step would be to verify the access baselines and develop the proposal with residents, site organizations, and transport operators. Testing should examine everyday usefulness, safe circulation, costs, maintenance, and governance. These are recommendations for advancing the proposal, rather than findings from an evaluation. The broader planning lesson is to make access an explicit concern when organizing industrial land, environmental resources, and public services.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presentation draws on two supplied primary documents: the ACSP abstract, Unequal Access by Design, and the FOOD. CO. studio portfolio. The abstract supplies the research topic, stated analytical approach, zoning percentages, and qualitative findings. The portfolio supplies the community mapping, container modules, site plan, and proposed service network. Presenter clarification identifies approximate study dates of 2023 to 2025 and a workshop between the project team and community. These sources make different contributions, which have been kept distinct. The presentation connects the access argument with a design response, while preserving the limits of the supplied evidence and the work needed to test the proposal.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Rectangle 1"/>
          <p:cNvSpPr/>
          <p:nvPr/>
        </p:nvSpPr>
        <p:spPr>
          <a:xfrm>
            <a:off x="548640" y="448056"/>
            <a:ext cx="329184" cy="41148"/>
          </a:xfrm>
          <a:prstGeom prst="rect">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978408" y="365760"/>
            <a:ext cx="10561320" cy="256032"/>
          </a:xfrm>
          <a:prstGeom prst="rect">
            <a:avLst/>
          </a:prstGeom>
          <a:noFill/>
        </p:spPr>
        <p:txBody>
          <a:bodyPr wrap="square" lIns="0" rIns="0" tIns="0" bIns="0" anchor="t">
            <a:spAutoFit/>
          </a:bodyPr>
          <a:lstStyle/>
          <a:p>
            <a:pPr algn="l">
              <a:lnSpc>
                <a:spcPct val="108000"/>
              </a:lnSpc>
              <a:spcBef>
                <a:spcPts val="0"/>
              </a:spcBef>
              <a:spcAft>
                <a:spcPts val="0"/>
              </a:spcAft>
              <a:defRPr sz="1150" b="1">
                <a:solidFill>
                  <a:srgbClr val="20685F"/>
                </a:solidFill>
                <a:latin typeface="Arial"/>
              </a:defRPr>
            </a:pPr>
            <a:r>
              <a:t>ACSP · CONFERENCE PRESENTATION</a:t>
            </a:r>
          </a:p>
        </p:txBody>
      </p:sp>
      <p:sp>
        <p:nvSpPr>
          <p:cNvPr id="4" name="TextBox 3"/>
          <p:cNvSpPr txBox="1"/>
          <p:nvPr/>
        </p:nvSpPr>
        <p:spPr>
          <a:xfrm>
            <a:off x="548640" y="832104"/>
            <a:ext cx="11045952" cy="694944"/>
          </a:xfrm>
          <a:prstGeom prst="rect">
            <a:avLst/>
          </a:prstGeom>
          <a:noFill/>
        </p:spPr>
        <p:txBody>
          <a:bodyPr wrap="square" lIns="0" rIns="0" tIns="0" bIns="0" anchor="t">
            <a:spAutoFit/>
          </a:bodyPr>
          <a:lstStyle/>
          <a:p>
            <a:pPr algn="l">
              <a:lnSpc>
                <a:spcPct val="108000"/>
              </a:lnSpc>
              <a:spcBef>
                <a:spcPts val="0"/>
              </a:spcBef>
              <a:spcAft>
                <a:spcPts val="0"/>
              </a:spcAft>
              <a:defRPr sz="3100" b="1">
                <a:solidFill>
                  <a:srgbClr val="22312F"/>
                </a:solidFill>
                <a:latin typeface="Arial"/>
              </a:defRPr>
            </a:pPr>
          </a:p>
        </p:txBody>
      </p:sp>
      <p:cxnSp>
        <p:nvCxnSpPr>
          <p:cNvPr id="5" name="Connector 4"/>
          <p:cNvCxnSpPr/>
          <p:nvPr/>
        </p:nvCxnSpPr>
        <p:spPr>
          <a:xfrm>
            <a:off x="548640" y="6391656"/>
            <a:ext cx="11091672"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87668"/>
            <a:ext cx="10607040" cy="228600"/>
          </a:xfrm>
          <a:prstGeom prst="rect">
            <a:avLst/>
          </a:prstGeom>
          <a:noFill/>
        </p:spPr>
        <p:txBody>
          <a:bodyPr wrap="square" lIns="0" rIns="0" tIns="0" bIns="0" anchor="t">
            <a:spAutoFit/>
          </a:bodyPr>
          <a:lstStyle/>
          <a:p>
            <a:pPr algn="l">
              <a:lnSpc>
                <a:spcPct val="108000"/>
              </a:lnSpc>
              <a:spcBef>
                <a:spcPts val="0"/>
              </a:spcBef>
              <a:spcAft>
                <a:spcPts val="0"/>
              </a:spcAft>
              <a:defRPr sz="1100" b="0">
                <a:solidFill>
                  <a:srgbClr val="5E6C68"/>
                </a:solidFill>
                <a:latin typeface="Arial"/>
              </a:defRPr>
            </a:pPr>
            <a:r>
              <a:t>Research: supplied ACSP abstract · Visual: studio PDF p. 1, design proposal</a:t>
            </a:r>
          </a:p>
        </p:txBody>
      </p:sp>
      <p:sp>
        <p:nvSpPr>
          <p:cNvPr id="7" name="TextBox 6"/>
          <p:cNvSpPr txBox="1"/>
          <p:nvPr/>
        </p:nvSpPr>
        <p:spPr>
          <a:xfrm>
            <a:off x="11192256" y="6473952"/>
            <a:ext cx="420624" cy="246888"/>
          </a:xfrm>
          <a:prstGeom prst="rect">
            <a:avLst/>
          </a:prstGeom>
          <a:noFill/>
        </p:spPr>
        <p:txBody>
          <a:bodyPr wrap="square" lIns="0" rIns="0" tIns="0" bIns="0" anchor="t">
            <a:spAutoFit/>
          </a:bodyPr>
          <a:lstStyle/>
          <a:p>
            <a:pPr algn="r">
              <a:lnSpc>
                <a:spcPct val="108000"/>
              </a:lnSpc>
              <a:spcBef>
                <a:spcPts val="0"/>
              </a:spcBef>
              <a:spcAft>
                <a:spcPts val="0"/>
              </a:spcAft>
              <a:defRPr sz="1200" b="1">
                <a:solidFill>
                  <a:srgbClr val="20685F"/>
                </a:solidFill>
                <a:latin typeface="Arial"/>
              </a:defRPr>
            </a:pPr>
            <a:r>
              <a:t>01</a:t>
            </a:r>
          </a:p>
        </p:txBody>
      </p:sp>
      <p:sp>
        <p:nvSpPr>
          <p:cNvPr id="8" name="TextBox 7"/>
          <p:cNvSpPr txBox="1"/>
          <p:nvPr/>
        </p:nvSpPr>
        <p:spPr>
          <a:xfrm>
            <a:off x="548640" y="1344168"/>
            <a:ext cx="5513832" cy="1563624"/>
          </a:xfrm>
          <a:prstGeom prst="rect">
            <a:avLst/>
          </a:prstGeom>
          <a:noFill/>
        </p:spPr>
        <p:txBody>
          <a:bodyPr wrap="square" lIns="0" rIns="0" tIns="0" bIns="0" anchor="t">
            <a:spAutoFit/>
          </a:bodyPr>
          <a:lstStyle/>
          <a:p>
            <a:pPr algn="l">
              <a:lnSpc>
                <a:spcPct val="103000"/>
              </a:lnSpc>
              <a:spcBef>
                <a:spcPts val="0"/>
              </a:spcBef>
              <a:spcAft>
                <a:spcPts val="0"/>
              </a:spcAft>
              <a:defRPr sz="4600" b="1">
                <a:solidFill>
                  <a:srgbClr val="22312F"/>
                </a:solidFill>
                <a:latin typeface="Arial"/>
              </a:defRPr>
            </a:pPr>
            <a:r>
              <a:t>Unequal access</a:t>
            </a:r>
          </a:p>
          <a:p>
            <a:pPr algn="l">
              <a:lnSpc>
                <a:spcPct val="103000"/>
              </a:lnSpc>
              <a:spcBef>
                <a:spcPts val="0"/>
              </a:spcBef>
              <a:spcAft>
                <a:spcPts val="0"/>
              </a:spcAft>
              <a:defRPr sz="4600" b="1">
                <a:solidFill>
                  <a:srgbClr val="22312F"/>
                </a:solidFill>
                <a:latin typeface="Arial"/>
              </a:defRPr>
            </a:pPr>
            <a:r>
              <a:t>by design</a:t>
            </a:r>
          </a:p>
        </p:txBody>
      </p:sp>
      <p:sp>
        <p:nvSpPr>
          <p:cNvPr id="9" name="TextBox 8"/>
          <p:cNvSpPr txBox="1"/>
          <p:nvPr/>
        </p:nvSpPr>
        <p:spPr>
          <a:xfrm>
            <a:off x="576072" y="3108960"/>
            <a:ext cx="5148072" cy="1024128"/>
          </a:xfrm>
          <a:prstGeom prst="rect">
            <a:avLst/>
          </a:prstGeom>
          <a:noFill/>
        </p:spPr>
        <p:txBody>
          <a:bodyPr wrap="square" lIns="0" rIns="0" tIns="0" bIns="0" anchor="t">
            <a:spAutoFit/>
          </a:bodyPr>
          <a:lstStyle/>
          <a:p>
            <a:pPr algn="l">
              <a:lnSpc>
                <a:spcPct val="108000"/>
              </a:lnSpc>
              <a:spcBef>
                <a:spcPts val="0"/>
              </a:spcBef>
              <a:spcAft>
                <a:spcPts val="0"/>
              </a:spcAft>
              <a:defRPr sz="2300" b="0">
                <a:solidFill>
                  <a:srgbClr val="5E6C68"/>
                </a:solidFill>
                <a:latin typeface="Arial"/>
              </a:defRPr>
            </a:pPr>
            <a:r>
              <a:t>Industrial zoning and spatial justice in</a:t>
            </a:r>
          </a:p>
          <a:p>
            <a:pPr algn="l">
              <a:lnSpc>
                <a:spcPct val="108000"/>
              </a:lnSpc>
              <a:spcBef>
                <a:spcPts val="0"/>
              </a:spcBef>
              <a:spcAft>
                <a:spcPts val="0"/>
              </a:spcAft>
              <a:defRPr sz="2300" b="0">
                <a:solidFill>
                  <a:srgbClr val="5E6C68"/>
                </a:solidFill>
                <a:latin typeface="Arial"/>
              </a:defRPr>
            </a:pPr>
            <a:r>
              <a:t>Seattle’s Lower Duwamish corridor</a:t>
            </a:r>
          </a:p>
        </p:txBody>
      </p:sp>
      <p:sp>
        <p:nvSpPr>
          <p:cNvPr id="10" name="TextBox 9"/>
          <p:cNvSpPr txBox="1"/>
          <p:nvPr/>
        </p:nvSpPr>
        <p:spPr>
          <a:xfrm>
            <a:off x="576072" y="4855464"/>
            <a:ext cx="5029200" cy="356616"/>
          </a:xfrm>
          <a:prstGeom prst="rect">
            <a:avLst/>
          </a:prstGeom>
          <a:noFill/>
        </p:spPr>
        <p:txBody>
          <a:bodyPr wrap="square" lIns="0" rIns="0" tIns="0" bIns="0" anchor="t">
            <a:spAutoFit/>
          </a:bodyPr>
          <a:lstStyle/>
          <a:p>
            <a:pPr algn="l">
              <a:lnSpc>
                <a:spcPct val="108000"/>
              </a:lnSpc>
              <a:spcBef>
                <a:spcPts val="0"/>
              </a:spcBef>
              <a:spcAft>
                <a:spcPts val="0"/>
              </a:spcAft>
              <a:defRPr sz="2300" b="1">
                <a:solidFill>
                  <a:srgbClr val="22312F"/>
                </a:solidFill>
                <a:latin typeface="Arial"/>
              </a:defRPr>
            </a:pPr>
            <a:r>
              <a:t>Yijun Zhang</a:t>
            </a:r>
          </a:p>
        </p:txBody>
      </p:sp>
      <p:sp>
        <p:nvSpPr>
          <p:cNvPr id="11" name="TextBox 10"/>
          <p:cNvSpPr txBox="1"/>
          <p:nvPr/>
        </p:nvSpPr>
        <p:spPr>
          <a:xfrm>
            <a:off x="576072" y="5303520"/>
            <a:ext cx="5029200" cy="320040"/>
          </a:xfrm>
          <a:prstGeom prst="rect">
            <a:avLst/>
          </a:prstGeom>
          <a:noFill/>
        </p:spPr>
        <p:txBody>
          <a:bodyPr wrap="square" lIns="0" rIns="0" tIns="0" bIns="0" anchor="t">
            <a:spAutoFit/>
          </a:bodyPr>
          <a:lstStyle/>
          <a:p>
            <a:pPr algn="l">
              <a:lnSpc>
                <a:spcPct val="108000"/>
              </a:lnSpc>
              <a:spcBef>
                <a:spcPts val="0"/>
              </a:spcBef>
              <a:spcAft>
                <a:spcPts val="0"/>
              </a:spcAft>
              <a:defRPr sz="1900" b="0">
                <a:solidFill>
                  <a:srgbClr val="5E6C68"/>
                </a:solidFill>
                <a:latin typeface="Arial"/>
              </a:defRPr>
            </a:pPr>
            <a:r>
              <a:t>MKSK</a:t>
            </a:r>
          </a:p>
        </p:txBody>
      </p:sp>
      <p:sp>
        <p:nvSpPr>
          <p:cNvPr id="12" name="TextBox 11"/>
          <p:cNvSpPr txBox="1"/>
          <p:nvPr/>
        </p:nvSpPr>
        <p:spPr>
          <a:xfrm>
            <a:off x="576072" y="5843016"/>
            <a:ext cx="10881360" cy="274320"/>
          </a:xfrm>
          <a:prstGeom prst="rect">
            <a:avLst/>
          </a:prstGeom>
          <a:noFill/>
        </p:spPr>
        <p:txBody>
          <a:bodyPr wrap="square" lIns="0" rIns="0" tIns="0" bIns="0" anchor="t">
            <a:spAutoFit/>
          </a:bodyPr>
          <a:lstStyle/>
          <a:p>
            <a:pPr algn="l">
              <a:lnSpc>
                <a:spcPct val="108000"/>
              </a:lnSpc>
              <a:spcBef>
                <a:spcPts val="0"/>
              </a:spcBef>
              <a:spcAft>
                <a:spcPts val="0"/>
              </a:spcAft>
              <a:defRPr sz="1500" b="0">
                <a:solidFill>
                  <a:srgbClr val="20685F"/>
                </a:solidFill>
                <a:latin typeface="Arial"/>
              </a:defRPr>
            </a:pPr>
            <a:r>
              <a:t>Research diagnosis + FOOD. CO. studio proposal</a:t>
            </a:r>
          </a:p>
        </p:txBody>
      </p:sp>
      <p:pic>
        <p:nvPicPr>
          <p:cNvPr id="13" name="Picture 12" descr="FOOD. CO. studio rendering of a proposed community gathering space at Food Lifeline; studio PDF page 1."/>
          <p:cNvPicPr>
            <a:picLocks noChangeAspect="1"/>
          </p:cNvPicPr>
          <p:nvPr/>
        </p:nvPicPr>
        <p:blipFill>
          <a:blip r:embed="rId3"/>
          <a:stretch>
            <a:fillRect/>
          </a:stretch>
        </p:blipFill>
        <p:spPr>
          <a:xfrm>
            <a:off x="6163056" y="1321871"/>
            <a:ext cx="5468112" cy="4168536"/>
          </a:xfrm>
          <a:prstGeom prst="rect">
            <a:avLst/>
          </a:prstGeom>
        </p:spPr>
      </p:pic>
      <p:sp>
        <p:nvSpPr>
          <p:cNvPr id="14" name="TextBox 13"/>
          <p:cNvSpPr txBox="1"/>
          <p:nvPr/>
        </p:nvSpPr>
        <p:spPr>
          <a:xfrm>
            <a:off x="6190488" y="5650992"/>
            <a:ext cx="5376672" cy="274320"/>
          </a:xfrm>
          <a:prstGeom prst="rect">
            <a:avLst/>
          </a:prstGeom>
          <a:noFill/>
        </p:spPr>
        <p:txBody>
          <a:bodyPr wrap="square" lIns="0" rIns="0" tIns="0" bIns="0" anchor="t">
            <a:spAutoFit/>
          </a:bodyPr>
          <a:lstStyle/>
          <a:p>
            <a:pPr algn="l">
              <a:lnSpc>
                <a:spcPct val="108000"/>
              </a:lnSpc>
              <a:spcBef>
                <a:spcPts val="0"/>
              </a:spcBef>
              <a:spcAft>
                <a:spcPts val="0"/>
              </a:spcAft>
              <a:defRPr sz="1400" b="0">
                <a:solidFill>
                  <a:srgbClr val="5E6C68"/>
                </a:solidFill>
                <a:latin typeface="Arial"/>
              </a:defRPr>
            </a:pPr>
            <a:r>
              <a:t>FOOD. CO. · Studio design scenario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Rectangle 1"/>
          <p:cNvSpPr/>
          <p:nvPr/>
        </p:nvSpPr>
        <p:spPr>
          <a:xfrm>
            <a:off x="548640" y="448056"/>
            <a:ext cx="329184" cy="41148"/>
          </a:xfrm>
          <a:prstGeom prst="rect">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978408" y="365760"/>
            <a:ext cx="10561320" cy="256032"/>
          </a:xfrm>
          <a:prstGeom prst="rect">
            <a:avLst/>
          </a:prstGeom>
          <a:noFill/>
        </p:spPr>
        <p:txBody>
          <a:bodyPr wrap="square" lIns="0" rIns="0" tIns="0" bIns="0" anchor="t">
            <a:spAutoFit/>
          </a:bodyPr>
          <a:lstStyle/>
          <a:p>
            <a:pPr algn="l">
              <a:lnSpc>
                <a:spcPct val="108000"/>
              </a:lnSpc>
              <a:spcBef>
                <a:spcPts val="0"/>
              </a:spcBef>
              <a:spcAft>
                <a:spcPts val="0"/>
              </a:spcAft>
              <a:defRPr sz="1150" b="1">
                <a:solidFill>
                  <a:srgbClr val="20685F"/>
                </a:solidFill>
                <a:latin typeface="Arial"/>
              </a:defRPr>
            </a:pPr>
            <a:r>
              <a:t>RESEARCH CONTEXT</a:t>
            </a:r>
          </a:p>
        </p:txBody>
      </p:sp>
      <p:sp>
        <p:nvSpPr>
          <p:cNvPr id="4" name="TextBox 3"/>
          <p:cNvSpPr txBox="1"/>
          <p:nvPr/>
        </p:nvSpPr>
        <p:spPr>
          <a:xfrm>
            <a:off x="548640" y="832104"/>
            <a:ext cx="11045952" cy="694944"/>
          </a:xfrm>
          <a:prstGeom prst="rect">
            <a:avLst/>
          </a:prstGeom>
          <a:noFill/>
        </p:spPr>
        <p:txBody>
          <a:bodyPr wrap="square" lIns="0" rIns="0" tIns="0" bIns="0" anchor="t">
            <a:spAutoFit/>
          </a:bodyPr>
          <a:lstStyle/>
          <a:p>
            <a:pPr algn="l">
              <a:lnSpc>
                <a:spcPct val="108000"/>
              </a:lnSpc>
              <a:spcBef>
                <a:spcPts val="0"/>
              </a:spcBef>
              <a:spcAft>
                <a:spcPts val="0"/>
              </a:spcAft>
              <a:defRPr sz="3100" b="1">
                <a:solidFill>
                  <a:srgbClr val="22312F"/>
                </a:solidFill>
                <a:latin typeface="Arial"/>
              </a:defRPr>
            </a:pPr>
            <a:r>
              <a:t>Industry and everyday life share a corridor</a:t>
            </a:r>
          </a:p>
        </p:txBody>
      </p:sp>
      <p:cxnSp>
        <p:nvCxnSpPr>
          <p:cNvPr id="5" name="Connector 4"/>
          <p:cNvCxnSpPr/>
          <p:nvPr/>
        </p:nvCxnSpPr>
        <p:spPr>
          <a:xfrm>
            <a:off x="548640" y="6391656"/>
            <a:ext cx="11091672"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87668"/>
            <a:ext cx="10607040" cy="228600"/>
          </a:xfrm>
          <a:prstGeom prst="rect">
            <a:avLst/>
          </a:prstGeom>
          <a:noFill/>
        </p:spPr>
        <p:txBody>
          <a:bodyPr wrap="square" lIns="0" rIns="0" tIns="0" bIns="0" anchor="t">
            <a:spAutoFit/>
          </a:bodyPr>
          <a:lstStyle/>
          <a:p>
            <a:pPr algn="l">
              <a:lnSpc>
                <a:spcPct val="108000"/>
              </a:lnSpc>
              <a:spcBef>
                <a:spcPts val="0"/>
              </a:spcBef>
              <a:spcAft>
                <a:spcPts val="0"/>
              </a:spcAft>
              <a:defRPr sz="1100" b="0">
                <a:solidFill>
                  <a:srgbClr val="5E6C68"/>
                </a:solidFill>
                <a:latin typeface="Arial"/>
              </a:defRPr>
            </a:pPr>
            <a:r>
              <a:t>Context: supplied ACSP abstract · Cropped logistics map: studio PDF p. 5</a:t>
            </a:r>
          </a:p>
        </p:txBody>
      </p:sp>
      <p:sp>
        <p:nvSpPr>
          <p:cNvPr id="7" name="TextBox 6"/>
          <p:cNvSpPr txBox="1"/>
          <p:nvPr/>
        </p:nvSpPr>
        <p:spPr>
          <a:xfrm>
            <a:off x="11192256" y="6473952"/>
            <a:ext cx="420624" cy="246888"/>
          </a:xfrm>
          <a:prstGeom prst="rect">
            <a:avLst/>
          </a:prstGeom>
          <a:noFill/>
        </p:spPr>
        <p:txBody>
          <a:bodyPr wrap="square" lIns="0" rIns="0" tIns="0" bIns="0" anchor="t">
            <a:spAutoFit/>
          </a:bodyPr>
          <a:lstStyle/>
          <a:p>
            <a:pPr algn="r">
              <a:lnSpc>
                <a:spcPct val="108000"/>
              </a:lnSpc>
              <a:spcBef>
                <a:spcPts val="0"/>
              </a:spcBef>
              <a:spcAft>
                <a:spcPts val="0"/>
              </a:spcAft>
              <a:defRPr sz="1200" b="1">
                <a:solidFill>
                  <a:srgbClr val="20685F"/>
                </a:solidFill>
                <a:latin typeface="Arial"/>
              </a:defRPr>
            </a:pPr>
            <a:r>
              <a:t>02</a:t>
            </a:r>
          </a:p>
        </p:txBody>
      </p:sp>
      <p:sp>
        <p:nvSpPr>
          <p:cNvPr id="8" name="TextBox 7"/>
          <p:cNvSpPr txBox="1"/>
          <p:nvPr/>
        </p:nvSpPr>
        <p:spPr>
          <a:xfrm>
            <a:off x="576072" y="1856231"/>
            <a:ext cx="4983480" cy="448056"/>
          </a:xfrm>
          <a:prstGeom prst="rect">
            <a:avLst/>
          </a:prstGeom>
          <a:noFill/>
        </p:spPr>
        <p:txBody>
          <a:bodyPr wrap="square" lIns="0" rIns="0" tIns="0" bIns="0" anchor="t">
            <a:spAutoFit/>
          </a:bodyPr>
          <a:lstStyle/>
          <a:p>
            <a:pPr algn="l">
              <a:lnSpc>
                <a:spcPct val="108000"/>
              </a:lnSpc>
              <a:spcBef>
                <a:spcPts val="0"/>
              </a:spcBef>
              <a:spcAft>
                <a:spcPts val="0"/>
              </a:spcAft>
              <a:defRPr sz="2600" b="1">
                <a:solidFill>
                  <a:srgbClr val="22312F"/>
                </a:solidFill>
                <a:latin typeface="Arial"/>
              </a:defRPr>
            </a:pPr>
            <a:r>
              <a:t>Georgetown + South Park</a:t>
            </a:r>
          </a:p>
        </p:txBody>
      </p:sp>
      <p:sp>
        <p:nvSpPr>
          <p:cNvPr id="9" name="TextBox 8"/>
          <p:cNvSpPr txBox="1"/>
          <p:nvPr/>
        </p:nvSpPr>
        <p:spPr>
          <a:xfrm>
            <a:off x="576072" y="2551176"/>
            <a:ext cx="4983480" cy="1307592"/>
          </a:xfrm>
          <a:prstGeom prst="rect">
            <a:avLst/>
          </a:prstGeom>
          <a:noFill/>
        </p:spPr>
        <p:txBody>
          <a:bodyPr wrap="square" lIns="0" rIns="0" tIns="0" bIns="0" anchor="t">
            <a:spAutoFit/>
          </a:bodyPr>
          <a:lstStyle/>
          <a:p>
            <a:pPr algn="l">
              <a:lnSpc>
                <a:spcPct val="108000"/>
              </a:lnSpc>
              <a:spcBef>
                <a:spcPts val="0"/>
              </a:spcBef>
              <a:spcAft>
                <a:spcPts val="0"/>
              </a:spcAft>
              <a:defRPr sz="2300" b="0">
                <a:solidFill>
                  <a:srgbClr val="5E6C68"/>
                </a:solidFill>
                <a:latin typeface="Arial"/>
              </a:defRPr>
            </a:pPr>
            <a:r>
              <a:t>Residential life alongside</a:t>
            </a:r>
          </a:p>
          <a:p>
            <a:pPr algn="l">
              <a:lnSpc>
                <a:spcPct val="108000"/>
              </a:lnSpc>
              <a:spcBef>
                <a:spcPts val="0"/>
              </a:spcBef>
              <a:spcAft>
                <a:spcPts val="0"/>
              </a:spcAft>
              <a:defRPr sz="2300" b="0">
                <a:solidFill>
                  <a:srgbClr val="5E6C68"/>
                </a:solidFill>
                <a:latin typeface="Arial"/>
              </a:defRPr>
            </a:pPr>
            <a:r>
              <a:t>manufacturing, maritime activity</a:t>
            </a:r>
          </a:p>
          <a:p>
            <a:pPr algn="l">
              <a:lnSpc>
                <a:spcPct val="108000"/>
              </a:lnSpc>
              <a:spcBef>
                <a:spcPts val="0"/>
              </a:spcBef>
              <a:spcAft>
                <a:spcPts val="0"/>
              </a:spcAft>
              <a:defRPr sz="2300" b="0">
                <a:solidFill>
                  <a:srgbClr val="5E6C68"/>
                </a:solidFill>
                <a:latin typeface="Arial"/>
              </a:defRPr>
            </a:pPr>
            <a:r>
              <a:t>and logistics</a:t>
            </a:r>
          </a:p>
        </p:txBody>
      </p:sp>
      <p:cxnSp>
        <p:nvCxnSpPr>
          <p:cNvPr id="10" name="Connector 9"/>
          <p:cNvCxnSpPr/>
          <p:nvPr/>
        </p:nvCxnSpPr>
        <p:spPr>
          <a:xfrm>
            <a:off x="576072" y="4023360"/>
            <a:ext cx="4599432"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576072" y="4315968"/>
            <a:ext cx="4910328" cy="950976"/>
          </a:xfrm>
          <a:prstGeom prst="rect">
            <a:avLst/>
          </a:prstGeom>
          <a:noFill/>
        </p:spPr>
        <p:txBody>
          <a:bodyPr wrap="square" lIns="0" rIns="0" tIns="0" bIns="0" anchor="t">
            <a:spAutoFit/>
          </a:bodyPr>
          <a:lstStyle/>
          <a:p>
            <a:pPr algn="l">
              <a:lnSpc>
                <a:spcPct val="108000"/>
              </a:lnSpc>
              <a:spcBef>
                <a:spcPts val="0"/>
              </a:spcBef>
              <a:spcAft>
                <a:spcPts val="0"/>
              </a:spcAft>
              <a:defRPr sz="2700" b="1">
                <a:solidFill>
                  <a:srgbClr val="20685F"/>
                </a:solidFill>
                <a:latin typeface="Arial"/>
              </a:defRPr>
            </a:pPr>
            <a:r>
              <a:t>How do land-use decisions</a:t>
            </a:r>
          </a:p>
          <a:p>
            <a:pPr algn="l">
              <a:lnSpc>
                <a:spcPct val="108000"/>
              </a:lnSpc>
              <a:spcBef>
                <a:spcPts val="0"/>
              </a:spcBef>
              <a:spcAft>
                <a:spcPts val="0"/>
              </a:spcAft>
              <a:defRPr sz="2700" b="1">
                <a:solidFill>
                  <a:srgbClr val="20685F"/>
                </a:solidFill>
                <a:latin typeface="Arial"/>
              </a:defRPr>
            </a:pPr>
            <a:r>
              <a:t>shape everyday access?</a:t>
            </a:r>
          </a:p>
        </p:txBody>
      </p:sp>
      <p:sp>
        <p:nvSpPr>
          <p:cNvPr id="12" name="Rectangle 11"/>
          <p:cNvSpPr/>
          <p:nvPr/>
        </p:nvSpPr>
        <p:spPr>
          <a:xfrm>
            <a:off x="5532120" y="1700784"/>
            <a:ext cx="6080760" cy="44165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Studio context map locating port, rail, airport and Food Lifeline along the Duwamish corridor; excludes freight-volume charts."/>
          <p:cNvPicPr>
            <a:picLocks noChangeAspect="1"/>
          </p:cNvPicPr>
          <p:nvPr/>
        </p:nvPicPr>
        <p:blipFill>
          <a:blip r:embed="rId3"/>
          <a:stretch>
            <a:fillRect/>
          </a:stretch>
        </p:blipFill>
        <p:spPr>
          <a:xfrm>
            <a:off x="5890823" y="1719072"/>
            <a:ext cx="5354208" cy="437997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Rectangle 1"/>
          <p:cNvSpPr/>
          <p:nvPr/>
        </p:nvSpPr>
        <p:spPr>
          <a:xfrm>
            <a:off x="548640" y="448056"/>
            <a:ext cx="329184" cy="41148"/>
          </a:xfrm>
          <a:prstGeom prst="rect">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978408" y="365760"/>
            <a:ext cx="10561320" cy="256032"/>
          </a:xfrm>
          <a:prstGeom prst="rect">
            <a:avLst/>
          </a:prstGeom>
          <a:noFill/>
        </p:spPr>
        <p:txBody>
          <a:bodyPr wrap="square" lIns="0" rIns="0" tIns="0" bIns="0" anchor="t">
            <a:spAutoFit/>
          </a:bodyPr>
          <a:lstStyle/>
          <a:p>
            <a:pPr algn="l">
              <a:lnSpc>
                <a:spcPct val="108000"/>
              </a:lnSpc>
              <a:spcBef>
                <a:spcPts val="0"/>
              </a:spcBef>
              <a:spcAft>
                <a:spcPts val="0"/>
              </a:spcAft>
              <a:defRPr sz="1150" b="1">
                <a:solidFill>
                  <a:srgbClr val="20685F"/>
                </a:solidFill>
                <a:latin typeface="Arial"/>
              </a:defRPr>
            </a:pPr>
            <a:r>
              <a:t>RESEARCH APPROACH</a:t>
            </a:r>
          </a:p>
        </p:txBody>
      </p:sp>
      <p:sp>
        <p:nvSpPr>
          <p:cNvPr id="4" name="TextBox 3"/>
          <p:cNvSpPr txBox="1"/>
          <p:nvPr/>
        </p:nvSpPr>
        <p:spPr>
          <a:xfrm>
            <a:off x="548640" y="832104"/>
            <a:ext cx="11045952" cy="694944"/>
          </a:xfrm>
          <a:prstGeom prst="rect">
            <a:avLst/>
          </a:prstGeom>
          <a:noFill/>
        </p:spPr>
        <p:txBody>
          <a:bodyPr wrap="square" lIns="0" rIns="0" tIns="0" bIns="0" anchor="t">
            <a:spAutoFit/>
          </a:bodyPr>
          <a:lstStyle/>
          <a:p>
            <a:pPr algn="l">
              <a:lnSpc>
                <a:spcPct val="108000"/>
              </a:lnSpc>
              <a:spcBef>
                <a:spcPts val="0"/>
              </a:spcBef>
              <a:spcAft>
                <a:spcPts val="0"/>
              </a:spcAft>
              <a:defRPr sz="3100" b="1">
                <a:solidFill>
                  <a:srgbClr val="22312F"/>
                </a:solidFill>
                <a:latin typeface="Arial"/>
              </a:defRPr>
            </a:pPr>
            <a:r>
              <a:t>Read access through patterns and experience</a:t>
            </a:r>
          </a:p>
        </p:txBody>
      </p:sp>
      <p:sp>
        <p:nvSpPr>
          <p:cNvPr id="5" name="TextBox 4"/>
          <p:cNvSpPr txBox="1"/>
          <p:nvPr/>
        </p:nvSpPr>
        <p:spPr>
          <a:xfrm>
            <a:off x="548640" y="1536192"/>
            <a:ext cx="11045952" cy="502920"/>
          </a:xfrm>
          <a:prstGeom prst="rect">
            <a:avLst/>
          </a:prstGeom>
          <a:noFill/>
        </p:spPr>
        <p:txBody>
          <a:bodyPr wrap="square" lIns="0" rIns="0" tIns="0" bIns="0" anchor="t">
            <a:spAutoFit/>
          </a:bodyPr>
          <a:lstStyle/>
          <a:p>
            <a:pPr algn="l">
              <a:lnSpc>
                <a:spcPct val="108000"/>
              </a:lnSpc>
              <a:spcBef>
                <a:spcPts val="0"/>
              </a:spcBef>
              <a:spcAft>
                <a:spcPts val="0"/>
              </a:spcAft>
              <a:defRPr sz="1900" b="0">
                <a:solidFill>
                  <a:srgbClr val="5E6C68"/>
                </a:solidFill>
                <a:latin typeface="Arial"/>
              </a:defRPr>
            </a:pPr>
            <a:r>
              <a:t>Connect mapped patterns with community perspectives</a:t>
            </a:r>
          </a:p>
        </p:txBody>
      </p:sp>
      <p:cxnSp>
        <p:nvCxnSpPr>
          <p:cNvPr id="6" name="Connector 5"/>
          <p:cNvCxnSpPr/>
          <p:nvPr/>
        </p:nvCxnSpPr>
        <p:spPr>
          <a:xfrm>
            <a:off x="548640" y="6391656"/>
            <a:ext cx="11091672"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487668"/>
            <a:ext cx="10607040" cy="228600"/>
          </a:xfrm>
          <a:prstGeom prst="rect">
            <a:avLst/>
          </a:prstGeom>
          <a:noFill/>
        </p:spPr>
        <p:txBody>
          <a:bodyPr wrap="square" lIns="0" rIns="0" tIns="0" bIns="0" anchor="t">
            <a:spAutoFit/>
          </a:bodyPr>
          <a:lstStyle/>
          <a:p>
            <a:pPr algn="l">
              <a:lnSpc>
                <a:spcPct val="108000"/>
              </a:lnSpc>
              <a:spcBef>
                <a:spcPts val="0"/>
              </a:spcBef>
              <a:spcAft>
                <a:spcPts val="0"/>
              </a:spcAft>
              <a:defRPr sz="1100" b="0">
                <a:solidFill>
                  <a:srgbClr val="5E6C68"/>
                </a:solidFill>
                <a:latin typeface="Arial"/>
              </a:defRPr>
            </a:pPr>
            <a:r>
              <a:t>Approach: ACSP abstract · Workshop and approximate period: presenter clarification</a:t>
            </a:r>
          </a:p>
        </p:txBody>
      </p:sp>
      <p:sp>
        <p:nvSpPr>
          <p:cNvPr id="8" name="TextBox 7"/>
          <p:cNvSpPr txBox="1"/>
          <p:nvPr/>
        </p:nvSpPr>
        <p:spPr>
          <a:xfrm>
            <a:off x="11192256" y="6473952"/>
            <a:ext cx="420624" cy="246888"/>
          </a:xfrm>
          <a:prstGeom prst="rect">
            <a:avLst/>
          </a:prstGeom>
          <a:noFill/>
        </p:spPr>
        <p:txBody>
          <a:bodyPr wrap="square" lIns="0" rIns="0" tIns="0" bIns="0" anchor="t">
            <a:spAutoFit/>
          </a:bodyPr>
          <a:lstStyle/>
          <a:p>
            <a:pPr algn="r">
              <a:lnSpc>
                <a:spcPct val="108000"/>
              </a:lnSpc>
              <a:spcBef>
                <a:spcPts val="0"/>
              </a:spcBef>
              <a:spcAft>
                <a:spcPts val="0"/>
              </a:spcAft>
              <a:defRPr sz="1200" b="1">
                <a:solidFill>
                  <a:srgbClr val="20685F"/>
                </a:solidFill>
                <a:latin typeface="Arial"/>
              </a:defRPr>
            </a:pPr>
            <a:r>
              <a:t>03</a:t>
            </a:r>
          </a:p>
        </p:txBody>
      </p:sp>
      <p:sp>
        <p:nvSpPr>
          <p:cNvPr id="9" name="Rectangle 8"/>
          <p:cNvSpPr/>
          <p:nvPr/>
        </p:nvSpPr>
        <p:spPr>
          <a:xfrm>
            <a:off x="566928" y="2377440"/>
            <a:ext cx="3602736" cy="2688336"/>
          </a:xfrm>
          <a:prstGeom prst="rect">
            <a:avLst/>
          </a:prstGeom>
          <a:solidFill>
            <a:srgbClr val="FFFFFF"/>
          </a:solidFill>
          <a:ln w="8890">
            <a:solidFill>
              <a:srgbClr val="D9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86384" y="2606040"/>
            <a:ext cx="640080" cy="356616"/>
          </a:xfrm>
          <a:prstGeom prst="rect">
            <a:avLst/>
          </a:prstGeom>
          <a:noFill/>
        </p:spPr>
        <p:txBody>
          <a:bodyPr wrap="square" lIns="0" rIns="0" tIns="0" bIns="0" anchor="t">
            <a:spAutoFit/>
          </a:bodyPr>
          <a:lstStyle/>
          <a:p>
            <a:pPr algn="l">
              <a:lnSpc>
                <a:spcPct val="108000"/>
              </a:lnSpc>
              <a:spcBef>
                <a:spcPts val="0"/>
              </a:spcBef>
              <a:spcAft>
                <a:spcPts val="0"/>
              </a:spcAft>
              <a:defRPr sz="2100" b="1">
                <a:solidFill>
                  <a:srgbClr val="20685F"/>
                </a:solidFill>
                <a:latin typeface="Arial"/>
              </a:defRPr>
            </a:pPr>
            <a:r>
              <a:t>01</a:t>
            </a:r>
          </a:p>
        </p:txBody>
      </p:sp>
      <p:sp>
        <p:nvSpPr>
          <p:cNvPr id="11" name="TextBox 10"/>
          <p:cNvSpPr txBox="1"/>
          <p:nvPr/>
        </p:nvSpPr>
        <p:spPr>
          <a:xfrm>
            <a:off x="786384" y="3108960"/>
            <a:ext cx="3182112" cy="484632"/>
          </a:xfrm>
          <a:prstGeom prst="rect">
            <a:avLst/>
          </a:prstGeom>
          <a:noFill/>
        </p:spPr>
        <p:txBody>
          <a:bodyPr wrap="square" lIns="0" rIns="0" tIns="0" bIns="0" anchor="t">
            <a:spAutoFit/>
          </a:bodyPr>
          <a:lstStyle/>
          <a:p>
            <a:pPr algn="l">
              <a:lnSpc>
                <a:spcPct val="108000"/>
              </a:lnSpc>
              <a:spcBef>
                <a:spcPts val="0"/>
              </a:spcBef>
              <a:spcAft>
                <a:spcPts val="0"/>
              </a:spcAft>
              <a:defRPr sz="2200" b="1">
                <a:solidFill>
                  <a:srgbClr val="22312F"/>
                </a:solidFill>
                <a:latin typeface="Arial"/>
              </a:defRPr>
            </a:pPr>
            <a:r>
              <a:t>Spatial patterns</a:t>
            </a:r>
          </a:p>
        </p:txBody>
      </p:sp>
      <p:sp>
        <p:nvSpPr>
          <p:cNvPr id="12" name="TextBox 11"/>
          <p:cNvSpPr txBox="1"/>
          <p:nvPr/>
        </p:nvSpPr>
        <p:spPr>
          <a:xfrm>
            <a:off x="786384" y="3657600"/>
            <a:ext cx="3182112" cy="457200"/>
          </a:xfrm>
          <a:prstGeom prst="rect">
            <a:avLst/>
          </a:prstGeom>
          <a:noFill/>
        </p:spPr>
        <p:txBody>
          <a:bodyPr wrap="square" lIns="0" rIns="0" tIns="0" bIns="0" anchor="t">
            <a:spAutoFit/>
          </a:bodyPr>
          <a:lstStyle/>
          <a:p>
            <a:pPr algn="l">
              <a:lnSpc>
                <a:spcPct val="108000"/>
              </a:lnSpc>
              <a:spcBef>
                <a:spcPts val="0"/>
              </a:spcBef>
              <a:spcAft>
                <a:spcPts val="0"/>
              </a:spcAft>
              <a:defRPr sz="1600" b="0">
                <a:solidFill>
                  <a:srgbClr val="20685F"/>
                </a:solidFill>
                <a:latin typeface="Arial"/>
              </a:defRPr>
            </a:pPr>
            <a:r>
              <a:t>GIS + municipal data</a:t>
            </a:r>
          </a:p>
        </p:txBody>
      </p:sp>
      <p:sp>
        <p:nvSpPr>
          <p:cNvPr id="13" name="TextBox 12"/>
          <p:cNvSpPr txBox="1"/>
          <p:nvPr/>
        </p:nvSpPr>
        <p:spPr>
          <a:xfrm>
            <a:off x="786384" y="4206240"/>
            <a:ext cx="3182112" cy="603504"/>
          </a:xfrm>
          <a:prstGeom prst="rect">
            <a:avLst/>
          </a:prstGeom>
          <a:noFill/>
        </p:spPr>
        <p:txBody>
          <a:bodyPr wrap="square" lIns="0" rIns="0" tIns="0" bIns="0" anchor="t">
            <a:spAutoFit/>
          </a:bodyPr>
          <a:lstStyle/>
          <a:p>
            <a:pPr algn="l">
              <a:lnSpc>
                <a:spcPct val="108000"/>
              </a:lnSpc>
              <a:spcBef>
                <a:spcPts val="0"/>
              </a:spcBef>
              <a:spcAft>
                <a:spcPts val="0"/>
              </a:spcAft>
              <a:defRPr sz="1700" b="0">
                <a:solidFill>
                  <a:srgbClr val="5E6C68"/>
                </a:solidFill>
                <a:latin typeface="Arial"/>
              </a:defRPr>
            </a:pPr>
            <a:r>
              <a:t>Zoning</a:t>
            </a:r>
          </a:p>
          <a:p>
            <a:pPr algn="l">
              <a:lnSpc>
                <a:spcPct val="108000"/>
              </a:lnSpc>
              <a:spcBef>
                <a:spcPts val="0"/>
              </a:spcBef>
              <a:spcAft>
                <a:spcPts val="0"/>
              </a:spcAft>
              <a:defRPr sz="1700" b="0">
                <a:solidFill>
                  <a:srgbClr val="5E6C68"/>
                </a:solidFill>
                <a:latin typeface="Arial"/>
              </a:defRPr>
            </a:pPr>
            <a:r>
              <a:t>Public + environmental access</a:t>
            </a:r>
          </a:p>
        </p:txBody>
      </p:sp>
      <p:sp>
        <p:nvSpPr>
          <p:cNvPr id="14" name="Rectangle 13"/>
          <p:cNvSpPr/>
          <p:nvPr/>
        </p:nvSpPr>
        <p:spPr>
          <a:xfrm>
            <a:off x="4370832" y="2377440"/>
            <a:ext cx="3602736" cy="2688336"/>
          </a:xfrm>
          <a:prstGeom prst="rect">
            <a:avLst/>
          </a:prstGeom>
          <a:solidFill>
            <a:srgbClr val="FFFFFF"/>
          </a:solidFill>
          <a:ln w="8890">
            <a:solidFill>
              <a:srgbClr val="D9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90288" y="2606040"/>
            <a:ext cx="640080" cy="356616"/>
          </a:xfrm>
          <a:prstGeom prst="rect">
            <a:avLst/>
          </a:prstGeom>
          <a:noFill/>
        </p:spPr>
        <p:txBody>
          <a:bodyPr wrap="square" lIns="0" rIns="0" tIns="0" bIns="0" anchor="t">
            <a:spAutoFit/>
          </a:bodyPr>
          <a:lstStyle/>
          <a:p>
            <a:pPr algn="l">
              <a:lnSpc>
                <a:spcPct val="108000"/>
              </a:lnSpc>
              <a:spcBef>
                <a:spcPts val="0"/>
              </a:spcBef>
              <a:spcAft>
                <a:spcPts val="0"/>
              </a:spcAft>
              <a:defRPr sz="2100" b="1">
                <a:solidFill>
                  <a:srgbClr val="20685F"/>
                </a:solidFill>
                <a:latin typeface="Arial"/>
              </a:defRPr>
            </a:pPr>
            <a:r>
              <a:t>02</a:t>
            </a:r>
          </a:p>
        </p:txBody>
      </p:sp>
      <p:sp>
        <p:nvSpPr>
          <p:cNvPr id="16" name="TextBox 15"/>
          <p:cNvSpPr txBox="1"/>
          <p:nvPr/>
        </p:nvSpPr>
        <p:spPr>
          <a:xfrm>
            <a:off x="4590288" y="3108960"/>
            <a:ext cx="3182112" cy="484632"/>
          </a:xfrm>
          <a:prstGeom prst="rect">
            <a:avLst/>
          </a:prstGeom>
          <a:noFill/>
        </p:spPr>
        <p:txBody>
          <a:bodyPr wrap="square" lIns="0" rIns="0" tIns="0" bIns="0" anchor="t">
            <a:spAutoFit/>
          </a:bodyPr>
          <a:lstStyle/>
          <a:p>
            <a:pPr algn="l">
              <a:lnSpc>
                <a:spcPct val="108000"/>
              </a:lnSpc>
              <a:spcBef>
                <a:spcPts val="0"/>
              </a:spcBef>
              <a:spcAft>
                <a:spcPts val="0"/>
              </a:spcAft>
              <a:defRPr sz="2200" b="1">
                <a:solidFill>
                  <a:srgbClr val="22312F"/>
                </a:solidFill>
                <a:latin typeface="Arial"/>
              </a:defRPr>
            </a:pPr>
            <a:r>
              <a:t>Social conditions</a:t>
            </a:r>
          </a:p>
        </p:txBody>
      </p:sp>
      <p:sp>
        <p:nvSpPr>
          <p:cNvPr id="17" name="TextBox 16"/>
          <p:cNvSpPr txBox="1"/>
          <p:nvPr/>
        </p:nvSpPr>
        <p:spPr>
          <a:xfrm>
            <a:off x="4590288" y="3657600"/>
            <a:ext cx="3182112" cy="457200"/>
          </a:xfrm>
          <a:prstGeom prst="rect">
            <a:avLst/>
          </a:prstGeom>
          <a:noFill/>
        </p:spPr>
        <p:txBody>
          <a:bodyPr wrap="square" lIns="0" rIns="0" tIns="0" bIns="0" anchor="t">
            <a:spAutoFit/>
          </a:bodyPr>
          <a:lstStyle/>
          <a:p>
            <a:pPr algn="l">
              <a:lnSpc>
                <a:spcPct val="108000"/>
              </a:lnSpc>
              <a:spcBef>
                <a:spcPts val="0"/>
              </a:spcBef>
              <a:spcAft>
                <a:spcPts val="0"/>
              </a:spcAft>
              <a:defRPr sz="1600" b="0">
                <a:solidFill>
                  <a:srgbClr val="20685F"/>
                </a:solidFill>
                <a:latin typeface="Arial"/>
              </a:defRPr>
            </a:pPr>
            <a:r>
              <a:t>American Community Survey</a:t>
            </a:r>
          </a:p>
        </p:txBody>
      </p:sp>
      <p:sp>
        <p:nvSpPr>
          <p:cNvPr id="18" name="TextBox 17"/>
          <p:cNvSpPr txBox="1"/>
          <p:nvPr/>
        </p:nvSpPr>
        <p:spPr>
          <a:xfrm>
            <a:off x="4590288" y="4206240"/>
            <a:ext cx="3182112" cy="603504"/>
          </a:xfrm>
          <a:prstGeom prst="rect">
            <a:avLst/>
          </a:prstGeom>
          <a:noFill/>
        </p:spPr>
        <p:txBody>
          <a:bodyPr wrap="square" lIns="0" rIns="0" tIns="0" bIns="0" anchor="t">
            <a:spAutoFit/>
          </a:bodyPr>
          <a:lstStyle/>
          <a:p>
            <a:pPr algn="l">
              <a:lnSpc>
                <a:spcPct val="108000"/>
              </a:lnSpc>
              <a:spcBef>
                <a:spcPts val="0"/>
              </a:spcBef>
              <a:spcAft>
                <a:spcPts val="0"/>
              </a:spcAft>
              <a:defRPr sz="1700" b="0">
                <a:solidFill>
                  <a:srgbClr val="5E6C68"/>
                </a:solidFill>
                <a:latin typeface="Arial"/>
              </a:defRPr>
            </a:pPr>
            <a:r>
              <a:t>Household income</a:t>
            </a:r>
          </a:p>
          <a:p>
            <a:pPr algn="l">
              <a:lnSpc>
                <a:spcPct val="108000"/>
              </a:lnSpc>
              <a:spcBef>
                <a:spcPts val="0"/>
              </a:spcBef>
              <a:spcAft>
                <a:spcPts val="0"/>
              </a:spcAft>
              <a:defRPr sz="1700" b="0">
                <a:solidFill>
                  <a:srgbClr val="5E6C68"/>
                </a:solidFill>
                <a:latin typeface="Arial"/>
              </a:defRPr>
            </a:pPr>
            <a:r>
              <a:t>Socioeconomic context</a:t>
            </a:r>
          </a:p>
        </p:txBody>
      </p:sp>
      <p:sp>
        <p:nvSpPr>
          <p:cNvPr id="19" name="Rectangle 18"/>
          <p:cNvSpPr/>
          <p:nvPr/>
        </p:nvSpPr>
        <p:spPr>
          <a:xfrm>
            <a:off x="8174736" y="2377440"/>
            <a:ext cx="3602736" cy="2688336"/>
          </a:xfrm>
          <a:prstGeom prst="rect">
            <a:avLst/>
          </a:prstGeom>
          <a:solidFill>
            <a:srgbClr val="FFFFFF"/>
          </a:solidFill>
          <a:ln w="8890">
            <a:solidFill>
              <a:srgbClr val="D9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394192" y="2606040"/>
            <a:ext cx="640080" cy="356616"/>
          </a:xfrm>
          <a:prstGeom prst="rect">
            <a:avLst/>
          </a:prstGeom>
          <a:noFill/>
        </p:spPr>
        <p:txBody>
          <a:bodyPr wrap="square" lIns="0" rIns="0" tIns="0" bIns="0" anchor="t">
            <a:spAutoFit/>
          </a:bodyPr>
          <a:lstStyle/>
          <a:p>
            <a:pPr algn="l">
              <a:lnSpc>
                <a:spcPct val="108000"/>
              </a:lnSpc>
              <a:spcBef>
                <a:spcPts val="0"/>
              </a:spcBef>
              <a:spcAft>
                <a:spcPts val="0"/>
              </a:spcAft>
              <a:defRPr sz="2100" b="1">
                <a:solidFill>
                  <a:srgbClr val="20685F"/>
                </a:solidFill>
                <a:latin typeface="Arial"/>
              </a:defRPr>
            </a:pPr>
            <a:r>
              <a:t>03</a:t>
            </a:r>
          </a:p>
        </p:txBody>
      </p:sp>
      <p:sp>
        <p:nvSpPr>
          <p:cNvPr id="21" name="TextBox 20"/>
          <p:cNvSpPr txBox="1"/>
          <p:nvPr/>
        </p:nvSpPr>
        <p:spPr>
          <a:xfrm>
            <a:off x="8394192" y="3108960"/>
            <a:ext cx="3182112" cy="484632"/>
          </a:xfrm>
          <a:prstGeom prst="rect">
            <a:avLst/>
          </a:prstGeom>
          <a:noFill/>
        </p:spPr>
        <p:txBody>
          <a:bodyPr wrap="square" lIns="0" rIns="0" tIns="0" bIns="0" anchor="t">
            <a:spAutoFit/>
          </a:bodyPr>
          <a:lstStyle/>
          <a:p>
            <a:pPr algn="l">
              <a:lnSpc>
                <a:spcPct val="108000"/>
              </a:lnSpc>
              <a:spcBef>
                <a:spcPts val="0"/>
              </a:spcBef>
              <a:spcAft>
                <a:spcPts val="0"/>
              </a:spcAft>
              <a:defRPr sz="2200" b="1">
                <a:solidFill>
                  <a:srgbClr val="22312F"/>
                </a:solidFill>
                <a:latin typeface="Arial"/>
              </a:defRPr>
            </a:pPr>
            <a:r>
              <a:t>Community input</a:t>
            </a:r>
          </a:p>
        </p:txBody>
      </p:sp>
      <p:sp>
        <p:nvSpPr>
          <p:cNvPr id="22" name="TextBox 21"/>
          <p:cNvSpPr txBox="1"/>
          <p:nvPr/>
        </p:nvSpPr>
        <p:spPr>
          <a:xfrm>
            <a:off x="8394192" y="3657600"/>
            <a:ext cx="3182112" cy="457200"/>
          </a:xfrm>
          <a:prstGeom prst="rect">
            <a:avLst/>
          </a:prstGeom>
          <a:noFill/>
        </p:spPr>
        <p:txBody>
          <a:bodyPr wrap="square" lIns="0" rIns="0" tIns="0" bIns="0" anchor="t">
            <a:spAutoFit/>
          </a:bodyPr>
          <a:lstStyle/>
          <a:p>
            <a:pPr algn="l">
              <a:lnSpc>
                <a:spcPct val="108000"/>
              </a:lnSpc>
              <a:spcBef>
                <a:spcPts val="0"/>
              </a:spcBef>
              <a:spcAft>
                <a:spcPts val="0"/>
              </a:spcAft>
              <a:defRPr sz="1600" b="0">
                <a:solidFill>
                  <a:srgbClr val="20685F"/>
                </a:solidFill>
                <a:latin typeface="Arial"/>
              </a:defRPr>
            </a:pPr>
            <a:r>
              <a:t>Team–community workshop</a:t>
            </a:r>
          </a:p>
        </p:txBody>
      </p:sp>
      <p:sp>
        <p:nvSpPr>
          <p:cNvPr id="23" name="TextBox 22"/>
          <p:cNvSpPr txBox="1"/>
          <p:nvPr/>
        </p:nvSpPr>
        <p:spPr>
          <a:xfrm>
            <a:off x="8394192" y="4206240"/>
            <a:ext cx="3182112" cy="603504"/>
          </a:xfrm>
          <a:prstGeom prst="rect">
            <a:avLst/>
          </a:prstGeom>
          <a:noFill/>
        </p:spPr>
        <p:txBody>
          <a:bodyPr wrap="square" lIns="0" rIns="0" tIns="0" bIns="0" anchor="t">
            <a:spAutoFit/>
          </a:bodyPr>
          <a:lstStyle/>
          <a:p>
            <a:pPr algn="l">
              <a:lnSpc>
                <a:spcPct val="108000"/>
              </a:lnSpc>
              <a:spcBef>
                <a:spcPts val="0"/>
              </a:spcBef>
              <a:spcAft>
                <a:spcPts val="0"/>
              </a:spcAft>
              <a:defRPr sz="1700" b="0">
                <a:solidFill>
                  <a:srgbClr val="5E6C68"/>
                </a:solidFill>
                <a:latin typeface="Arial"/>
              </a:defRPr>
            </a:pPr>
            <a:r>
              <a:t>Everyday mobility</a:t>
            </a:r>
          </a:p>
          <a:p>
            <a:pPr algn="l">
              <a:lnSpc>
                <a:spcPct val="108000"/>
              </a:lnSpc>
              <a:spcBef>
                <a:spcPts val="0"/>
              </a:spcBef>
              <a:spcAft>
                <a:spcPts val="0"/>
              </a:spcAft>
              <a:defRPr sz="1700" b="0">
                <a:solidFill>
                  <a:srgbClr val="5E6C68"/>
                </a:solidFill>
                <a:latin typeface="Arial"/>
              </a:defRPr>
            </a:pPr>
            <a:r>
              <a:t>Public space + participation</a:t>
            </a:r>
          </a:p>
        </p:txBody>
      </p:sp>
      <p:sp>
        <p:nvSpPr>
          <p:cNvPr id="24" name="TextBox 23"/>
          <p:cNvSpPr txBox="1"/>
          <p:nvPr/>
        </p:nvSpPr>
        <p:spPr>
          <a:xfrm>
            <a:off x="576072" y="5422392"/>
            <a:ext cx="10698480" cy="320040"/>
          </a:xfrm>
          <a:prstGeom prst="rect">
            <a:avLst/>
          </a:prstGeom>
          <a:noFill/>
        </p:spPr>
        <p:txBody>
          <a:bodyPr wrap="square" lIns="0" rIns="0" tIns="0" bIns="0" anchor="t">
            <a:spAutoFit/>
          </a:bodyPr>
          <a:lstStyle/>
          <a:p>
            <a:pPr algn="l">
              <a:lnSpc>
                <a:spcPct val="108000"/>
              </a:lnSpc>
              <a:spcBef>
                <a:spcPts val="0"/>
              </a:spcBef>
              <a:spcAft>
                <a:spcPts val="0"/>
              </a:spcAft>
              <a:defRPr sz="2000" b="0">
                <a:solidFill>
                  <a:srgbClr val="22312F"/>
                </a:solidFill>
                <a:latin typeface="Arial"/>
              </a:defRPr>
            </a:pPr>
            <a:r>
              <a:t>Approximate study period: 2023–2025</a:t>
            </a:r>
          </a:p>
        </p:txBody>
      </p:sp>
      <p:sp>
        <p:nvSpPr>
          <p:cNvPr id="25" name="TextBox 24"/>
          <p:cNvSpPr txBox="1"/>
          <p:nvPr/>
        </p:nvSpPr>
        <p:spPr>
          <a:xfrm>
            <a:off x="576072" y="5724144"/>
            <a:ext cx="10698480" cy="329184"/>
          </a:xfrm>
          <a:prstGeom prst="rect">
            <a:avLst/>
          </a:prstGeom>
          <a:noFill/>
        </p:spPr>
        <p:txBody>
          <a:bodyPr wrap="square" lIns="0" rIns="0" tIns="0" bIns="0" anchor="t">
            <a:spAutoFit/>
          </a:bodyPr>
          <a:lstStyle/>
          <a:p>
            <a:pPr algn="l">
              <a:lnSpc>
                <a:spcPct val="108000"/>
              </a:lnSpc>
              <a:spcBef>
                <a:spcPts val="0"/>
              </a:spcBef>
              <a:spcAft>
                <a:spcPts val="0"/>
              </a:spcAft>
              <a:defRPr sz="1500" b="0">
                <a:solidFill>
                  <a:srgbClr val="5E6C68"/>
                </a:solidFill>
                <a:latin typeface="Arial"/>
              </a:defRPr>
            </a:pPr>
            <a:r>
              <a:t>Exact dataset vintages, access measures and workshop details are not supplied.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Rectangle 1"/>
          <p:cNvSpPr/>
          <p:nvPr/>
        </p:nvSpPr>
        <p:spPr>
          <a:xfrm>
            <a:off x="548640" y="448056"/>
            <a:ext cx="329184" cy="41148"/>
          </a:xfrm>
          <a:prstGeom prst="rect">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978408" y="365760"/>
            <a:ext cx="10561320" cy="256032"/>
          </a:xfrm>
          <a:prstGeom prst="rect">
            <a:avLst/>
          </a:prstGeom>
          <a:noFill/>
        </p:spPr>
        <p:txBody>
          <a:bodyPr wrap="square" lIns="0" rIns="0" tIns="0" bIns="0" anchor="t">
            <a:spAutoFit/>
          </a:bodyPr>
          <a:lstStyle/>
          <a:p>
            <a:pPr algn="l">
              <a:lnSpc>
                <a:spcPct val="108000"/>
              </a:lnSpc>
              <a:spcBef>
                <a:spcPts val="0"/>
              </a:spcBef>
              <a:spcAft>
                <a:spcPts val="0"/>
              </a:spcAft>
              <a:defRPr sz="1150" b="1">
                <a:solidFill>
                  <a:srgbClr val="20685F"/>
                </a:solidFill>
                <a:latin typeface="Arial"/>
              </a:defRPr>
            </a:pPr>
            <a:r>
              <a:t>ABSTRACT · REPORTED FINDING</a:t>
            </a:r>
          </a:p>
        </p:txBody>
      </p:sp>
      <p:sp>
        <p:nvSpPr>
          <p:cNvPr id="4" name="TextBox 3"/>
          <p:cNvSpPr txBox="1"/>
          <p:nvPr/>
        </p:nvSpPr>
        <p:spPr>
          <a:xfrm>
            <a:off x="548640" y="832104"/>
            <a:ext cx="11045952" cy="694944"/>
          </a:xfrm>
          <a:prstGeom prst="rect">
            <a:avLst/>
          </a:prstGeom>
          <a:noFill/>
        </p:spPr>
        <p:txBody>
          <a:bodyPr wrap="square" lIns="0" rIns="0" tIns="0" bIns="0" anchor="t">
            <a:spAutoFit/>
          </a:bodyPr>
          <a:lstStyle/>
          <a:p>
            <a:pPr algn="l">
              <a:lnSpc>
                <a:spcPct val="108000"/>
              </a:lnSpc>
              <a:spcBef>
                <a:spcPts val="0"/>
              </a:spcBef>
              <a:spcAft>
                <a:spcPts val="0"/>
              </a:spcAft>
              <a:defRPr sz="3100" b="1">
                <a:solidFill>
                  <a:srgbClr val="22312F"/>
                </a:solidFill>
                <a:latin typeface="Arial"/>
              </a:defRPr>
            </a:pPr>
            <a:r>
              <a:t>Industrial land dominates both neighborhoods</a:t>
            </a:r>
          </a:p>
        </p:txBody>
      </p:sp>
      <p:sp>
        <p:nvSpPr>
          <p:cNvPr id="5" name="TextBox 4"/>
          <p:cNvSpPr txBox="1"/>
          <p:nvPr/>
        </p:nvSpPr>
        <p:spPr>
          <a:xfrm>
            <a:off x="548640" y="1536192"/>
            <a:ext cx="11045952" cy="502920"/>
          </a:xfrm>
          <a:prstGeom prst="rect">
            <a:avLst/>
          </a:prstGeom>
          <a:noFill/>
        </p:spPr>
        <p:txBody>
          <a:bodyPr wrap="square" lIns="0" rIns="0" tIns="0" bIns="0" anchor="t">
            <a:spAutoFit/>
          </a:bodyPr>
          <a:lstStyle/>
          <a:p>
            <a:pPr algn="l">
              <a:lnSpc>
                <a:spcPct val="108000"/>
              </a:lnSpc>
              <a:spcBef>
                <a:spcPts val="0"/>
              </a:spcBef>
              <a:spcAft>
                <a:spcPts val="0"/>
              </a:spcAft>
              <a:defRPr sz="1900" b="0">
                <a:solidFill>
                  <a:srgbClr val="5E6C68"/>
                </a:solidFill>
                <a:latin typeface="Arial"/>
              </a:defRPr>
            </a:pPr>
            <a:r>
              <a:t>Land designated for maritime manufacturing and logistics</a:t>
            </a:r>
          </a:p>
        </p:txBody>
      </p:sp>
      <p:cxnSp>
        <p:nvCxnSpPr>
          <p:cNvPr id="6" name="Connector 5"/>
          <p:cNvCxnSpPr/>
          <p:nvPr/>
        </p:nvCxnSpPr>
        <p:spPr>
          <a:xfrm>
            <a:off x="548640" y="6391656"/>
            <a:ext cx="11091672"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487668"/>
            <a:ext cx="10607040" cy="228600"/>
          </a:xfrm>
          <a:prstGeom prst="rect">
            <a:avLst/>
          </a:prstGeom>
          <a:noFill/>
        </p:spPr>
        <p:txBody>
          <a:bodyPr wrap="square" lIns="0" rIns="0" tIns="0" bIns="0" anchor="t">
            <a:spAutoFit/>
          </a:bodyPr>
          <a:lstStyle/>
          <a:p>
            <a:pPr algn="l">
              <a:lnSpc>
                <a:spcPct val="108000"/>
              </a:lnSpc>
              <a:spcBef>
                <a:spcPts val="0"/>
              </a:spcBef>
              <a:spcAft>
                <a:spcPts val="0"/>
              </a:spcAft>
              <a:defRPr sz="1100" b="0">
                <a:solidFill>
                  <a:srgbClr val="5E6C68"/>
                </a:solidFill>
                <a:latin typeface="Arial"/>
              </a:defRPr>
            </a:pPr>
            <a:r>
              <a:t>Source: supplied ACSP abstract · Percentages reproduced as approximate reported estimates</a:t>
            </a:r>
          </a:p>
        </p:txBody>
      </p:sp>
      <p:sp>
        <p:nvSpPr>
          <p:cNvPr id="8" name="TextBox 7"/>
          <p:cNvSpPr txBox="1"/>
          <p:nvPr/>
        </p:nvSpPr>
        <p:spPr>
          <a:xfrm>
            <a:off x="11192256" y="6473952"/>
            <a:ext cx="420624" cy="246888"/>
          </a:xfrm>
          <a:prstGeom prst="rect">
            <a:avLst/>
          </a:prstGeom>
          <a:noFill/>
        </p:spPr>
        <p:txBody>
          <a:bodyPr wrap="square" lIns="0" rIns="0" tIns="0" bIns="0" anchor="t">
            <a:spAutoFit/>
          </a:bodyPr>
          <a:lstStyle/>
          <a:p>
            <a:pPr algn="r">
              <a:lnSpc>
                <a:spcPct val="108000"/>
              </a:lnSpc>
              <a:spcBef>
                <a:spcPts val="0"/>
              </a:spcBef>
              <a:spcAft>
                <a:spcPts val="0"/>
              </a:spcAft>
              <a:defRPr sz="1200" b="1">
                <a:solidFill>
                  <a:srgbClr val="20685F"/>
                </a:solidFill>
                <a:latin typeface="Arial"/>
              </a:defRPr>
            </a:pPr>
            <a:r>
              <a:t>04</a:t>
            </a:r>
          </a:p>
        </p:txBody>
      </p:sp>
      <p:sp>
        <p:nvSpPr>
          <p:cNvPr id="9" name="TextBox 8"/>
          <p:cNvSpPr txBox="1"/>
          <p:nvPr/>
        </p:nvSpPr>
        <p:spPr>
          <a:xfrm>
            <a:off x="585216" y="2697479"/>
            <a:ext cx="2130552" cy="502920"/>
          </a:xfrm>
          <a:prstGeom prst="rect">
            <a:avLst/>
          </a:prstGeom>
          <a:noFill/>
        </p:spPr>
        <p:txBody>
          <a:bodyPr wrap="square" lIns="0" rIns="0" tIns="0" bIns="0" anchor="t">
            <a:spAutoFit/>
          </a:bodyPr>
          <a:lstStyle/>
          <a:p>
            <a:pPr algn="l">
              <a:lnSpc>
                <a:spcPct val="108000"/>
              </a:lnSpc>
              <a:spcBef>
                <a:spcPts val="0"/>
              </a:spcBef>
              <a:spcAft>
                <a:spcPts val="0"/>
              </a:spcAft>
              <a:defRPr sz="2400" b="1">
                <a:solidFill>
                  <a:srgbClr val="22312F"/>
                </a:solidFill>
                <a:latin typeface="Arial"/>
              </a:defRPr>
            </a:pPr>
            <a:r>
              <a:t>Georgetown</a:t>
            </a:r>
          </a:p>
        </p:txBody>
      </p:sp>
      <p:sp>
        <p:nvSpPr>
          <p:cNvPr id="10" name="Rectangle 9"/>
          <p:cNvSpPr/>
          <p:nvPr/>
        </p:nvSpPr>
        <p:spPr>
          <a:xfrm>
            <a:off x="2871216" y="2670048"/>
            <a:ext cx="7452360" cy="566928"/>
          </a:xfrm>
          <a:prstGeom prst="rect">
            <a:avLst/>
          </a:prstGeom>
          <a:solidFill>
            <a:srgbClr val="E5EB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2871216" y="2670048"/>
            <a:ext cx="6483553" cy="566928"/>
          </a:xfrm>
          <a:prstGeom prst="rect">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524744" y="2647188"/>
            <a:ext cx="987552" cy="539496"/>
          </a:xfrm>
          <a:prstGeom prst="rect">
            <a:avLst/>
          </a:prstGeom>
          <a:noFill/>
        </p:spPr>
        <p:txBody>
          <a:bodyPr wrap="square" lIns="0" rIns="0" tIns="0" bIns="0" anchor="t">
            <a:spAutoFit/>
          </a:bodyPr>
          <a:lstStyle/>
          <a:p>
            <a:pPr algn="r">
              <a:lnSpc>
                <a:spcPct val="108000"/>
              </a:lnSpc>
              <a:spcBef>
                <a:spcPts val="0"/>
              </a:spcBef>
              <a:spcAft>
                <a:spcPts val="0"/>
              </a:spcAft>
              <a:defRPr sz="2800" b="1">
                <a:solidFill>
                  <a:srgbClr val="20685F"/>
                </a:solidFill>
                <a:latin typeface="Arial"/>
              </a:defRPr>
            </a:pPr>
            <a:r>
              <a:t>≈87%</a:t>
            </a:r>
          </a:p>
        </p:txBody>
      </p:sp>
      <p:sp>
        <p:nvSpPr>
          <p:cNvPr id="13" name="TextBox 12"/>
          <p:cNvSpPr txBox="1"/>
          <p:nvPr/>
        </p:nvSpPr>
        <p:spPr>
          <a:xfrm>
            <a:off x="585216" y="3941064"/>
            <a:ext cx="2130552" cy="502920"/>
          </a:xfrm>
          <a:prstGeom prst="rect">
            <a:avLst/>
          </a:prstGeom>
          <a:noFill/>
        </p:spPr>
        <p:txBody>
          <a:bodyPr wrap="square" lIns="0" rIns="0" tIns="0" bIns="0" anchor="t">
            <a:spAutoFit/>
          </a:bodyPr>
          <a:lstStyle/>
          <a:p>
            <a:pPr algn="l">
              <a:lnSpc>
                <a:spcPct val="108000"/>
              </a:lnSpc>
              <a:spcBef>
                <a:spcPts val="0"/>
              </a:spcBef>
              <a:spcAft>
                <a:spcPts val="0"/>
              </a:spcAft>
              <a:defRPr sz="2400" b="1">
                <a:solidFill>
                  <a:srgbClr val="22312F"/>
                </a:solidFill>
                <a:latin typeface="Arial"/>
              </a:defRPr>
            </a:pPr>
            <a:r>
              <a:t>South Park</a:t>
            </a:r>
          </a:p>
        </p:txBody>
      </p:sp>
      <p:sp>
        <p:nvSpPr>
          <p:cNvPr id="14" name="Rectangle 13"/>
          <p:cNvSpPr/>
          <p:nvPr/>
        </p:nvSpPr>
        <p:spPr>
          <a:xfrm>
            <a:off x="2871216" y="3913632"/>
            <a:ext cx="7452360" cy="566928"/>
          </a:xfrm>
          <a:prstGeom prst="rect">
            <a:avLst/>
          </a:prstGeom>
          <a:solidFill>
            <a:srgbClr val="E5EB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2871216" y="3913632"/>
            <a:ext cx="4545939" cy="566928"/>
          </a:xfrm>
          <a:prstGeom prst="rect">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0524744" y="3890772"/>
            <a:ext cx="987552" cy="539496"/>
          </a:xfrm>
          <a:prstGeom prst="rect">
            <a:avLst/>
          </a:prstGeom>
          <a:noFill/>
        </p:spPr>
        <p:txBody>
          <a:bodyPr wrap="square" lIns="0" rIns="0" tIns="0" bIns="0" anchor="t">
            <a:spAutoFit/>
          </a:bodyPr>
          <a:lstStyle/>
          <a:p>
            <a:pPr algn="r">
              <a:lnSpc>
                <a:spcPct val="108000"/>
              </a:lnSpc>
              <a:spcBef>
                <a:spcPts val="0"/>
              </a:spcBef>
              <a:spcAft>
                <a:spcPts val="0"/>
              </a:spcAft>
              <a:defRPr sz="2800" b="1">
                <a:solidFill>
                  <a:srgbClr val="20685F"/>
                </a:solidFill>
                <a:latin typeface="Arial"/>
              </a:defRPr>
            </a:pPr>
            <a:r>
              <a:t>≈61%</a:t>
            </a:r>
          </a:p>
        </p:txBody>
      </p:sp>
      <p:cxnSp>
        <p:nvCxnSpPr>
          <p:cNvPr id="17" name="Connector 16"/>
          <p:cNvCxnSpPr/>
          <p:nvPr/>
        </p:nvCxnSpPr>
        <p:spPr>
          <a:xfrm>
            <a:off x="2871216" y="4681728"/>
            <a:ext cx="0" cy="100584"/>
          </a:xfrm>
          <a:prstGeom prst="line">
            <a:avLst/>
          </a:prstGeom>
          <a:ln w="8890">
            <a:solidFill>
              <a:srgbClr val="5E6C68"/>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2615184" y="4901184"/>
            <a:ext cx="566928" cy="292608"/>
          </a:xfrm>
          <a:prstGeom prst="rect">
            <a:avLst/>
          </a:prstGeom>
          <a:noFill/>
        </p:spPr>
        <p:txBody>
          <a:bodyPr wrap="square" lIns="0" rIns="0" tIns="0" bIns="0" anchor="t">
            <a:spAutoFit/>
          </a:bodyPr>
          <a:lstStyle/>
          <a:p>
            <a:pPr algn="ctr">
              <a:lnSpc>
                <a:spcPct val="108000"/>
              </a:lnSpc>
              <a:spcBef>
                <a:spcPts val="0"/>
              </a:spcBef>
              <a:spcAft>
                <a:spcPts val="0"/>
              </a:spcAft>
              <a:defRPr sz="1500" b="0">
                <a:solidFill>
                  <a:srgbClr val="5E6C68"/>
                </a:solidFill>
                <a:latin typeface="Arial"/>
              </a:defRPr>
            </a:pPr>
            <a:r>
              <a:t>0%</a:t>
            </a:r>
          </a:p>
        </p:txBody>
      </p:sp>
      <p:cxnSp>
        <p:nvCxnSpPr>
          <p:cNvPr id="19" name="Connector 18"/>
          <p:cNvCxnSpPr/>
          <p:nvPr/>
        </p:nvCxnSpPr>
        <p:spPr>
          <a:xfrm>
            <a:off x="6597396" y="4681728"/>
            <a:ext cx="0" cy="100584"/>
          </a:xfrm>
          <a:prstGeom prst="line">
            <a:avLst/>
          </a:prstGeom>
          <a:ln w="8890">
            <a:solidFill>
              <a:srgbClr val="5E6C68"/>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6341364" y="4901184"/>
            <a:ext cx="566928" cy="292608"/>
          </a:xfrm>
          <a:prstGeom prst="rect">
            <a:avLst/>
          </a:prstGeom>
          <a:noFill/>
        </p:spPr>
        <p:txBody>
          <a:bodyPr wrap="square" lIns="0" rIns="0" tIns="0" bIns="0" anchor="t">
            <a:spAutoFit/>
          </a:bodyPr>
          <a:lstStyle/>
          <a:p>
            <a:pPr algn="ctr">
              <a:lnSpc>
                <a:spcPct val="108000"/>
              </a:lnSpc>
              <a:spcBef>
                <a:spcPts val="0"/>
              </a:spcBef>
              <a:spcAft>
                <a:spcPts val="0"/>
              </a:spcAft>
              <a:defRPr sz="1500" b="0">
                <a:solidFill>
                  <a:srgbClr val="5E6C68"/>
                </a:solidFill>
                <a:latin typeface="Arial"/>
              </a:defRPr>
            </a:pPr>
            <a:r>
              <a:t>50%</a:t>
            </a:r>
          </a:p>
        </p:txBody>
      </p:sp>
      <p:cxnSp>
        <p:nvCxnSpPr>
          <p:cNvPr id="21" name="Connector 20"/>
          <p:cNvCxnSpPr/>
          <p:nvPr/>
        </p:nvCxnSpPr>
        <p:spPr>
          <a:xfrm>
            <a:off x="10323576" y="4681728"/>
            <a:ext cx="0" cy="100584"/>
          </a:xfrm>
          <a:prstGeom prst="line">
            <a:avLst/>
          </a:prstGeom>
          <a:ln w="8890">
            <a:solidFill>
              <a:srgbClr val="5E6C68"/>
            </a:solidFill>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10067544" y="4901184"/>
            <a:ext cx="566928" cy="292608"/>
          </a:xfrm>
          <a:prstGeom prst="rect">
            <a:avLst/>
          </a:prstGeom>
          <a:noFill/>
        </p:spPr>
        <p:txBody>
          <a:bodyPr wrap="square" lIns="0" rIns="0" tIns="0" bIns="0" anchor="t">
            <a:spAutoFit/>
          </a:bodyPr>
          <a:lstStyle/>
          <a:p>
            <a:pPr algn="ctr">
              <a:lnSpc>
                <a:spcPct val="108000"/>
              </a:lnSpc>
              <a:spcBef>
                <a:spcPts val="0"/>
              </a:spcBef>
              <a:spcAft>
                <a:spcPts val="0"/>
              </a:spcAft>
              <a:defRPr sz="1500" b="0">
                <a:solidFill>
                  <a:srgbClr val="5E6C68"/>
                </a:solidFill>
                <a:latin typeface="Arial"/>
              </a:defRPr>
            </a:pPr>
            <a:r>
              <a:t>100%</a:t>
            </a:r>
          </a:p>
        </p:txBody>
      </p:sp>
      <p:sp>
        <p:nvSpPr>
          <p:cNvPr id="23" name="TextBox 22"/>
          <p:cNvSpPr txBox="1"/>
          <p:nvPr/>
        </p:nvSpPr>
        <p:spPr>
          <a:xfrm>
            <a:off x="585216" y="5477256"/>
            <a:ext cx="10954512" cy="411480"/>
          </a:xfrm>
          <a:prstGeom prst="rect">
            <a:avLst/>
          </a:prstGeom>
          <a:noFill/>
        </p:spPr>
        <p:txBody>
          <a:bodyPr wrap="square" lIns="0" rIns="0" tIns="0" bIns="0" anchor="t">
            <a:spAutoFit/>
          </a:bodyPr>
          <a:lstStyle/>
          <a:p>
            <a:pPr algn="l">
              <a:lnSpc>
                <a:spcPct val="108000"/>
              </a:lnSpc>
              <a:spcBef>
                <a:spcPts val="0"/>
              </a:spcBef>
              <a:spcAft>
                <a:spcPts val="0"/>
              </a:spcAft>
              <a:defRPr sz="2100" b="0">
                <a:solidFill>
                  <a:srgbClr val="22312F"/>
                </a:solidFill>
                <a:latin typeface="Arial"/>
              </a:defRPr>
            </a:pPr>
            <a:r>
              <a:t>A strong spatial concentration; the bars do not establish causation.</a:t>
            </a:r>
          </a:p>
        </p:txBody>
      </p:sp>
      <p:sp>
        <p:nvSpPr>
          <p:cNvPr id="24" name="TextBox 23"/>
          <p:cNvSpPr txBox="1"/>
          <p:nvPr/>
        </p:nvSpPr>
        <p:spPr>
          <a:xfrm>
            <a:off x="585216" y="5980176"/>
            <a:ext cx="10954512" cy="274320"/>
          </a:xfrm>
          <a:prstGeom prst="rect">
            <a:avLst/>
          </a:prstGeom>
          <a:noFill/>
        </p:spPr>
        <p:txBody>
          <a:bodyPr wrap="square" lIns="0" rIns="0" tIns="0" bIns="0" anchor="t">
            <a:spAutoFit/>
          </a:bodyPr>
          <a:lstStyle/>
          <a:p>
            <a:pPr algn="l">
              <a:lnSpc>
                <a:spcPct val="108000"/>
              </a:lnSpc>
              <a:spcBef>
                <a:spcPts val="0"/>
              </a:spcBef>
              <a:spcAft>
                <a:spcPts val="0"/>
              </a:spcAft>
              <a:defRPr sz="1300" b="0">
                <a:solidFill>
                  <a:srgbClr val="5E6C68"/>
                </a:solidFill>
                <a:latin typeface="Arial"/>
              </a:defRPr>
            </a:pPr>
            <a:r>
              <a:t>Approximate period: 2023–2025. Exact zoning vintage, boundaries and calculation are not supplied.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Rectangle 1"/>
          <p:cNvSpPr/>
          <p:nvPr/>
        </p:nvSpPr>
        <p:spPr>
          <a:xfrm>
            <a:off x="548640" y="448056"/>
            <a:ext cx="329184" cy="41148"/>
          </a:xfrm>
          <a:prstGeom prst="rect">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978408" y="365760"/>
            <a:ext cx="10561320" cy="256032"/>
          </a:xfrm>
          <a:prstGeom prst="rect">
            <a:avLst/>
          </a:prstGeom>
          <a:noFill/>
        </p:spPr>
        <p:txBody>
          <a:bodyPr wrap="square" lIns="0" rIns="0" tIns="0" bIns="0" anchor="t">
            <a:spAutoFit/>
          </a:bodyPr>
          <a:lstStyle/>
          <a:p>
            <a:pPr algn="l">
              <a:lnSpc>
                <a:spcPct val="108000"/>
              </a:lnSpc>
              <a:spcBef>
                <a:spcPts val="0"/>
              </a:spcBef>
              <a:spcAft>
                <a:spcPts val="0"/>
              </a:spcAft>
              <a:defRPr sz="1150" b="1">
                <a:solidFill>
                  <a:srgbClr val="20685F"/>
                </a:solidFill>
                <a:latin typeface="Arial"/>
              </a:defRPr>
            </a:pPr>
            <a:r>
              <a:t>ABSTRACT · REPORTED FINDINGS</a:t>
            </a:r>
          </a:p>
        </p:txBody>
      </p:sp>
      <p:sp>
        <p:nvSpPr>
          <p:cNvPr id="4" name="TextBox 3"/>
          <p:cNvSpPr txBox="1"/>
          <p:nvPr/>
        </p:nvSpPr>
        <p:spPr>
          <a:xfrm>
            <a:off x="548640" y="832104"/>
            <a:ext cx="11045952" cy="694944"/>
          </a:xfrm>
          <a:prstGeom prst="rect">
            <a:avLst/>
          </a:prstGeom>
          <a:noFill/>
        </p:spPr>
        <p:txBody>
          <a:bodyPr wrap="square" lIns="0" rIns="0" tIns="0" bIns="0" anchor="t">
            <a:spAutoFit/>
          </a:bodyPr>
          <a:lstStyle/>
          <a:p>
            <a:pPr algn="l">
              <a:lnSpc>
                <a:spcPct val="108000"/>
              </a:lnSpc>
              <a:spcBef>
                <a:spcPts val="0"/>
              </a:spcBef>
              <a:spcAft>
                <a:spcPts val="0"/>
              </a:spcAft>
              <a:defRPr sz="3100" b="1">
                <a:solidFill>
                  <a:srgbClr val="22312F"/>
                </a:solidFill>
                <a:latin typeface="Arial"/>
              </a:defRPr>
            </a:pPr>
            <a:r>
              <a:t>Access constraints extend beyond zoning</a:t>
            </a:r>
          </a:p>
        </p:txBody>
      </p:sp>
      <p:sp>
        <p:nvSpPr>
          <p:cNvPr id="5" name="TextBox 4"/>
          <p:cNvSpPr txBox="1"/>
          <p:nvPr/>
        </p:nvSpPr>
        <p:spPr>
          <a:xfrm>
            <a:off x="548640" y="1536192"/>
            <a:ext cx="11045952" cy="502920"/>
          </a:xfrm>
          <a:prstGeom prst="rect">
            <a:avLst/>
          </a:prstGeom>
          <a:noFill/>
        </p:spPr>
        <p:txBody>
          <a:bodyPr wrap="square" lIns="0" rIns="0" tIns="0" bIns="0" anchor="t">
            <a:spAutoFit/>
          </a:bodyPr>
          <a:lstStyle/>
          <a:p>
            <a:pPr algn="l">
              <a:lnSpc>
                <a:spcPct val="108000"/>
              </a:lnSpc>
              <a:spcBef>
                <a:spcPts val="0"/>
              </a:spcBef>
              <a:spcAft>
                <a:spcPts val="0"/>
              </a:spcAft>
              <a:defRPr sz="1900" b="0">
                <a:solidFill>
                  <a:srgbClr val="5E6C68"/>
                </a:solidFill>
                <a:latin typeface="Arial"/>
              </a:defRPr>
            </a:pPr>
            <a:r>
              <a:t>Spatial concentration corresponds with several access constraints</a:t>
            </a:r>
          </a:p>
        </p:txBody>
      </p:sp>
      <p:cxnSp>
        <p:nvCxnSpPr>
          <p:cNvPr id="6" name="Connector 5"/>
          <p:cNvCxnSpPr/>
          <p:nvPr/>
        </p:nvCxnSpPr>
        <p:spPr>
          <a:xfrm>
            <a:off x="548640" y="6391656"/>
            <a:ext cx="11091672"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487668"/>
            <a:ext cx="10607040" cy="228600"/>
          </a:xfrm>
          <a:prstGeom prst="rect">
            <a:avLst/>
          </a:prstGeom>
          <a:noFill/>
        </p:spPr>
        <p:txBody>
          <a:bodyPr wrap="square" lIns="0" rIns="0" tIns="0" bIns="0" anchor="t">
            <a:spAutoFit/>
          </a:bodyPr>
          <a:lstStyle/>
          <a:p>
            <a:pPr algn="l">
              <a:lnSpc>
                <a:spcPct val="108000"/>
              </a:lnSpc>
              <a:spcBef>
                <a:spcPts val="0"/>
              </a:spcBef>
              <a:spcAft>
                <a:spcPts val="0"/>
              </a:spcAft>
              <a:defRPr sz="1100" b="0">
                <a:solidFill>
                  <a:srgbClr val="5E6C68"/>
                </a:solidFill>
                <a:latin typeface="Arial"/>
              </a:defRPr>
            </a:pPr>
            <a:r>
              <a:t>Source: supplied ACSP abstract · Community perspectives are paraphrased, not quoted</a:t>
            </a:r>
          </a:p>
        </p:txBody>
      </p:sp>
      <p:sp>
        <p:nvSpPr>
          <p:cNvPr id="8" name="TextBox 7"/>
          <p:cNvSpPr txBox="1"/>
          <p:nvPr/>
        </p:nvSpPr>
        <p:spPr>
          <a:xfrm>
            <a:off x="11192256" y="6473952"/>
            <a:ext cx="420624" cy="246888"/>
          </a:xfrm>
          <a:prstGeom prst="rect">
            <a:avLst/>
          </a:prstGeom>
          <a:noFill/>
        </p:spPr>
        <p:txBody>
          <a:bodyPr wrap="square" lIns="0" rIns="0" tIns="0" bIns="0" anchor="t">
            <a:spAutoFit/>
          </a:bodyPr>
          <a:lstStyle/>
          <a:p>
            <a:pPr algn="r">
              <a:lnSpc>
                <a:spcPct val="108000"/>
              </a:lnSpc>
              <a:spcBef>
                <a:spcPts val="0"/>
              </a:spcBef>
              <a:spcAft>
                <a:spcPts val="0"/>
              </a:spcAft>
              <a:defRPr sz="1200" b="1">
                <a:solidFill>
                  <a:srgbClr val="20685F"/>
                </a:solidFill>
                <a:latin typeface="Arial"/>
              </a:defRPr>
            </a:pPr>
            <a:r>
              <a:t>05</a:t>
            </a:r>
          </a:p>
        </p:txBody>
      </p:sp>
      <p:sp>
        <p:nvSpPr>
          <p:cNvPr id="9" name="TextBox 8"/>
          <p:cNvSpPr txBox="1"/>
          <p:nvPr/>
        </p:nvSpPr>
        <p:spPr>
          <a:xfrm>
            <a:off x="585216" y="2459736"/>
            <a:ext cx="2752344" cy="310896"/>
          </a:xfrm>
          <a:prstGeom prst="rect">
            <a:avLst/>
          </a:prstGeom>
          <a:noFill/>
        </p:spPr>
        <p:txBody>
          <a:bodyPr wrap="square" lIns="0" rIns="0" tIns="0" bIns="0" anchor="t">
            <a:spAutoFit/>
          </a:bodyPr>
          <a:lstStyle/>
          <a:p>
            <a:pPr algn="l">
              <a:lnSpc>
                <a:spcPct val="108000"/>
              </a:lnSpc>
              <a:spcBef>
                <a:spcPts val="0"/>
              </a:spcBef>
              <a:spcAft>
                <a:spcPts val="0"/>
              </a:spcAft>
              <a:defRPr sz="1500" b="1">
                <a:solidFill>
                  <a:srgbClr val="20685F"/>
                </a:solidFill>
                <a:latin typeface="Arial"/>
              </a:defRPr>
            </a:pPr>
            <a:r>
              <a:t>PUBLIC SPACE</a:t>
            </a:r>
          </a:p>
        </p:txBody>
      </p:sp>
      <p:sp>
        <p:nvSpPr>
          <p:cNvPr id="10" name="TextBox 9"/>
          <p:cNvSpPr txBox="1"/>
          <p:nvPr/>
        </p:nvSpPr>
        <p:spPr>
          <a:xfrm>
            <a:off x="3447288" y="2368296"/>
            <a:ext cx="8037575" cy="585216"/>
          </a:xfrm>
          <a:prstGeom prst="rect">
            <a:avLst/>
          </a:prstGeom>
          <a:noFill/>
        </p:spPr>
        <p:txBody>
          <a:bodyPr wrap="square" lIns="0" rIns="0" tIns="0" bIns="0" anchor="t">
            <a:spAutoFit/>
          </a:bodyPr>
          <a:lstStyle/>
          <a:p>
            <a:pPr algn="l">
              <a:lnSpc>
                <a:spcPct val="108000"/>
              </a:lnSpc>
              <a:spcBef>
                <a:spcPts val="0"/>
              </a:spcBef>
              <a:spcAft>
                <a:spcPts val="0"/>
              </a:spcAft>
              <a:defRPr sz="2400" b="0">
                <a:solidFill>
                  <a:srgbClr val="22312F"/>
                </a:solidFill>
                <a:latin typeface="Arial"/>
              </a:defRPr>
            </a:pPr>
            <a:r>
              <a:t>Limited public green space and environmental amenities</a:t>
            </a:r>
          </a:p>
        </p:txBody>
      </p:sp>
      <p:cxnSp>
        <p:nvCxnSpPr>
          <p:cNvPr id="11" name="Connector 10"/>
          <p:cNvCxnSpPr/>
          <p:nvPr/>
        </p:nvCxnSpPr>
        <p:spPr>
          <a:xfrm>
            <a:off x="585216" y="3035808"/>
            <a:ext cx="10972800"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585216" y="3346703"/>
            <a:ext cx="2752344" cy="310896"/>
          </a:xfrm>
          <a:prstGeom prst="rect">
            <a:avLst/>
          </a:prstGeom>
          <a:noFill/>
        </p:spPr>
        <p:txBody>
          <a:bodyPr wrap="square" lIns="0" rIns="0" tIns="0" bIns="0" anchor="t">
            <a:spAutoFit/>
          </a:bodyPr>
          <a:lstStyle/>
          <a:p>
            <a:pPr algn="l">
              <a:lnSpc>
                <a:spcPct val="108000"/>
              </a:lnSpc>
              <a:spcBef>
                <a:spcPts val="0"/>
              </a:spcBef>
              <a:spcAft>
                <a:spcPts val="0"/>
              </a:spcAft>
              <a:defRPr sz="1500" b="1">
                <a:solidFill>
                  <a:srgbClr val="20685F"/>
                </a:solidFill>
                <a:latin typeface="Arial"/>
              </a:defRPr>
            </a:pPr>
            <a:r>
              <a:t>MOBILITY</a:t>
            </a:r>
          </a:p>
        </p:txBody>
      </p:sp>
      <p:sp>
        <p:nvSpPr>
          <p:cNvPr id="13" name="TextBox 12"/>
          <p:cNvSpPr txBox="1"/>
          <p:nvPr/>
        </p:nvSpPr>
        <p:spPr>
          <a:xfrm>
            <a:off x="3447288" y="3255263"/>
            <a:ext cx="8037575" cy="585216"/>
          </a:xfrm>
          <a:prstGeom prst="rect">
            <a:avLst/>
          </a:prstGeom>
          <a:noFill/>
        </p:spPr>
        <p:txBody>
          <a:bodyPr wrap="square" lIns="0" rIns="0" tIns="0" bIns="0" anchor="t">
            <a:spAutoFit/>
          </a:bodyPr>
          <a:lstStyle/>
          <a:p>
            <a:pPr algn="l">
              <a:lnSpc>
                <a:spcPct val="108000"/>
              </a:lnSpc>
              <a:spcBef>
                <a:spcPts val="0"/>
              </a:spcBef>
              <a:spcAft>
                <a:spcPts val="0"/>
              </a:spcAft>
              <a:defRPr sz="2400" b="0">
                <a:solidFill>
                  <a:srgbClr val="22312F"/>
                </a:solidFill>
                <a:latin typeface="Arial"/>
              </a:defRPr>
            </a:pPr>
            <a:r>
              <a:t>Fragmented mobility networks</a:t>
            </a:r>
          </a:p>
        </p:txBody>
      </p:sp>
      <p:cxnSp>
        <p:nvCxnSpPr>
          <p:cNvPr id="14" name="Connector 13"/>
          <p:cNvCxnSpPr/>
          <p:nvPr/>
        </p:nvCxnSpPr>
        <p:spPr>
          <a:xfrm>
            <a:off x="585216" y="3922775"/>
            <a:ext cx="10972800"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585216" y="4233671"/>
            <a:ext cx="2752344" cy="310896"/>
          </a:xfrm>
          <a:prstGeom prst="rect">
            <a:avLst/>
          </a:prstGeom>
          <a:noFill/>
        </p:spPr>
        <p:txBody>
          <a:bodyPr wrap="square" lIns="0" rIns="0" tIns="0" bIns="0" anchor="t">
            <a:spAutoFit/>
          </a:bodyPr>
          <a:lstStyle/>
          <a:p>
            <a:pPr algn="l">
              <a:lnSpc>
                <a:spcPct val="108000"/>
              </a:lnSpc>
              <a:spcBef>
                <a:spcPts val="0"/>
              </a:spcBef>
              <a:spcAft>
                <a:spcPts val="0"/>
              </a:spcAft>
              <a:defRPr sz="1500" b="1">
                <a:solidFill>
                  <a:srgbClr val="20685F"/>
                </a:solidFill>
                <a:latin typeface="Arial"/>
              </a:defRPr>
            </a:pPr>
            <a:r>
              <a:t>HOUSEHOLD RESOURCES</a:t>
            </a:r>
          </a:p>
        </p:txBody>
      </p:sp>
      <p:sp>
        <p:nvSpPr>
          <p:cNvPr id="16" name="TextBox 15"/>
          <p:cNvSpPr txBox="1"/>
          <p:nvPr/>
        </p:nvSpPr>
        <p:spPr>
          <a:xfrm>
            <a:off x="3447288" y="4142231"/>
            <a:ext cx="8037575" cy="585216"/>
          </a:xfrm>
          <a:prstGeom prst="rect">
            <a:avLst/>
          </a:prstGeom>
          <a:noFill/>
        </p:spPr>
        <p:txBody>
          <a:bodyPr wrap="square" lIns="0" rIns="0" tIns="0" bIns="0" anchor="t">
            <a:spAutoFit/>
          </a:bodyPr>
          <a:lstStyle/>
          <a:p>
            <a:pPr algn="l">
              <a:lnSpc>
                <a:spcPct val="108000"/>
              </a:lnSpc>
              <a:spcBef>
                <a:spcPts val="0"/>
              </a:spcBef>
              <a:spcAft>
                <a:spcPts val="0"/>
              </a:spcAft>
              <a:defRPr sz="2400" b="0">
                <a:solidFill>
                  <a:srgbClr val="22312F"/>
                </a:solidFill>
                <a:latin typeface="Arial"/>
              </a:defRPr>
            </a:pPr>
            <a:r>
              <a:t>Median incomes below the King County average</a:t>
            </a:r>
          </a:p>
        </p:txBody>
      </p:sp>
      <p:cxnSp>
        <p:nvCxnSpPr>
          <p:cNvPr id="17" name="Connector 16"/>
          <p:cNvCxnSpPr/>
          <p:nvPr/>
        </p:nvCxnSpPr>
        <p:spPr>
          <a:xfrm>
            <a:off x="585216" y="4809744"/>
            <a:ext cx="10972800"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18" name="Rectangle 17"/>
          <p:cNvSpPr/>
          <p:nvPr/>
        </p:nvSpPr>
        <p:spPr>
          <a:xfrm>
            <a:off x="585216" y="5175504"/>
            <a:ext cx="10991088" cy="868680"/>
          </a:xfrm>
          <a:prstGeom prst="rect">
            <a:avLst/>
          </a:prstGeom>
          <a:solidFill>
            <a:srgbClr val="E9F1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50392" y="5376672"/>
            <a:ext cx="10469880" cy="475488"/>
          </a:xfrm>
          <a:prstGeom prst="rect">
            <a:avLst/>
          </a:prstGeom>
          <a:noFill/>
        </p:spPr>
        <p:txBody>
          <a:bodyPr wrap="square" lIns="0" rIns="0" tIns="0" bIns="0" anchor="t">
            <a:spAutoFit/>
          </a:bodyPr>
          <a:lstStyle/>
          <a:p>
            <a:pPr algn="l">
              <a:lnSpc>
                <a:spcPct val="108000"/>
              </a:lnSpc>
              <a:spcBef>
                <a:spcPts val="0"/>
              </a:spcBef>
              <a:spcAft>
                <a:spcPts val="0"/>
              </a:spcAft>
              <a:defRPr sz="2400" b="1">
                <a:solidFill>
                  <a:srgbClr val="20685F"/>
                </a:solidFill>
                <a:latin typeface="Arial"/>
              </a:defRPr>
            </a:pPr>
            <a:r>
              <a:t>Community perspectives describe persistent, structural constraints.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Rectangle 1"/>
          <p:cNvSpPr/>
          <p:nvPr/>
        </p:nvSpPr>
        <p:spPr>
          <a:xfrm>
            <a:off x="548640" y="448056"/>
            <a:ext cx="329184" cy="41148"/>
          </a:xfrm>
          <a:prstGeom prst="rect">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978408" y="365760"/>
            <a:ext cx="10561320" cy="256032"/>
          </a:xfrm>
          <a:prstGeom prst="rect">
            <a:avLst/>
          </a:prstGeom>
          <a:noFill/>
        </p:spPr>
        <p:txBody>
          <a:bodyPr wrap="square" lIns="0" rIns="0" tIns="0" bIns="0" anchor="t">
            <a:spAutoFit/>
          </a:bodyPr>
          <a:lstStyle/>
          <a:p>
            <a:pPr algn="l">
              <a:lnSpc>
                <a:spcPct val="108000"/>
              </a:lnSpc>
              <a:spcBef>
                <a:spcPts val="0"/>
              </a:spcBef>
              <a:spcAft>
                <a:spcPts val="0"/>
              </a:spcAft>
              <a:defRPr sz="1150" b="1">
                <a:solidFill>
                  <a:srgbClr val="20685F"/>
                </a:solidFill>
                <a:latin typeface="Arial"/>
              </a:defRPr>
            </a:pPr>
            <a:r>
              <a:t>FOOD. CO. · DESIGN PROPOSAL</a:t>
            </a:r>
          </a:p>
        </p:txBody>
      </p:sp>
      <p:sp>
        <p:nvSpPr>
          <p:cNvPr id="4" name="TextBox 3"/>
          <p:cNvSpPr txBox="1"/>
          <p:nvPr/>
        </p:nvSpPr>
        <p:spPr>
          <a:xfrm>
            <a:off x="548640" y="832104"/>
            <a:ext cx="11045952" cy="694944"/>
          </a:xfrm>
          <a:prstGeom prst="rect">
            <a:avLst/>
          </a:prstGeom>
          <a:noFill/>
        </p:spPr>
        <p:txBody>
          <a:bodyPr wrap="square" lIns="0" rIns="0" tIns="0" bIns="0" anchor="t">
            <a:spAutoFit/>
          </a:bodyPr>
          <a:lstStyle/>
          <a:p>
            <a:pPr algn="l">
              <a:lnSpc>
                <a:spcPct val="108000"/>
              </a:lnSpc>
              <a:spcBef>
                <a:spcPts val="0"/>
              </a:spcBef>
              <a:spcAft>
                <a:spcPts val="0"/>
              </a:spcAft>
              <a:defRPr sz="3100" b="1">
                <a:solidFill>
                  <a:srgbClr val="22312F"/>
                </a:solidFill>
                <a:latin typeface="Arial"/>
              </a:defRPr>
            </a:pPr>
            <a:r>
              <a:t>FOOD. CO.: a studio response to access</a:t>
            </a:r>
          </a:p>
        </p:txBody>
      </p:sp>
      <p:cxnSp>
        <p:nvCxnSpPr>
          <p:cNvPr id="5" name="Connector 4"/>
          <p:cNvCxnSpPr/>
          <p:nvPr/>
        </p:nvCxnSpPr>
        <p:spPr>
          <a:xfrm>
            <a:off x="548640" y="6391656"/>
            <a:ext cx="11091672"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87668"/>
            <a:ext cx="10607040" cy="228600"/>
          </a:xfrm>
          <a:prstGeom prst="rect">
            <a:avLst/>
          </a:prstGeom>
          <a:noFill/>
        </p:spPr>
        <p:txBody>
          <a:bodyPr wrap="square" lIns="0" rIns="0" tIns="0" bIns="0" anchor="t">
            <a:spAutoFit/>
          </a:bodyPr>
          <a:lstStyle/>
          <a:p>
            <a:pPr algn="l">
              <a:lnSpc>
                <a:spcPct val="108000"/>
              </a:lnSpc>
              <a:spcBef>
                <a:spcPts val="0"/>
              </a:spcBef>
              <a:spcAft>
                <a:spcPts val="0"/>
              </a:spcAft>
              <a:defRPr sz="1100" b="0">
                <a:solidFill>
                  <a:srgbClr val="5E6C68"/>
                </a:solidFill>
                <a:latin typeface="Arial"/>
              </a:defRPr>
            </a:pPr>
            <a:r>
              <a:t>Studio PDF pp. 1, 7, 11 · Su Li, Yijun Zhang, Yanrong Zheng · LARCH 507, Catherine de Almeida</a:t>
            </a:r>
          </a:p>
        </p:txBody>
      </p:sp>
      <p:sp>
        <p:nvSpPr>
          <p:cNvPr id="7" name="TextBox 6"/>
          <p:cNvSpPr txBox="1"/>
          <p:nvPr/>
        </p:nvSpPr>
        <p:spPr>
          <a:xfrm>
            <a:off x="11192256" y="6473952"/>
            <a:ext cx="420624" cy="246888"/>
          </a:xfrm>
          <a:prstGeom prst="rect">
            <a:avLst/>
          </a:prstGeom>
          <a:noFill/>
        </p:spPr>
        <p:txBody>
          <a:bodyPr wrap="square" lIns="0" rIns="0" tIns="0" bIns="0" anchor="t">
            <a:spAutoFit/>
          </a:bodyPr>
          <a:lstStyle/>
          <a:p>
            <a:pPr algn="r">
              <a:lnSpc>
                <a:spcPct val="108000"/>
              </a:lnSpc>
              <a:spcBef>
                <a:spcPts val="0"/>
              </a:spcBef>
              <a:spcAft>
                <a:spcPts val="0"/>
              </a:spcAft>
              <a:defRPr sz="1200" b="1">
                <a:solidFill>
                  <a:srgbClr val="20685F"/>
                </a:solidFill>
                <a:latin typeface="Arial"/>
              </a:defRPr>
            </a:pPr>
            <a:r>
              <a:t>06</a:t>
            </a:r>
          </a:p>
        </p:txBody>
      </p:sp>
      <p:sp>
        <p:nvSpPr>
          <p:cNvPr id="8" name="TextBox 7"/>
          <p:cNvSpPr txBox="1"/>
          <p:nvPr/>
        </p:nvSpPr>
        <p:spPr>
          <a:xfrm>
            <a:off x="585216" y="1938528"/>
            <a:ext cx="3465576" cy="420624"/>
          </a:xfrm>
          <a:prstGeom prst="rect">
            <a:avLst/>
          </a:prstGeom>
          <a:noFill/>
        </p:spPr>
        <p:txBody>
          <a:bodyPr wrap="square" lIns="0" rIns="0" tIns="0" bIns="0" anchor="t">
            <a:spAutoFit/>
          </a:bodyPr>
          <a:lstStyle/>
          <a:p>
            <a:pPr algn="l">
              <a:lnSpc>
                <a:spcPct val="108000"/>
              </a:lnSpc>
              <a:spcBef>
                <a:spcPts val="0"/>
              </a:spcBef>
              <a:spcAft>
                <a:spcPts val="0"/>
              </a:spcAft>
              <a:defRPr sz="2800" b="1">
                <a:solidFill>
                  <a:srgbClr val="20685F"/>
                </a:solidFill>
                <a:latin typeface="Arial"/>
              </a:defRPr>
            </a:pPr>
            <a:r>
              <a:t>Community</a:t>
            </a:r>
          </a:p>
        </p:txBody>
      </p:sp>
      <p:sp>
        <p:nvSpPr>
          <p:cNvPr id="9" name="TextBox 8"/>
          <p:cNvSpPr txBox="1"/>
          <p:nvPr/>
        </p:nvSpPr>
        <p:spPr>
          <a:xfrm>
            <a:off x="585216" y="2505456"/>
            <a:ext cx="3465576" cy="850392"/>
          </a:xfrm>
          <a:prstGeom prst="rect">
            <a:avLst/>
          </a:prstGeom>
          <a:noFill/>
        </p:spPr>
        <p:txBody>
          <a:bodyPr wrap="square" lIns="0" rIns="0" tIns="0" bIns="0" anchor="t">
            <a:spAutoFit/>
          </a:bodyPr>
          <a:lstStyle/>
          <a:p>
            <a:pPr algn="l">
              <a:lnSpc>
                <a:spcPct val="108000"/>
              </a:lnSpc>
              <a:spcBef>
                <a:spcPts val="0"/>
              </a:spcBef>
              <a:spcAft>
                <a:spcPts val="0"/>
              </a:spcAft>
              <a:defRPr sz="2100" b="0">
                <a:solidFill>
                  <a:srgbClr val="5E6C68"/>
                </a:solidFill>
                <a:latin typeface="Arial"/>
              </a:defRPr>
            </a:pPr>
            <a:r>
              <a:t>Spaces for everyday use</a:t>
            </a:r>
          </a:p>
        </p:txBody>
      </p:sp>
      <p:sp>
        <p:nvSpPr>
          <p:cNvPr id="10" name="TextBox 9"/>
          <p:cNvSpPr txBox="1"/>
          <p:nvPr/>
        </p:nvSpPr>
        <p:spPr>
          <a:xfrm>
            <a:off x="4361688" y="1938528"/>
            <a:ext cx="3465576" cy="420624"/>
          </a:xfrm>
          <a:prstGeom prst="rect">
            <a:avLst/>
          </a:prstGeom>
          <a:noFill/>
        </p:spPr>
        <p:txBody>
          <a:bodyPr wrap="square" lIns="0" rIns="0" tIns="0" bIns="0" anchor="t">
            <a:spAutoFit/>
          </a:bodyPr>
          <a:lstStyle/>
          <a:p>
            <a:pPr algn="l">
              <a:lnSpc>
                <a:spcPct val="108000"/>
              </a:lnSpc>
              <a:spcBef>
                <a:spcPts val="0"/>
              </a:spcBef>
              <a:spcAft>
                <a:spcPts val="0"/>
              </a:spcAft>
              <a:defRPr sz="2800" b="1">
                <a:solidFill>
                  <a:srgbClr val="20685F"/>
                </a:solidFill>
                <a:latin typeface="Arial"/>
              </a:defRPr>
            </a:pPr>
            <a:r>
              <a:t>Containers</a:t>
            </a:r>
          </a:p>
        </p:txBody>
      </p:sp>
      <p:sp>
        <p:nvSpPr>
          <p:cNvPr id="11" name="TextBox 10"/>
          <p:cNvSpPr txBox="1"/>
          <p:nvPr/>
        </p:nvSpPr>
        <p:spPr>
          <a:xfrm>
            <a:off x="4361688" y="2505456"/>
            <a:ext cx="3465576" cy="850392"/>
          </a:xfrm>
          <a:prstGeom prst="rect">
            <a:avLst/>
          </a:prstGeom>
          <a:noFill/>
        </p:spPr>
        <p:txBody>
          <a:bodyPr wrap="square" lIns="0" rIns="0" tIns="0" bIns="0" anchor="t">
            <a:spAutoFit/>
          </a:bodyPr>
          <a:lstStyle/>
          <a:p>
            <a:pPr algn="l">
              <a:lnSpc>
                <a:spcPct val="108000"/>
              </a:lnSpc>
              <a:spcBef>
                <a:spcPts val="0"/>
              </a:spcBef>
              <a:spcAft>
                <a:spcPts val="0"/>
              </a:spcAft>
              <a:defRPr sz="2100" b="0">
                <a:solidFill>
                  <a:srgbClr val="5E6C68"/>
                </a:solidFill>
                <a:latin typeface="Arial"/>
              </a:defRPr>
            </a:pPr>
            <a:r>
              <a:t>Adapt existing logistics assets</a:t>
            </a:r>
          </a:p>
        </p:txBody>
      </p:sp>
      <p:sp>
        <p:nvSpPr>
          <p:cNvPr id="12" name="TextBox 11"/>
          <p:cNvSpPr txBox="1"/>
          <p:nvPr/>
        </p:nvSpPr>
        <p:spPr>
          <a:xfrm>
            <a:off x="8138160" y="1938528"/>
            <a:ext cx="3465576" cy="420624"/>
          </a:xfrm>
          <a:prstGeom prst="rect">
            <a:avLst/>
          </a:prstGeom>
          <a:noFill/>
        </p:spPr>
        <p:txBody>
          <a:bodyPr wrap="square" lIns="0" rIns="0" tIns="0" bIns="0" anchor="t">
            <a:spAutoFit/>
          </a:bodyPr>
          <a:lstStyle/>
          <a:p>
            <a:pPr algn="l">
              <a:lnSpc>
                <a:spcPct val="108000"/>
              </a:lnSpc>
              <a:spcBef>
                <a:spcPts val="0"/>
              </a:spcBef>
              <a:spcAft>
                <a:spcPts val="0"/>
              </a:spcAft>
              <a:defRPr sz="2800" b="1">
                <a:solidFill>
                  <a:srgbClr val="20685F"/>
                </a:solidFill>
                <a:latin typeface="Arial"/>
              </a:defRPr>
            </a:pPr>
            <a:r>
              <a:t>Collaboration</a:t>
            </a:r>
          </a:p>
        </p:txBody>
      </p:sp>
      <p:sp>
        <p:nvSpPr>
          <p:cNvPr id="13" name="TextBox 12"/>
          <p:cNvSpPr txBox="1"/>
          <p:nvPr/>
        </p:nvSpPr>
        <p:spPr>
          <a:xfrm>
            <a:off x="8138160" y="2505456"/>
            <a:ext cx="3465576" cy="850392"/>
          </a:xfrm>
          <a:prstGeom prst="rect">
            <a:avLst/>
          </a:prstGeom>
          <a:noFill/>
        </p:spPr>
        <p:txBody>
          <a:bodyPr wrap="square" lIns="0" rIns="0" tIns="0" bIns="0" anchor="t">
            <a:spAutoFit/>
          </a:bodyPr>
          <a:lstStyle/>
          <a:p>
            <a:pPr algn="l">
              <a:lnSpc>
                <a:spcPct val="108000"/>
              </a:lnSpc>
              <a:spcBef>
                <a:spcPts val="0"/>
              </a:spcBef>
              <a:spcAft>
                <a:spcPts val="0"/>
              </a:spcAft>
              <a:defRPr sz="2100" b="0">
                <a:solidFill>
                  <a:srgbClr val="5E6C68"/>
                </a:solidFill>
                <a:latin typeface="Arial"/>
              </a:defRPr>
            </a:pPr>
            <a:r>
              <a:t>Link organizations and services</a:t>
            </a:r>
          </a:p>
        </p:txBody>
      </p:sp>
      <p:pic>
        <p:nvPicPr>
          <p:cNvPr id="14" name="Picture 13" descr="Original FOOD. CO. studio rendering of the proposed entry plaza and gallery edge at Food Lifeline; studio PDF page 11."/>
          <p:cNvPicPr>
            <a:picLocks noChangeAspect="1"/>
          </p:cNvPicPr>
          <p:nvPr/>
        </p:nvPicPr>
        <p:blipFill>
          <a:blip r:embed="rId3"/>
          <a:stretch>
            <a:fillRect/>
          </a:stretch>
        </p:blipFill>
        <p:spPr>
          <a:xfrm>
            <a:off x="585216" y="3530647"/>
            <a:ext cx="10991088" cy="2192432"/>
          </a:xfrm>
          <a:prstGeom prst="rect">
            <a:avLst/>
          </a:prstGeom>
        </p:spPr>
      </p:pic>
      <p:sp>
        <p:nvSpPr>
          <p:cNvPr id="15" name="TextBox 14"/>
          <p:cNvSpPr txBox="1"/>
          <p:nvPr/>
        </p:nvSpPr>
        <p:spPr>
          <a:xfrm>
            <a:off x="585216" y="5943600"/>
            <a:ext cx="10991088" cy="256032"/>
          </a:xfrm>
          <a:prstGeom prst="rect">
            <a:avLst/>
          </a:prstGeom>
          <a:noFill/>
        </p:spPr>
        <p:txBody>
          <a:bodyPr wrap="square" lIns="0" rIns="0" tIns="0" bIns="0" anchor="t">
            <a:spAutoFit/>
          </a:bodyPr>
          <a:lstStyle/>
          <a:p>
            <a:pPr algn="l">
              <a:lnSpc>
                <a:spcPct val="108000"/>
              </a:lnSpc>
              <a:spcBef>
                <a:spcPts val="0"/>
              </a:spcBef>
              <a:spcAft>
                <a:spcPts val="0"/>
              </a:spcAft>
              <a:defRPr sz="1300" b="0">
                <a:solidFill>
                  <a:srgbClr val="5E6C68"/>
                </a:solidFill>
                <a:latin typeface="Arial"/>
              </a:defRPr>
            </a:pPr>
            <a:r>
              <a:t>Proposed public-space functions; no measured implementation outcomes.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Rectangle 1"/>
          <p:cNvSpPr/>
          <p:nvPr/>
        </p:nvSpPr>
        <p:spPr>
          <a:xfrm>
            <a:off x="548640" y="448056"/>
            <a:ext cx="329184" cy="41148"/>
          </a:xfrm>
          <a:prstGeom prst="rect">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978408" y="365760"/>
            <a:ext cx="10561320" cy="256032"/>
          </a:xfrm>
          <a:prstGeom prst="rect">
            <a:avLst/>
          </a:prstGeom>
          <a:noFill/>
        </p:spPr>
        <p:txBody>
          <a:bodyPr wrap="square" lIns="0" rIns="0" tIns="0" bIns="0" anchor="t">
            <a:spAutoFit/>
          </a:bodyPr>
          <a:lstStyle/>
          <a:p>
            <a:pPr algn="l">
              <a:lnSpc>
                <a:spcPct val="108000"/>
              </a:lnSpc>
              <a:spcBef>
                <a:spcPts val="0"/>
              </a:spcBef>
              <a:spcAft>
                <a:spcPts val="0"/>
              </a:spcAft>
              <a:defRPr sz="1150" b="1">
                <a:solidFill>
                  <a:srgbClr val="20685F"/>
                </a:solidFill>
                <a:latin typeface="Arial"/>
              </a:defRPr>
            </a:pPr>
            <a:r>
              <a:t>FOOD. CO. · DESIGN PROPOSAL</a:t>
            </a:r>
          </a:p>
        </p:txBody>
      </p:sp>
      <p:sp>
        <p:nvSpPr>
          <p:cNvPr id="4" name="TextBox 3"/>
          <p:cNvSpPr txBox="1"/>
          <p:nvPr/>
        </p:nvSpPr>
        <p:spPr>
          <a:xfrm>
            <a:off x="548640" y="832104"/>
            <a:ext cx="11045952" cy="694944"/>
          </a:xfrm>
          <a:prstGeom prst="rect">
            <a:avLst/>
          </a:prstGeom>
          <a:noFill/>
        </p:spPr>
        <p:txBody>
          <a:bodyPr wrap="square" lIns="0" rIns="0" tIns="0" bIns="0" anchor="t">
            <a:spAutoFit/>
          </a:bodyPr>
          <a:lstStyle/>
          <a:p>
            <a:pPr algn="l">
              <a:lnSpc>
                <a:spcPct val="108000"/>
              </a:lnSpc>
              <a:spcBef>
                <a:spcPts val="0"/>
              </a:spcBef>
              <a:spcAft>
                <a:spcPts val="0"/>
              </a:spcAft>
              <a:defRPr sz="3100" b="1">
                <a:solidFill>
                  <a:srgbClr val="22312F"/>
                </a:solidFill>
                <a:latin typeface="Arial"/>
              </a:defRPr>
            </a:pPr>
            <a:r>
              <a:t>Connect four sites through shared services</a:t>
            </a:r>
          </a:p>
        </p:txBody>
      </p:sp>
      <p:cxnSp>
        <p:nvCxnSpPr>
          <p:cNvPr id="5" name="Connector 4"/>
          <p:cNvCxnSpPr/>
          <p:nvPr/>
        </p:nvCxnSpPr>
        <p:spPr>
          <a:xfrm>
            <a:off x="548640" y="6391656"/>
            <a:ext cx="11091672"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87668"/>
            <a:ext cx="10607040" cy="228600"/>
          </a:xfrm>
          <a:prstGeom prst="rect">
            <a:avLst/>
          </a:prstGeom>
          <a:noFill/>
        </p:spPr>
        <p:txBody>
          <a:bodyPr wrap="square" lIns="0" rIns="0" tIns="0" bIns="0" anchor="t">
            <a:spAutoFit/>
          </a:bodyPr>
          <a:lstStyle/>
          <a:p>
            <a:pPr algn="l">
              <a:lnSpc>
                <a:spcPct val="108000"/>
              </a:lnSpc>
              <a:spcBef>
                <a:spcPts val="0"/>
              </a:spcBef>
              <a:spcAft>
                <a:spcPts val="0"/>
              </a:spcAft>
              <a:defRPr sz="1100" b="0">
                <a:solidFill>
                  <a:srgbClr val="5E6C68"/>
                </a:solidFill>
                <a:latin typeface="Arial"/>
              </a:defRPr>
            </a:pPr>
            <a:r>
              <a:t>Proposed community network: cropped studio PDF p. 9 · Routes shown are design scenarios</a:t>
            </a:r>
          </a:p>
        </p:txBody>
      </p:sp>
      <p:sp>
        <p:nvSpPr>
          <p:cNvPr id="7" name="TextBox 6"/>
          <p:cNvSpPr txBox="1"/>
          <p:nvPr/>
        </p:nvSpPr>
        <p:spPr>
          <a:xfrm>
            <a:off x="11192256" y="6473952"/>
            <a:ext cx="420624" cy="246888"/>
          </a:xfrm>
          <a:prstGeom prst="rect">
            <a:avLst/>
          </a:prstGeom>
          <a:noFill/>
        </p:spPr>
        <p:txBody>
          <a:bodyPr wrap="square" lIns="0" rIns="0" tIns="0" bIns="0" anchor="t">
            <a:spAutoFit/>
          </a:bodyPr>
          <a:lstStyle/>
          <a:p>
            <a:pPr algn="r">
              <a:lnSpc>
                <a:spcPct val="108000"/>
              </a:lnSpc>
              <a:spcBef>
                <a:spcPts val="0"/>
              </a:spcBef>
              <a:spcAft>
                <a:spcPts val="0"/>
              </a:spcAft>
              <a:defRPr sz="1200" b="1">
                <a:solidFill>
                  <a:srgbClr val="20685F"/>
                </a:solidFill>
                <a:latin typeface="Arial"/>
              </a:defRPr>
            </a:pPr>
            <a:r>
              <a:t>07</a:t>
            </a:r>
          </a:p>
        </p:txBody>
      </p:sp>
      <p:sp>
        <p:nvSpPr>
          <p:cNvPr id="8" name="Rectangle 7"/>
          <p:cNvSpPr/>
          <p:nvPr/>
        </p:nvSpPr>
        <p:spPr>
          <a:xfrm>
            <a:off x="566928" y="1728216"/>
            <a:ext cx="11045952" cy="35935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Studio axonometric drawing of the proposed container services and connections among four community sites; not a measured accessibility map."/>
          <p:cNvPicPr>
            <a:picLocks noChangeAspect="1"/>
          </p:cNvPicPr>
          <p:nvPr/>
        </p:nvPicPr>
        <p:blipFill>
          <a:blip r:embed="rId3"/>
          <a:stretch>
            <a:fillRect/>
          </a:stretch>
        </p:blipFill>
        <p:spPr>
          <a:xfrm>
            <a:off x="2098017" y="1773936"/>
            <a:ext cx="7983772" cy="3502152"/>
          </a:xfrm>
          <a:prstGeom prst="rect">
            <a:avLst/>
          </a:prstGeom>
        </p:spPr>
      </p:pic>
      <p:cxnSp>
        <p:nvCxnSpPr>
          <p:cNvPr id="10" name="Connector 9"/>
          <p:cNvCxnSpPr/>
          <p:nvPr/>
        </p:nvCxnSpPr>
        <p:spPr>
          <a:xfrm>
            <a:off x="585216" y="5513832"/>
            <a:ext cx="2487168" cy="0"/>
          </a:xfrm>
          <a:prstGeom prst="line">
            <a:avLst/>
          </a:prstGeom>
          <a:ln w="17780">
            <a:solidFill>
              <a:srgbClr val="20685F"/>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585216" y="5650992"/>
            <a:ext cx="2505456" cy="521207"/>
          </a:xfrm>
          <a:prstGeom prst="rect">
            <a:avLst/>
          </a:prstGeom>
          <a:noFill/>
        </p:spPr>
        <p:txBody>
          <a:bodyPr wrap="square" lIns="0" rIns="0" tIns="0" bIns="0" anchor="t">
            <a:spAutoFit/>
          </a:bodyPr>
          <a:lstStyle/>
          <a:p>
            <a:pPr algn="l">
              <a:lnSpc>
                <a:spcPct val="108000"/>
              </a:lnSpc>
              <a:spcBef>
                <a:spcPts val="0"/>
              </a:spcBef>
              <a:spcAft>
                <a:spcPts val="0"/>
              </a:spcAft>
              <a:defRPr sz="2000" b="1">
                <a:solidFill>
                  <a:srgbClr val="22312F"/>
                </a:solidFill>
                <a:latin typeface="Arial"/>
              </a:defRPr>
            </a:pPr>
            <a:r>
              <a:t>South Park</a:t>
            </a:r>
          </a:p>
        </p:txBody>
      </p:sp>
      <p:cxnSp>
        <p:nvCxnSpPr>
          <p:cNvPr id="12" name="Connector 11"/>
          <p:cNvCxnSpPr/>
          <p:nvPr/>
        </p:nvCxnSpPr>
        <p:spPr>
          <a:xfrm>
            <a:off x="3401568" y="5513832"/>
            <a:ext cx="2487168" cy="0"/>
          </a:xfrm>
          <a:prstGeom prst="line">
            <a:avLst/>
          </a:prstGeom>
          <a:ln w="17780">
            <a:solidFill>
              <a:srgbClr val="20685F"/>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3401568" y="5650992"/>
            <a:ext cx="2505456" cy="521207"/>
          </a:xfrm>
          <a:prstGeom prst="rect">
            <a:avLst/>
          </a:prstGeom>
          <a:noFill/>
        </p:spPr>
        <p:txBody>
          <a:bodyPr wrap="square" lIns="0" rIns="0" tIns="0" bIns="0" anchor="t">
            <a:spAutoFit/>
          </a:bodyPr>
          <a:lstStyle/>
          <a:p>
            <a:pPr algn="l">
              <a:lnSpc>
                <a:spcPct val="108000"/>
              </a:lnSpc>
              <a:spcBef>
                <a:spcPts val="0"/>
              </a:spcBef>
              <a:spcAft>
                <a:spcPts val="0"/>
              </a:spcAft>
              <a:defRPr sz="2000" b="1">
                <a:solidFill>
                  <a:srgbClr val="22312F"/>
                </a:solidFill>
                <a:latin typeface="Arial"/>
              </a:defRPr>
            </a:pPr>
            <a:r>
              <a:t>Marra Farm</a:t>
            </a:r>
          </a:p>
        </p:txBody>
      </p:sp>
      <p:cxnSp>
        <p:nvCxnSpPr>
          <p:cNvPr id="14" name="Connector 13"/>
          <p:cNvCxnSpPr/>
          <p:nvPr/>
        </p:nvCxnSpPr>
        <p:spPr>
          <a:xfrm>
            <a:off x="6217920" y="5513832"/>
            <a:ext cx="2487168" cy="0"/>
          </a:xfrm>
          <a:prstGeom prst="line">
            <a:avLst/>
          </a:prstGeom>
          <a:ln w="17780">
            <a:solidFill>
              <a:srgbClr val="20685F"/>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217920" y="5650992"/>
            <a:ext cx="2505456" cy="521207"/>
          </a:xfrm>
          <a:prstGeom prst="rect">
            <a:avLst/>
          </a:prstGeom>
          <a:noFill/>
        </p:spPr>
        <p:txBody>
          <a:bodyPr wrap="square" lIns="0" rIns="0" tIns="0" bIns="0" anchor="t">
            <a:spAutoFit/>
          </a:bodyPr>
          <a:lstStyle/>
          <a:p>
            <a:pPr algn="l">
              <a:lnSpc>
                <a:spcPct val="108000"/>
              </a:lnSpc>
              <a:spcBef>
                <a:spcPts val="0"/>
              </a:spcBef>
              <a:spcAft>
                <a:spcPts val="0"/>
              </a:spcAft>
              <a:defRPr sz="2000" b="1">
                <a:solidFill>
                  <a:srgbClr val="22312F"/>
                </a:solidFill>
                <a:latin typeface="Arial"/>
              </a:defRPr>
            </a:pPr>
            <a:r>
              <a:t>Duwamish River</a:t>
            </a:r>
          </a:p>
          <a:p>
            <a:pPr algn="l">
              <a:lnSpc>
                <a:spcPct val="108000"/>
              </a:lnSpc>
              <a:spcBef>
                <a:spcPts val="0"/>
              </a:spcBef>
              <a:spcAft>
                <a:spcPts val="0"/>
              </a:spcAft>
              <a:defRPr sz="2000" b="1">
                <a:solidFill>
                  <a:srgbClr val="22312F"/>
                </a:solidFill>
                <a:latin typeface="Arial"/>
              </a:defRPr>
            </a:pPr>
            <a:r>
              <a:t>Community Hub</a:t>
            </a:r>
          </a:p>
        </p:txBody>
      </p:sp>
      <p:cxnSp>
        <p:nvCxnSpPr>
          <p:cNvPr id="16" name="Connector 15"/>
          <p:cNvCxnSpPr/>
          <p:nvPr/>
        </p:nvCxnSpPr>
        <p:spPr>
          <a:xfrm>
            <a:off x="9034272" y="5513832"/>
            <a:ext cx="2487168" cy="0"/>
          </a:xfrm>
          <a:prstGeom prst="line">
            <a:avLst/>
          </a:prstGeom>
          <a:ln w="17780">
            <a:solidFill>
              <a:srgbClr val="20685F"/>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9034272" y="5650992"/>
            <a:ext cx="2505456" cy="521207"/>
          </a:xfrm>
          <a:prstGeom prst="rect">
            <a:avLst/>
          </a:prstGeom>
          <a:noFill/>
        </p:spPr>
        <p:txBody>
          <a:bodyPr wrap="square" lIns="0" rIns="0" tIns="0" bIns="0" anchor="t">
            <a:spAutoFit/>
          </a:bodyPr>
          <a:lstStyle/>
          <a:p>
            <a:pPr algn="l">
              <a:lnSpc>
                <a:spcPct val="108000"/>
              </a:lnSpc>
              <a:spcBef>
                <a:spcPts val="0"/>
              </a:spcBef>
              <a:spcAft>
                <a:spcPts val="0"/>
              </a:spcAft>
              <a:defRPr sz="2000" b="1">
                <a:solidFill>
                  <a:srgbClr val="22312F"/>
                </a:solidFill>
                <a:latin typeface="Arial"/>
              </a:defRPr>
            </a:pPr>
            <a:r>
              <a:t>Food Lifeline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Rectangle 1"/>
          <p:cNvSpPr/>
          <p:nvPr/>
        </p:nvSpPr>
        <p:spPr>
          <a:xfrm>
            <a:off x="548640" y="448056"/>
            <a:ext cx="329184" cy="41148"/>
          </a:xfrm>
          <a:prstGeom prst="rect">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978408" y="365760"/>
            <a:ext cx="10561320" cy="256032"/>
          </a:xfrm>
          <a:prstGeom prst="rect">
            <a:avLst/>
          </a:prstGeom>
          <a:noFill/>
        </p:spPr>
        <p:txBody>
          <a:bodyPr wrap="square" lIns="0" rIns="0" tIns="0" bIns="0" anchor="t">
            <a:spAutoFit/>
          </a:bodyPr>
          <a:lstStyle/>
          <a:p>
            <a:pPr algn="l">
              <a:lnSpc>
                <a:spcPct val="108000"/>
              </a:lnSpc>
              <a:spcBef>
                <a:spcPts val="0"/>
              </a:spcBef>
              <a:spcAft>
                <a:spcPts val="0"/>
              </a:spcAft>
              <a:defRPr sz="1150" b="1">
                <a:solidFill>
                  <a:srgbClr val="20685F"/>
                </a:solidFill>
                <a:latin typeface="Arial"/>
              </a:defRPr>
            </a:pPr>
            <a:r>
              <a:t>FOOD. CO. · DESIGN PROPOSAL</a:t>
            </a:r>
          </a:p>
        </p:txBody>
      </p:sp>
      <p:sp>
        <p:nvSpPr>
          <p:cNvPr id="4" name="TextBox 3"/>
          <p:cNvSpPr txBox="1"/>
          <p:nvPr/>
        </p:nvSpPr>
        <p:spPr>
          <a:xfrm>
            <a:off x="548640" y="832104"/>
            <a:ext cx="11045952" cy="694944"/>
          </a:xfrm>
          <a:prstGeom prst="rect">
            <a:avLst/>
          </a:prstGeom>
          <a:noFill/>
        </p:spPr>
        <p:txBody>
          <a:bodyPr wrap="square" lIns="0" rIns="0" tIns="0" bIns="0" anchor="t">
            <a:spAutoFit/>
          </a:bodyPr>
          <a:lstStyle/>
          <a:p>
            <a:pPr algn="l">
              <a:lnSpc>
                <a:spcPct val="108000"/>
              </a:lnSpc>
              <a:spcBef>
                <a:spcPts val="0"/>
              </a:spcBef>
              <a:spcAft>
                <a:spcPts val="0"/>
              </a:spcAft>
              <a:defRPr sz="3100" b="1">
                <a:solidFill>
                  <a:srgbClr val="22312F"/>
                </a:solidFill>
                <a:latin typeface="Arial"/>
              </a:defRPr>
            </a:pPr>
            <a:r>
              <a:t>Adapt containers to different access needs</a:t>
            </a:r>
          </a:p>
        </p:txBody>
      </p:sp>
      <p:sp>
        <p:nvSpPr>
          <p:cNvPr id="5" name="TextBox 4"/>
          <p:cNvSpPr txBox="1"/>
          <p:nvPr/>
        </p:nvSpPr>
        <p:spPr>
          <a:xfrm>
            <a:off x="548640" y="1536192"/>
            <a:ext cx="11045952" cy="502920"/>
          </a:xfrm>
          <a:prstGeom prst="rect">
            <a:avLst/>
          </a:prstGeom>
          <a:noFill/>
        </p:spPr>
        <p:txBody>
          <a:bodyPr wrap="square" lIns="0" rIns="0" tIns="0" bIns="0" anchor="t">
            <a:spAutoFit/>
          </a:bodyPr>
          <a:lstStyle/>
          <a:p>
            <a:pPr algn="l">
              <a:lnSpc>
                <a:spcPct val="108000"/>
              </a:lnSpc>
              <a:spcBef>
                <a:spcPts val="0"/>
              </a:spcBef>
              <a:spcAft>
                <a:spcPts val="0"/>
              </a:spcAft>
              <a:defRPr sz="1900" b="0">
                <a:solidFill>
                  <a:srgbClr val="5E6C68"/>
                </a:solidFill>
                <a:latin typeface="Arial"/>
              </a:defRPr>
            </a:pPr>
            <a:r>
              <a:t>One design vocabulary, several community functions</a:t>
            </a:r>
          </a:p>
        </p:txBody>
      </p:sp>
      <p:cxnSp>
        <p:nvCxnSpPr>
          <p:cNvPr id="6" name="Connector 5"/>
          <p:cNvCxnSpPr/>
          <p:nvPr/>
        </p:nvCxnSpPr>
        <p:spPr>
          <a:xfrm>
            <a:off x="548640" y="6391656"/>
            <a:ext cx="11091672"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487668"/>
            <a:ext cx="10607040" cy="228600"/>
          </a:xfrm>
          <a:prstGeom prst="rect">
            <a:avLst/>
          </a:prstGeom>
          <a:noFill/>
        </p:spPr>
        <p:txBody>
          <a:bodyPr wrap="square" lIns="0" rIns="0" tIns="0" bIns="0" anchor="t">
            <a:spAutoFit/>
          </a:bodyPr>
          <a:lstStyle/>
          <a:p>
            <a:pPr algn="l">
              <a:lnSpc>
                <a:spcPct val="108000"/>
              </a:lnSpc>
              <a:spcBef>
                <a:spcPts val="0"/>
              </a:spcBef>
              <a:spcAft>
                <a:spcPts val="0"/>
              </a:spcAft>
              <a:defRPr sz="1100" b="0">
                <a:solidFill>
                  <a:srgbClr val="5E6C68"/>
                </a:solidFill>
                <a:latin typeface="Arial"/>
              </a:defRPr>
            </a:pPr>
            <a:r>
              <a:t>Selected container modules: cropped studio PDF p. 8 · Functional intentions, not performance claims</a:t>
            </a:r>
          </a:p>
        </p:txBody>
      </p:sp>
      <p:sp>
        <p:nvSpPr>
          <p:cNvPr id="8" name="TextBox 7"/>
          <p:cNvSpPr txBox="1"/>
          <p:nvPr/>
        </p:nvSpPr>
        <p:spPr>
          <a:xfrm>
            <a:off x="11192256" y="6473952"/>
            <a:ext cx="420624" cy="246888"/>
          </a:xfrm>
          <a:prstGeom prst="rect">
            <a:avLst/>
          </a:prstGeom>
          <a:noFill/>
        </p:spPr>
        <p:txBody>
          <a:bodyPr wrap="square" lIns="0" rIns="0" tIns="0" bIns="0" anchor="t">
            <a:spAutoFit/>
          </a:bodyPr>
          <a:lstStyle/>
          <a:p>
            <a:pPr algn="r">
              <a:lnSpc>
                <a:spcPct val="108000"/>
              </a:lnSpc>
              <a:spcBef>
                <a:spcPts val="0"/>
              </a:spcBef>
              <a:spcAft>
                <a:spcPts val="0"/>
              </a:spcAft>
              <a:defRPr sz="1200" b="1">
                <a:solidFill>
                  <a:srgbClr val="20685F"/>
                </a:solidFill>
                <a:latin typeface="Arial"/>
              </a:defRPr>
            </a:pPr>
            <a:r>
              <a:t>08</a:t>
            </a:r>
          </a:p>
        </p:txBody>
      </p:sp>
      <p:sp>
        <p:nvSpPr>
          <p:cNvPr id="9" name="Rectangle 8"/>
          <p:cNvSpPr/>
          <p:nvPr/>
        </p:nvSpPr>
        <p:spPr>
          <a:xfrm>
            <a:off x="585216" y="2304288"/>
            <a:ext cx="2542032" cy="254203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Café bus: original proposed container adaptation from studio PDF page 8."/>
          <p:cNvPicPr>
            <a:picLocks noChangeAspect="1"/>
          </p:cNvPicPr>
          <p:nvPr/>
        </p:nvPicPr>
        <p:blipFill>
          <a:blip r:embed="rId3"/>
          <a:stretch>
            <a:fillRect/>
          </a:stretch>
        </p:blipFill>
        <p:spPr>
          <a:xfrm>
            <a:off x="676656" y="2904608"/>
            <a:ext cx="2359152" cy="1277383"/>
          </a:xfrm>
          <a:prstGeom prst="rect">
            <a:avLst/>
          </a:prstGeom>
        </p:spPr>
      </p:pic>
      <p:sp>
        <p:nvSpPr>
          <p:cNvPr id="11" name="TextBox 10"/>
          <p:cNvSpPr txBox="1"/>
          <p:nvPr/>
        </p:nvSpPr>
        <p:spPr>
          <a:xfrm>
            <a:off x="585216" y="5102352"/>
            <a:ext cx="2578608" cy="585216"/>
          </a:xfrm>
          <a:prstGeom prst="rect">
            <a:avLst/>
          </a:prstGeom>
          <a:noFill/>
        </p:spPr>
        <p:txBody>
          <a:bodyPr wrap="square" lIns="0" rIns="0" tIns="0" bIns="0" anchor="t">
            <a:spAutoFit/>
          </a:bodyPr>
          <a:lstStyle/>
          <a:p>
            <a:pPr algn="l">
              <a:lnSpc>
                <a:spcPct val="108000"/>
              </a:lnSpc>
              <a:spcBef>
                <a:spcPts val="0"/>
              </a:spcBef>
              <a:spcAft>
                <a:spcPts val="0"/>
              </a:spcAft>
              <a:defRPr sz="2200" b="1">
                <a:solidFill>
                  <a:srgbClr val="22312F"/>
                </a:solidFill>
                <a:latin typeface="Arial"/>
              </a:defRPr>
            </a:pPr>
            <a:r>
              <a:t>Café bus</a:t>
            </a:r>
          </a:p>
        </p:txBody>
      </p:sp>
      <p:sp>
        <p:nvSpPr>
          <p:cNvPr id="12" name="TextBox 11"/>
          <p:cNvSpPr txBox="1"/>
          <p:nvPr/>
        </p:nvSpPr>
        <p:spPr>
          <a:xfrm>
            <a:off x="585216" y="5751576"/>
            <a:ext cx="2587752" cy="365760"/>
          </a:xfrm>
          <a:prstGeom prst="rect">
            <a:avLst/>
          </a:prstGeom>
          <a:noFill/>
        </p:spPr>
        <p:txBody>
          <a:bodyPr wrap="square" lIns="0" rIns="0" tIns="0" bIns="0" anchor="t">
            <a:spAutoFit/>
          </a:bodyPr>
          <a:lstStyle/>
          <a:p>
            <a:pPr algn="l">
              <a:lnSpc>
                <a:spcPct val="108000"/>
              </a:lnSpc>
              <a:spcBef>
                <a:spcPts val="0"/>
              </a:spcBef>
              <a:spcAft>
                <a:spcPts val="0"/>
              </a:spcAft>
              <a:defRPr sz="1600" b="0">
                <a:solidFill>
                  <a:srgbClr val="20685F"/>
                </a:solidFill>
                <a:latin typeface="Arial"/>
              </a:defRPr>
            </a:pPr>
            <a:r>
              <a:t>Food service</a:t>
            </a:r>
          </a:p>
        </p:txBody>
      </p:sp>
      <p:sp>
        <p:nvSpPr>
          <p:cNvPr id="13" name="Rectangle 12"/>
          <p:cNvSpPr/>
          <p:nvPr/>
        </p:nvSpPr>
        <p:spPr>
          <a:xfrm>
            <a:off x="3401568" y="2304288"/>
            <a:ext cx="2542032" cy="254203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4" name="Picture 13" descr="Collection module: original proposed container adaptation from studio PDF page 8."/>
          <p:cNvPicPr>
            <a:picLocks noChangeAspect="1"/>
          </p:cNvPicPr>
          <p:nvPr/>
        </p:nvPicPr>
        <p:blipFill>
          <a:blip r:embed="rId4"/>
          <a:stretch>
            <a:fillRect/>
          </a:stretch>
        </p:blipFill>
        <p:spPr>
          <a:xfrm>
            <a:off x="3493008" y="2923462"/>
            <a:ext cx="2359152" cy="1239674"/>
          </a:xfrm>
          <a:prstGeom prst="rect">
            <a:avLst/>
          </a:prstGeom>
        </p:spPr>
      </p:pic>
      <p:sp>
        <p:nvSpPr>
          <p:cNvPr id="15" name="TextBox 14"/>
          <p:cNvSpPr txBox="1"/>
          <p:nvPr/>
        </p:nvSpPr>
        <p:spPr>
          <a:xfrm>
            <a:off x="3401568" y="5102352"/>
            <a:ext cx="2578608" cy="585216"/>
          </a:xfrm>
          <a:prstGeom prst="rect">
            <a:avLst/>
          </a:prstGeom>
          <a:noFill/>
        </p:spPr>
        <p:txBody>
          <a:bodyPr wrap="square" lIns="0" rIns="0" tIns="0" bIns="0" anchor="t">
            <a:spAutoFit/>
          </a:bodyPr>
          <a:lstStyle/>
          <a:p>
            <a:pPr algn="l">
              <a:lnSpc>
                <a:spcPct val="108000"/>
              </a:lnSpc>
              <a:spcBef>
                <a:spcPts val="0"/>
              </a:spcBef>
              <a:spcAft>
                <a:spcPts val="0"/>
              </a:spcAft>
              <a:defRPr sz="2200" b="1">
                <a:solidFill>
                  <a:srgbClr val="22312F"/>
                </a:solidFill>
                <a:latin typeface="Arial"/>
              </a:defRPr>
            </a:pPr>
            <a:r>
              <a:t>Collection module</a:t>
            </a:r>
          </a:p>
        </p:txBody>
      </p:sp>
      <p:sp>
        <p:nvSpPr>
          <p:cNvPr id="16" name="TextBox 15"/>
          <p:cNvSpPr txBox="1"/>
          <p:nvPr/>
        </p:nvSpPr>
        <p:spPr>
          <a:xfrm>
            <a:off x="3401568" y="5751576"/>
            <a:ext cx="2587752" cy="365760"/>
          </a:xfrm>
          <a:prstGeom prst="rect">
            <a:avLst/>
          </a:prstGeom>
          <a:noFill/>
        </p:spPr>
        <p:txBody>
          <a:bodyPr wrap="square" lIns="0" rIns="0" tIns="0" bIns="0" anchor="t">
            <a:spAutoFit/>
          </a:bodyPr>
          <a:lstStyle/>
          <a:p>
            <a:pPr algn="l">
              <a:lnSpc>
                <a:spcPct val="108000"/>
              </a:lnSpc>
              <a:spcBef>
                <a:spcPts val="0"/>
              </a:spcBef>
              <a:spcAft>
                <a:spcPts val="0"/>
              </a:spcAft>
              <a:defRPr sz="1600" b="0">
                <a:solidFill>
                  <a:srgbClr val="20685F"/>
                </a:solidFill>
                <a:latin typeface="Arial"/>
              </a:defRPr>
            </a:pPr>
            <a:r>
              <a:t>Food-waste collection</a:t>
            </a:r>
          </a:p>
        </p:txBody>
      </p:sp>
      <p:sp>
        <p:nvSpPr>
          <p:cNvPr id="17" name="Rectangle 16"/>
          <p:cNvSpPr/>
          <p:nvPr/>
        </p:nvSpPr>
        <p:spPr>
          <a:xfrm>
            <a:off x="6217920" y="2304288"/>
            <a:ext cx="2542032" cy="254203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Bus stop: original proposed container adaptation from studio PDF page 8."/>
          <p:cNvPicPr>
            <a:picLocks noChangeAspect="1"/>
          </p:cNvPicPr>
          <p:nvPr/>
        </p:nvPicPr>
        <p:blipFill>
          <a:blip r:embed="rId5"/>
          <a:stretch>
            <a:fillRect/>
          </a:stretch>
        </p:blipFill>
        <p:spPr>
          <a:xfrm>
            <a:off x="6309359" y="2856294"/>
            <a:ext cx="2359152" cy="1374011"/>
          </a:xfrm>
          <a:prstGeom prst="rect">
            <a:avLst/>
          </a:prstGeom>
        </p:spPr>
      </p:pic>
      <p:sp>
        <p:nvSpPr>
          <p:cNvPr id="19" name="TextBox 18"/>
          <p:cNvSpPr txBox="1"/>
          <p:nvPr/>
        </p:nvSpPr>
        <p:spPr>
          <a:xfrm>
            <a:off x="6217920" y="5102352"/>
            <a:ext cx="2578608" cy="585216"/>
          </a:xfrm>
          <a:prstGeom prst="rect">
            <a:avLst/>
          </a:prstGeom>
          <a:noFill/>
        </p:spPr>
        <p:txBody>
          <a:bodyPr wrap="square" lIns="0" rIns="0" tIns="0" bIns="0" anchor="t">
            <a:spAutoFit/>
          </a:bodyPr>
          <a:lstStyle/>
          <a:p>
            <a:pPr algn="l">
              <a:lnSpc>
                <a:spcPct val="108000"/>
              </a:lnSpc>
              <a:spcBef>
                <a:spcPts val="0"/>
              </a:spcBef>
              <a:spcAft>
                <a:spcPts val="0"/>
              </a:spcAft>
              <a:defRPr sz="2200" b="1">
                <a:solidFill>
                  <a:srgbClr val="22312F"/>
                </a:solidFill>
                <a:latin typeface="Arial"/>
              </a:defRPr>
            </a:pPr>
            <a:r>
              <a:t>Bus stop</a:t>
            </a:r>
          </a:p>
        </p:txBody>
      </p:sp>
      <p:sp>
        <p:nvSpPr>
          <p:cNvPr id="20" name="TextBox 19"/>
          <p:cNvSpPr txBox="1"/>
          <p:nvPr/>
        </p:nvSpPr>
        <p:spPr>
          <a:xfrm>
            <a:off x="6217920" y="5751576"/>
            <a:ext cx="2587752" cy="365760"/>
          </a:xfrm>
          <a:prstGeom prst="rect">
            <a:avLst/>
          </a:prstGeom>
          <a:noFill/>
        </p:spPr>
        <p:txBody>
          <a:bodyPr wrap="square" lIns="0" rIns="0" tIns="0" bIns="0" anchor="t">
            <a:spAutoFit/>
          </a:bodyPr>
          <a:lstStyle/>
          <a:p>
            <a:pPr algn="l">
              <a:lnSpc>
                <a:spcPct val="108000"/>
              </a:lnSpc>
              <a:spcBef>
                <a:spcPts val="0"/>
              </a:spcBef>
              <a:spcAft>
                <a:spcPts val="0"/>
              </a:spcAft>
              <a:defRPr sz="1600" b="0">
                <a:solidFill>
                  <a:srgbClr val="20685F"/>
                </a:solidFill>
                <a:latin typeface="Arial"/>
              </a:defRPr>
            </a:pPr>
            <a:r>
              <a:t>Transit waiting</a:t>
            </a:r>
          </a:p>
        </p:txBody>
      </p:sp>
      <p:sp>
        <p:nvSpPr>
          <p:cNvPr id="21" name="Rectangle 20"/>
          <p:cNvSpPr/>
          <p:nvPr/>
        </p:nvSpPr>
        <p:spPr>
          <a:xfrm>
            <a:off x="9034272" y="2304288"/>
            <a:ext cx="2542032" cy="254203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Seating: original proposed container adaptation from studio PDF page 8."/>
          <p:cNvPicPr>
            <a:picLocks noChangeAspect="1"/>
          </p:cNvPicPr>
          <p:nvPr/>
        </p:nvPicPr>
        <p:blipFill>
          <a:blip r:embed="rId6"/>
          <a:stretch>
            <a:fillRect/>
          </a:stretch>
        </p:blipFill>
        <p:spPr>
          <a:xfrm>
            <a:off x="9125712" y="2549910"/>
            <a:ext cx="2359152" cy="1986778"/>
          </a:xfrm>
          <a:prstGeom prst="rect">
            <a:avLst/>
          </a:prstGeom>
        </p:spPr>
      </p:pic>
      <p:sp>
        <p:nvSpPr>
          <p:cNvPr id="23" name="TextBox 22"/>
          <p:cNvSpPr txBox="1"/>
          <p:nvPr/>
        </p:nvSpPr>
        <p:spPr>
          <a:xfrm>
            <a:off x="9034272" y="5102352"/>
            <a:ext cx="2578608" cy="585216"/>
          </a:xfrm>
          <a:prstGeom prst="rect">
            <a:avLst/>
          </a:prstGeom>
          <a:noFill/>
        </p:spPr>
        <p:txBody>
          <a:bodyPr wrap="square" lIns="0" rIns="0" tIns="0" bIns="0" anchor="t">
            <a:spAutoFit/>
          </a:bodyPr>
          <a:lstStyle/>
          <a:p>
            <a:pPr algn="l">
              <a:lnSpc>
                <a:spcPct val="108000"/>
              </a:lnSpc>
              <a:spcBef>
                <a:spcPts val="0"/>
              </a:spcBef>
              <a:spcAft>
                <a:spcPts val="0"/>
              </a:spcAft>
              <a:defRPr sz="2200" b="1">
                <a:solidFill>
                  <a:srgbClr val="22312F"/>
                </a:solidFill>
                <a:latin typeface="Arial"/>
              </a:defRPr>
            </a:pPr>
            <a:r>
              <a:t>Seating</a:t>
            </a:r>
          </a:p>
        </p:txBody>
      </p:sp>
      <p:sp>
        <p:nvSpPr>
          <p:cNvPr id="24" name="TextBox 23"/>
          <p:cNvSpPr txBox="1"/>
          <p:nvPr/>
        </p:nvSpPr>
        <p:spPr>
          <a:xfrm>
            <a:off x="9034272" y="5751576"/>
            <a:ext cx="2587752" cy="365760"/>
          </a:xfrm>
          <a:prstGeom prst="rect">
            <a:avLst/>
          </a:prstGeom>
          <a:noFill/>
        </p:spPr>
        <p:txBody>
          <a:bodyPr wrap="square" lIns="0" rIns="0" tIns="0" bIns="0" anchor="t">
            <a:spAutoFit/>
          </a:bodyPr>
          <a:lstStyle/>
          <a:p>
            <a:pPr algn="l">
              <a:lnSpc>
                <a:spcPct val="108000"/>
              </a:lnSpc>
              <a:spcBef>
                <a:spcPts val="0"/>
              </a:spcBef>
              <a:spcAft>
                <a:spcPts val="0"/>
              </a:spcAft>
              <a:defRPr sz="1600" b="0">
                <a:solidFill>
                  <a:srgbClr val="20685F"/>
                </a:solidFill>
                <a:latin typeface="Arial"/>
              </a:defRPr>
            </a:pPr>
            <a:r>
              <a:t>Shared space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Rectangle 1"/>
          <p:cNvSpPr/>
          <p:nvPr/>
        </p:nvSpPr>
        <p:spPr>
          <a:xfrm>
            <a:off x="548640" y="448056"/>
            <a:ext cx="329184" cy="41148"/>
          </a:xfrm>
          <a:prstGeom prst="rect">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978408" y="365760"/>
            <a:ext cx="10561320" cy="256032"/>
          </a:xfrm>
          <a:prstGeom prst="rect">
            <a:avLst/>
          </a:prstGeom>
          <a:noFill/>
        </p:spPr>
        <p:txBody>
          <a:bodyPr wrap="square" lIns="0" rIns="0" tIns="0" bIns="0" anchor="t">
            <a:spAutoFit/>
          </a:bodyPr>
          <a:lstStyle/>
          <a:p>
            <a:pPr algn="l">
              <a:lnSpc>
                <a:spcPct val="108000"/>
              </a:lnSpc>
              <a:spcBef>
                <a:spcPts val="0"/>
              </a:spcBef>
              <a:spcAft>
                <a:spcPts val="0"/>
              </a:spcAft>
              <a:defRPr sz="1150" b="1">
                <a:solidFill>
                  <a:srgbClr val="20685F"/>
                </a:solidFill>
                <a:latin typeface="Arial"/>
              </a:defRPr>
            </a:pPr>
            <a:r>
              <a:t>FOOD. CO. · DESIGN PROPOSAL</a:t>
            </a:r>
          </a:p>
        </p:txBody>
      </p:sp>
      <p:sp>
        <p:nvSpPr>
          <p:cNvPr id="4" name="TextBox 3"/>
          <p:cNvSpPr txBox="1"/>
          <p:nvPr/>
        </p:nvSpPr>
        <p:spPr>
          <a:xfrm>
            <a:off x="548640" y="832104"/>
            <a:ext cx="11045952" cy="694944"/>
          </a:xfrm>
          <a:prstGeom prst="rect">
            <a:avLst/>
          </a:prstGeom>
          <a:noFill/>
        </p:spPr>
        <p:txBody>
          <a:bodyPr wrap="square" lIns="0" rIns="0" tIns="0" bIns="0" anchor="t">
            <a:spAutoFit/>
          </a:bodyPr>
          <a:lstStyle/>
          <a:p>
            <a:pPr algn="l">
              <a:lnSpc>
                <a:spcPct val="108000"/>
              </a:lnSpc>
              <a:spcBef>
                <a:spcPts val="0"/>
              </a:spcBef>
              <a:spcAft>
                <a:spcPts val="0"/>
              </a:spcAft>
              <a:defRPr sz="3100" b="1">
                <a:solidFill>
                  <a:srgbClr val="22312F"/>
                </a:solidFill>
                <a:latin typeface="Arial"/>
              </a:defRPr>
            </a:pPr>
            <a:r>
              <a:t>Make Food Lifeline’s edge a public interface</a:t>
            </a:r>
          </a:p>
        </p:txBody>
      </p:sp>
      <p:cxnSp>
        <p:nvCxnSpPr>
          <p:cNvPr id="5" name="Connector 4"/>
          <p:cNvCxnSpPr/>
          <p:nvPr/>
        </p:nvCxnSpPr>
        <p:spPr>
          <a:xfrm>
            <a:off x="548640" y="6391656"/>
            <a:ext cx="11091672"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87668"/>
            <a:ext cx="10607040" cy="228600"/>
          </a:xfrm>
          <a:prstGeom prst="rect">
            <a:avLst/>
          </a:prstGeom>
          <a:noFill/>
        </p:spPr>
        <p:txBody>
          <a:bodyPr wrap="square" lIns="0" rIns="0" tIns="0" bIns="0" anchor="t">
            <a:spAutoFit/>
          </a:bodyPr>
          <a:lstStyle/>
          <a:p>
            <a:pPr algn="l">
              <a:lnSpc>
                <a:spcPct val="108000"/>
              </a:lnSpc>
              <a:spcBef>
                <a:spcPts val="0"/>
              </a:spcBef>
              <a:spcAft>
                <a:spcPts val="0"/>
              </a:spcAft>
              <a:defRPr sz="1100" b="0">
                <a:solidFill>
                  <a:srgbClr val="5E6C68"/>
                </a:solidFill>
                <a:latin typeface="Arial"/>
              </a:defRPr>
            </a:pPr>
            <a:r>
              <a:t>Proposed Food Lifeline plan: cropped studio PDF p. 10 · Callouts are presentation annotations</a:t>
            </a:r>
          </a:p>
        </p:txBody>
      </p:sp>
      <p:sp>
        <p:nvSpPr>
          <p:cNvPr id="7" name="TextBox 6"/>
          <p:cNvSpPr txBox="1"/>
          <p:nvPr/>
        </p:nvSpPr>
        <p:spPr>
          <a:xfrm>
            <a:off x="11192256" y="6473952"/>
            <a:ext cx="420624" cy="246888"/>
          </a:xfrm>
          <a:prstGeom prst="rect">
            <a:avLst/>
          </a:prstGeom>
          <a:noFill/>
        </p:spPr>
        <p:txBody>
          <a:bodyPr wrap="square" lIns="0" rIns="0" tIns="0" bIns="0" anchor="t">
            <a:spAutoFit/>
          </a:bodyPr>
          <a:lstStyle/>
          <a:p>
            <a:pPr algn="r">
              <a:lnSpc>
                <a:spcPct val="108000"/>
              </a:lnSpc>
              <a:spcBef>
                <a:spcPts val="0"/>
              </a:spcBef>
              <a:spcAft>
                <a:spcPts val="0"/>
              </a:spcAft>
              <a:defRPr sz="1200" b="1">
                <a:solidFill>
                  <a:srgbClr val="20685F"/>
                </a:solidFill>
                <a:latin typeface="Arial"/>
              </a:defRPr>
            </a:pPr>
            <a:r>
              <a:t>09</a:t>
            </a:r>
          </a:p>
        </p:txBody>
      </p:sp>
      <p:sp>
        <p:nvSpPr>
          <p:cNvPr id="8" name="Rectangle 7"/>
          <p:cNvSpPr/>
          <p:nvPr/>
        </p:nvSpPr>
        <p:spPr>
          <a:xfrm>
            <a:off x="576072" y="1700784"/>
            <a:ext cx="7040880" cy="452628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Proposed Food Lifeline site plan with entry plaza, cafe, pedestrian edge, urban farm, drive-through and retained loading areas."/>
          <p:cNvPicPr>
            <a:picLocks noChangeAspect="1"/>
          </p:cNvPicPr>
          <p:nvPr/>
        </p:nvPicPr>
        <p:blipFill>
          <a:blip r:embed="rId3"/>
          <a:stretch>
            <a:fillRect/>
          </a:stretch>
        </p:blipFill>
        <p:spPr>
          <a:xfrm>
            <a:off x="1288128" y="1719072"/>
            <a:ext cx="5607622" cy="4489704"/>
          </a:xfrm>
          <a:prstGeom prst="rect">
            <a:avLst/>
          </a:prstGeom>
        </p:spPr>
      </p:pic>
      <p:sp>
        <p:nvSpPr>
          <p:cNvPr id="10" name="Oval 9"/>
          <p:cNvSpPr/>
          <p:nvPr/>
        </p:nvSpPr>
        <p:spPr>
          <a:xfrm>
            <a:off x="2240280" y="2551176"/>
            <a:ext cx="310896" cy="310896"/>
          </a:xfrm>
          <a:prstGeom prst="ellipse">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1200">
                <a:solidFill>
                  <a:srgbClr val="FFFFFF"/>
                </a:solidFill>
                <a:latin typeface="Arial"/>
              </a:defRPr>
            </a:pPr>
            <a:r>
              <a:t>1</a:t>
            </a:r>
          </a:p>
        </p:txBody>
      </p:sp>
      <p:sp>
        <p:nvSpPr>
          <p:cNvPr id="11" name="Oval 10"/>
          <p:cNvSpPr/>
          <p:nvPr/>
        </p:nvSpPr>
        <p:spPr>
          <a:xfrm>
            <a:off x="1527048" y="4123944"/>
            <a:ext cx="310896" cy="310896"/>
          </a:xfrm>
          <a:prstGeom prst="ellipse">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1200">
                <a:solidFill>
                  <a:srgbClr val="FFFFFF"/>
                </a:solidFill>
                <a:latin typeface="Arial"/>
              </a:defRPr>
            </a:pPr>
            <a:r>
              <a:t>2</a:t>
            </a:r>
          </a:p>
        </p:txBody>
      </p:sp>
      <p:sp>
        <p:nvSpPr>
          <p:cNvPr id="12" name="Oval 11"/>
          <p:cNvSpPr/>
          <p:nvPr/>
        </p:nvSpPr>
        <p:spPr>
          <a:xfrm>
            <a:off x="4334256" y="4105656"/>
            <a:ext cx="310896" cy="310896"/>
          </a:xfrm>
          <a:prstGeom prst="ellipse">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1200">
                <a:solidFill>
                  <a:srgbClr val="FFFFFF"/>
                </a:solidFill>
                <a:latin typeface="Arial"/>
              </a:defRPr>
            </a:pPr>
            <a:r>
              <a:t>3</a:t>
            </a:r>
          </a:p>
        </p:txBody>
      </p:sp>
      <p:sp>
        <p:nvSpPr>
          <p:cNvPr id="13" name="Oval 12"/>
          <p:cNvSpPr/>
          <p:nvPr/>
        </p:nvSpPr>
        <p:spPr>
          <a:xfrm>
            <a:off x="8046720" y="2121408"/>
            <a:ext cx="310896" cy="310896"/>
          </a:xfrm>
          <a:prstGeom prst="ellipse">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1200">
                <a:solidFill>
                  <a:srgbClr val="FFFFFF"/>
                </a:solidFill>
                <a:latin typeface="Arial"/>
              </a:defRPr>
            </a:pPr>
            <a:r>
              <a:t>1</a:t>
            </a:r>
          </a:p>
        </p:txBody>
      </p:sp>
      <p:sp>
        <p:nvSpPr>
          <p:cNvPr id="14" name="TextBox 13"/>
          <p:cNvSpPr txBox="1"/>
          <p:nvPr/>
        </p:nvSpPr>
        <p:spPr>
          <a:xfrm>
            <a:off x="8503920" y="2084831"/>
            <a:ext cx="3008376" cy="438912"/>
          </a:xfrm>
          <a:prstGeom prst="rect">
            <a:avLst/>
          </a:prstGeom>
          <a:noFill/>
        </p:spPr>
        <p:txBody>
          <a:bodyPr wrap="square" lIns="0" rIns="0" tIns="0" bIns="0" anchor="t">
            <a:spAutoFit/>
          </a:bodyPr>
          <a:lstStyle/>
          <a:p>
            <a:pPr algn="l">
              <a:lnSpc>
                <a:spcPct val="108000"/>
              </a:lnSpc>
              <a:spcBef>
                <a:spcPts val="0"/>
              </a:spcBef>
              <a:spcAft>
                <a:spcPts val="0"/>
              </a:spcAft>
              <a:defRPr sz="2300" b="1">
                <a:solidFill>
                  <a:srgbClr val="22312F"/>
                </a:solidFill>
                <a:latin typeface="Arial"/>
              </a:defRPr>
            </a:pPr>
            <a:r>
              <a:t>Entry plaza</a:t>
            </a:r>
          </a:p>
        </p:txBody>
      </p:sp>
      <p:sp>
        <p:nvSpPr>
          <p:cNvPr id="15" name="TextBox 14"/>
          <p:cNvSpPr txBox="1"/>
          <p:nvPr/>
        </p:nvSpPr>
        <p:spPr>
          <a:xfrm>
            <a:off x="8503920" y="2596896"/>
            <a:ext cx="2962656" cy="530352"/>
          </a:xfrm>
          <a:prstGeom prst="rect">
            <a:avLst/>
          </a:prstGeom>
          <a:noFill/>
        </p:spPr>
        <p:txBody>
          <a:bodyPr wrap="square" lIns="0" rIns="0" tIns="0" bIns="0" anchor="t">
            <a:spAutoFit/>
          </a:bodyPr>
          <a:lstStyle/>
          <a:p>
            <a:pPr algn="l">
              <a:lnSpc>
                <a:spcPct val="108000"/>
              </a:lnSpc>
              <a:spcBef>
                <a:spcPts val="0"/>
              </a:spcBef>
              <a:spcAft>
                <a:spcPts val="0"/>
              </a:spcAft>
              <a:defRPr sz="1900" b="0">
                <a:solidFill>
                  <a:srgbClr val="5E6C68"/>
                </a:solidFill>
                <a:latin typeface="Arial"/>
              </a:defRPr>
            </a:pPr>
            <a:r>
              <a:t>Events + café</a:t>
            </a:r>
          </a:p>
        </p:txBody>
      </p:sp>
      <p:sp>
        <p:nvSpPr>
          <p:cNvPr id="16" name="Oval 15"/>
          <p:cNvSpPr/>
          <p:nvPr/>
        </p:nvSpPr>
        <p:spPr>
          <a:xfrm>
            <a:off x="8046720" y="3246120"/>
            <a:ext cx="310896" cy="310896"/>
          </a:xfrm>
          <a:prstGeom prst="ellipse">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1200">
                <a:solidFill>
                  <a:srgbClr val="FFFFFF"/>
                </a:solidFill>
                <a:latin typeface="Arial"/>
              </a:defRPr>
            </a:pPr>
            <a:r>
              <a:t>2</a:t>
            </a:r>
          </a:p>
        </p:txBody>
      </p:sp>
      <p:sp>
        <p:nvSpPr>
          <p:cNvPr id="17" name="TextBox 16"/>
          <p:cNvSpPr txBox="1"/>
          <p:nvPr/>
        </p:nvSpPr>
        <p:spPr>
          <a:xfrm>
            <a:off x="8503920" y="3209544"/>
            <a:ext cx="3008376" cy="438912"/>
          </a:xfrm>
          <a:prstGeom prst="rect">
            <a:avLst/>
          </a:prstGeom>
          <a:noFill/>
        </p:spPr>
        <p:txBody>
          <a:bodyPr wrap="square" lIns="0" rIns="0" tIns="0" bIns="0" anchor="t">
            <a:spAutoFit/>
          </a:bodyPr>
          <a:lstStyle/>
          <a:p>
            <a:pPr algn="l">
              <a:lnSpc>
                <a:spcPct val="108000"/>
              </a:lnSpc>
              <a:spcBef>
                <a:spcPts val="0"/>
              </a:spcBef>
              <a:spcAft>
                <a:spcPts val="0"/>
              </a:spcAft>
              <a:defRPr sz="2300" b="1">
                <a:solidFill>
                  <a:srgbClr val="22312F"/>
                </a:solidFill>
                <a:latin typeface="Arial"/>
              </a:defRPr>
            </a:pPr>
            <a:r>
              <a:t>Pedestrian edge</a:t>
            </a:r>
          </a:p>
        </p:txBody>
      </p:sp>
      <p:sp>
        <p:nvSpPr>
          <p:cNvPr id="18" name="TextBox 17"/>
          <p:cNvSpPr txBox="1"/>
          <p:nvPr/>
        </p:nvSpPr>
        <p:spPr>
          <a:xfrm>
            <a:off x="8503920" y="3721608"/>
            <a:ext cx="2962656" cy="530352"/>
          </a:xfrm>
          <a:prstGeom prst="rect">
            <a:avLst/>
          </a:prstGeom>
          <a:noFill/>
        </p:spPr>
        <p:txBody>
          <a:bodyPr wrap="square" lIns="0" rIns="0" tIns="0" bIns="0" anchor="t">
            <a:spAutoFit/>
          </a:bodyPr>
          <a:lstStyle/>
          <a:p>
            <a:pPr algn="l">
              <a:lnSpc>
                <a:spcPct val="108000"/>
              </a:lnSpc>
              <a:spcBef>
                <a:spcPts val="0"/>
              </a:spcBef>
              <a:spcAft>
                <a:spcPts val="0"/>
              </a:spcAft>
              <a:defRPr sz="1900" b="0">
                <a:solidFill>
                  <a:srgbClr val="5E6C68"/>
                </a:solidFill>
                <a:latin typeface="Arial"/>
              </a:defRPr>
            </a:pPr>
            <a:r>
              <a:t>Movement + urban farm</a:t>
            </a:r>
          </a:p>
        </p:txBody>
      </p:sp>
      <p:sp>
        <p:nvSpPr>
          <p:cNvPr id="19" name="Oval 18"/>
          <p:cNvSpPr/>
          <p:nvPr/>
        </p:nvSpPr>
        <p:spPr>
          <a:xfrm>
            <a:off x="8046720" y="4370831"/>
            <a:ext cx="310896" cy="310896"/>
          </a:xfrm>
          <a:prstGeom prst="ellipse">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1200">
                <a:solidFill>
                  <a:srgbClr val="FFFFFF"/>
                </a:solidFill>
                <a:latin typeface="Arial"/>
              </a:defRPr>
            </a:pPr>
            <a:r>
              <a:t>3</a:t>
            </a:r>
          </a:p>
        </p:txBody>
      </p:sp>
      <p:sp>
        <p:nvSpPr>
          <p:cNvPr id="20" name="TextBox 19"/>
          <p:cNvSpPr txBox="1"/>
          <p:nvPr/>
        </p:nvSpPr>
        <p:spPr>
          <a:xfrm>
            <a:off x="8503920" y="4334256"/>
            <a:ext cx="3008376" cy="438912"/>
          </a:xfrm>
          <a:prstGeom prst="rect">
            <a:avLst/>
          </a:prstGeom>
          <a:noFill/>
        </p:spPr>
        <p:txBody>
          <a:bodyPr wrap="square" lIns="0" rIns="0" tIns="0" bIns="0" anchor="t">
            <a:spAutoFit/>
          </a:bodyPr>
          <a:lstStyle/>
          <a:p>
            <a:pPr algn="l">
              <a:lnSpc>
                <a:spcPct val="108000"/>
              </a:lnSpc>
              <a:spcBef>
                <a:spcPts val="0"/>
              </a:spcBef>
              <a:spcAft>
                <a:spcPts val="0"/>
              </a:spcAft>
              <a:defRPr sz="2300" b="1">
                <a:solidFill>
                  <a:srgbClr val="22312F"/>
                </a:solidFill>
                <a:latin typeface="Arial"/>
              </a:defRPr>
            </a:pPr>
            <a:r>
              <a:t>Loading areas</a:t>
            </a:r>
          </a:p>
        </p:txBody>
      </p:sp>
      <p:sp>
        <p:nvSpPr>
          <p:cNvPr id="21" name="TextBox 20"/>
          <p:cNvSpPr txBox="1"/>
          <p:nvPr/>
        </p:nvSpPr>
        <p:spPr>
          <a:xfrm>
            <a:off x="8503920" y="4846320"/>
            <a:ext cx="2962656" cy="530352"/>
          </a:xfrm>
          <a:prstGeom prst="rect">
            <a:avLst/>
          </a:prstGeom>
          <a:noFill/>
        </p:spPr>
        <p:txBody>
          <a:bodyPr wrap="square" lIns="0" rIns="0" tIns="0" bIns="0" anchor="t">
            <a:spAutoFit/>
          </a:bodyPr>
          <a:lstStyle/>
          <a:p>
            <a:pPr algn="l">
              <a:lnSpc>
                <a:spcPct val="108000"/>
              </a:lnSpc>
              <a:spcBef>
                <a:spcPts val="0"/>
              </a:spcBef>
              <a:spcAft>
                <a:spcPts val="0"/>
              </a:spcAft>
              <a:defRPr sz="1900" b="0">
                <a:solidFill>
                  <a:srgbClr val="5E6C68"/>
                </a:solidFill>
                <a:latin typeface="Arial"/>
              </a:defRPr>
            </a:pPr>
            <a:r>
              <a:t>Retain operational functions</a:t>
            </a:r>
          </a:p>
        </p:txBody>
      </p:sp>
      <p:sp>
        <p:nvSpPr>
          <p:cNvPr id="22" name="TextBox 21"/>
          <p:cNvSpPr txBox="1"/>
          <p:nvPr/>
        </p:nvSpPr>
        <p:spPr>
          <a:xfrm>
            <a:off x="8055864" y="5742432"/>
            <a:ext cx="3529584" cy="466344"/>
          </a:xfrm>
          <a:prstGeom prst="rect">
            <a:avLst/>
          </a:prstGeom>
          <a:noFill/>
        </p:spPr>
        <p:txBody>
          <a:bodyPr wrap="square" lIns="0" rIns="0" tIns="0" bIns="0" anchor="t">
            <a:spAutoFit/>
          </a:bodyPr>
          <a:lstStyle/>
          <a:p>
            <a:pPr algn="l">
              <a:lnSpc>
                <a:spcPct val="108000"/>
              </a:lnSpc>
              <a:spcBef>
                <a:spcPts val="0"/>
              </a:spcBef>
              <a:spcAft>
                <a:spcPts val="0"/>
              </a:spcAft>
              <a:defRPr sz="1400" b="0">
                <a:solidFill>
                  <a:srgbClr val="20685F"/>
                </a:solidFill>
                <a:latin typeface="Arial"/>
              </a:defRPr>
            </a:pPr>
            <a:r>
              <a:t>Operational compatibility and safe circulation need testing.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Rectangle 1"/>
          <p:cNvSpPr/>
          <p:nvPr/>
        </p:nvSpPr>
        <p:spPr>
          <a:xfrm>
            <a:off x="548640" y="448056"/>
            <a:ext cx="329184" cy="41148"/>
          </a:xfrm>
          <a:prstGeom prst="rect">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978408" y="365760"/>
            <a:ext cx="10561320" cy="256032"/>
          </a:xfrm>
          <a:prstGeom prst="rect">
            <a:avLst/>
          </a:prstGeom>
          <a:noFill/>
        </p:spPr>
        <p:txBody>
          <a:bodyPr wrap="square" lIns="0" rIns="0" tIns="0" bIns="0" anchor="t">
            <a:spAutoFit/>
          </a:bodyPr>
          <a:lstStyle/>
          <a:p>
            <a:pPr algn="l">
              <a:lnSpc>
                <a:spcPct val="108000"/>
              </a:lnSpc>
              <a:spcBef>
                <a:spcPts val="0"/>
              </a:spcBef>
              <a:spcAft>
                <a:spcPts val="0"/>
              </a:spcAft>
              <a:defRPr sz="1150" b="1">
                <a:solidFill>
                  <a:srgbClr val="20685F"/>
                </a:solidFill>
                <a:latin typeface="Arial"/>
              </a:defRPr>
            </a:pPr>
            <a:r>
              <a:t>FOOD. CO. · DESIGN PROPOSAL</a:t>
            </a:r>
          </a:p>
        </p:txBody>
      </p:sp>
      <p:sp>
        <p:nvSpPr>
          <p:cNvPr id="4" name="TextBox 3"/>
          <p:cNvSpPr txBox="1"/>
          <p:nvPr/>
        </p:nvSpPr>
        <p:spPr>
          <a:xfrm>
            <a:off x="548640" y="832104"/>
            <a:ext cx="11045952" cy="694944"/>
          </a:xfrm>
          <a:prstGeom prst="rect">
            <a:avLst/>
          </a:prstGeom>
          <a:noFill/>
        </p:spPr>
        <p:txBody>
          <a:bodyPr wrap="square" lIns="0" rIns="0" tIns="0" bIns="0" anchor="t">
            <a:spAutoFit/>
          </a:bodyPr>
          <a:lstStyle/>
          <a:p>
            <a:pPr algn="l">
              <a:lnSpc>
                <a:spcPct val="108000"/>
              </a:lnSpc>
              <a:spcBef>
                <a:spcPts val="0"/>
              </a:spcBef>
              <a:spcAft>
                <a:spcPts val="0"/>
              </a:spcAft>
              <a:defRPr sz="2900" b="1">
                <a:solidFill>
                  <a:srgbClr val="22312F"/>
                </a:solidFill>
                <a:latin typeface="Arial"/>
              </a:defRPr>
            </a:pPr>
            <a:r>
              <a:t>Bring mobility and food-waste collection together</a:t>
            </a:r>
          </a:p>
        </p:txBody>
      </p:sp>
      <p:sp>
        <p:nvSpPr>
          <p:cNvPr id="5" name="TextBox 4"/>
          <p:cNvSpPr txBox="1"/>
          <p:nvPr/>
        </p:nvSpPr>
        <p:spPr>
          <a:xfrm>
            <a:off x="548640" y="1536192"/>
            <a:ext cx="11045952" cy="502920"/>
          </a:xfrm>
          <a:prstGeom prst="rect">
            <a:avLst/>
          </a:prstGeom>
          <a:noFill/>
        </p:spPr>
        <p:txBody>
          <a:bodyPr wrap="square" lIns="0" rIns="0" tIns="0" bIns="0" anchor="t">
            <a:spAutoFit/>
          </a:bodyPr>
          <a:lstStyle/>
          <a:p>
            <a:pPr algn="l">
              <a:lnSpc>
                <a:spcPct val="108000"/>
              </a:lnSpc>
              <a:spcBef>
                <a:spcPts val="0"/>
              </a:spcBef>
              <a:spcAft>
                <a:spcPts val="0"/>
              </a:spcAft>
              <a:defRPr sz="1900" b="0">
                <a:solidFill>
                  <a:srgbClr val="5E6C68"/>
                </a:solidFill>
                <a:latin typeface="Arial"/>
              </a:defRPr>
            </a:pPr>
            <a:r>
              <a:t>Coordinate movement, collection and places to wait</a:t>
            </a:r>
          </a:p>
        </p:txBody>
      </p:sp>
      <p:cxnSp>
        <p:nvCxnSpPr>
          <p:cNvPr id="6" name="Connector 5"/>
          <p:cNvCxnSpPr/>
          <p:nvPr/>
        </p:nvCxnSpPr>
        <p:spPr>
          <a:xfrm>
            <a:off x="548640" y="6391656"/>
            <a:ext cx="11091672"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487668"/>
            <a:ext cx="10607040" cy="228600"/>
          </a:xfrm>
          <a:prstGeom prst="rect">
            <a:avLst/>
          </a:prstGeom>
          <a:noFill/>
        </p:spPr>
        <p:txBody>
          <a:bodyPr wrap="square" lIns="0" rIns="0" tIns="0" bIns="0" anchor="t">
            <a:spAutoFit/>
          </a:bodyPr>
          <a:lstStyle/>
          <a:p>
            <a:pPr algn="l">
              <a:lnSpc>
                <a:spcPct val="108000"/>
              </a:lnSpc>
              <a:spcBef>
                <a:spcPts val="0"/>
              </a:spcBef>
              <a:spcAft>
                <a:spcPts val="0"/>
              </a:spcAft>
              <a:defRPr sz="1100" b="0">
                <a:solidFill>
                  <a:srgbClr val="5E6C68"/>
                </a:solidFill>
                <a:latin typeface="Arial"/>
              </a:defRPr>
            </a:pPr>
            <a:r>
              <a:t>Proposed mobility and collection system: studio PDF p. 12 · No route, fuel or emissions performance is established</a:t>
            </a:r>
          </a:p>
        </p:txBody>
      </p:sp>
      <p:sp>
        <p:nvSpPr>
          <p:cNvPr id="8" name="TextBox 7"/>
          <p:cNvSpPr txBox="1"/>
          <p:nvPr/>
        </p:nvSpPr>
        <p:spPr>
          <a:xfrm>
            <a:off x="11192256" y="6473952"/>
            <a:ext cx="420624" cy="246888"/>
          </a:xfrm>
          <a:prstGeom prst="rect">
            <a:avLst/>
          </a:prstGeom>
          <a:noFill/>
        </p:spPr>
        <p:txBody>
          <a:bodyPr wrap="square" lIns="0" rIns="0" tIns="0" bIns="0" anchor="t">
            <a:spAutoFit/>
          </a:bodyPr>
          <a:lstStyle/>
          <a:p>
            <a:pPr algn="r">
              <a:lnSpc>
                <a:spcPct val="108000"/>
              </a:lnSpc>
              <a:spcBef>
                <a:spcPts val="0"/>
              </a:spcBef>
              <a:spcAft>
                <a:spcPts val="0"/>
              </a:spcAft>
              <a:defRPr sz="1200" b="1">
                <a:solidFill>
                  <a:srgbClr val="20685F"/>
                </a:solidFill>
                <a:latin typeface="Arial"/>
              </a:defRPr>
            </a:pPr>
            <a:r>
              <a:t>10</a:t>
            </a:r>
          </a:p>
        </p:txBody>
      </p:sp>
      <p:sp>
        <p:nvSpPr>
          <p:cNvPr id="9" name="Rectangle 8"/>
          <p:cNvSpPr/>
          <p:nvPr/>
        </p:nvSpPr>
        <p:spPr>
          <a:xfrm>
            <a:off x="566928" y="2212848"/>
            <a:ext cx="11036808" cy="26060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Studio rendering of food collection containers, a proposed bio-bus and container bus stops; proposed future scenario."/>
          <p:cNvPicPr>
            <a:picLocks noChangeAspect="1"/>
          </p:cNvPicPr>
          <p:nvPr/>
        </p:nvPicPr>
        <p:blipFill>
          <a:blip r:embed="rId3"/>
          <a:stretch>
            <a:fillRect/>
          </a:stretch>
        </p:blipFill>
        <p:spPr>
          <a:xfrm>
            <a:off x="576072" y="2352889"/>
            <a:ext cx="11018520" cy="2325957"/>
          </a:xfrm>
          <a:prstGeom prst="rect">
            <a:avLst/>
          </a:prstGeom>
        </p:spPr>
      </p:pic>
      <p:sp>
        <p:nvSpPr>
          <p:cNvPr id="11" name="TextBox 10"/>
          <p:cNvSpPr txBox="1"/>
          <p:nvPr/>
        </p:nvSpPr>
        <p:spPr>
          <a:xfrm>
            <a:off x="585216" y="5166360"/>
            <a:ext cx="3483864" cy="438912"/>
          </a:xfrm>
          <a:prstGeom prst="rect">
            <a:avLst/>
          </a:prstGeom>
          <a:noFill/>
        </p:spPr>
        <p:txBody>
          <a:bodyPr wrap="square" lIns="0" rIns="0" tIns="0" bIns="0" anchor="t">
            <a:spAutoFit/>
          </a:bodyPr>
          <a:lstStyle/>
          <a:p>
            <a:pPr algn="l">
              <a:lnSpc>
                <a:spcPct val="108000"/>
              </a:lnSpc>
              <a:spcBef>
                <a:spcPts val="0"/>
              </a:spcBef>
              <a:spcAft>
                <a:spcPts val="0"/>
              </a:spcAft>
              <a:defRPr sz="2500" b="1">
                <a:solidFill>
                  <a:srgbClr val="20685F"/>
                </a:solidFill>
                <a:latin typeface="Arial"/>
              </a:defRPr>
            </a:pPr>
            <a:r>
              <a:t>Collection</a:t>
            </a:r>
          </a:p>
        </p:txBody>
      </p:sp>
      <p:sp>
        <p:nvSpPr>
          <p:cNvPr id="12" name="TextBox 11"/>
          <p:cNvSpPr txBox="1"/>
          <p:nvPr/>
        </p:nvSpPr>
        <p:spPr>
          <a:xfrm>
            <a:off x="585216" y="5715000"/>
            <a:ext cx="3511296" cy="384048"/>
          </a:xfrm>
          <a:prstGeom prst="rect">
            <a:avLst/>
          </a:prstGeom>
          <a:noFill/>
        </p:spPr>
        <p:txBody>
          <a:bodyPr wrap="square" lIns="0" rIns="0" tIns="0" bIns="0" anchor="t">
            <a:spAutoFit/>
          </a:bodyPr>
          <a:lstStyle/>
          <a:p>
            <a:pPr algn="l">
              <a:lnSpc>
                <a:spcPct val="108000"/>
              </a:lnSpc>
              <a:spcBef>
                <a:spcPts val="0"/>
              </a:spcBef>
              <a:spcAft>
                <a:spcPts val="0"/>
              </a:spcAft>
              <a:defRPr sz="1700" b="0">
                <a:solidFill>
                  <a:srgbClr val="5E6C68"/>
                </a:solidFill>
                <a:latin typeface="Arial"/>
              </a:defRPr>
            </a:pPr>
            <a:r>
              <a:t>Food-waste collection points</a:t>
            </a:r>
          </a:p>
        </p:txBody>
      </p:sp>
      <p:sp>
        <p:nvSpPr>
          <p:cNvPr id="13" name="TextBox 12"/>
          <p:cNvSpPr txBox="1"/>
          <p:nvPr/>
        </p:nvSpPr>
        <p:spPr>
          <a:xfrm>
            <a:off x="4361688" y="5166360"/>
            <a:ext cx="3483864" cy="438912"/>
          </a:xfrm>
          <a:prstGeom prst="rect">
            <a:avLst/>
          </a:prstGeom>
          <a:noFill/>
        </p:spPr>
        <p:txBody>
          <a:bodyPr wrap="square" lIns="0" rIns="0" tIns="0" bIns="0" anchor="t">
            <a:spAutoFit/>
          </a:bodyPr>
          <a:lstStyle/>
          <a:p>
            <a:pPr algn="l">
              <a:lnSpc>
                <a:spcPct val="108000"/>
              </a:lnSpc>
              <a:spcBef>
                <a:spcPts val="0"/>
              </a:spcBef>
              <a:spcAft>
                <a:spcPts val="0"/>
              </a:spcAft>
              <a:defRPr sz="2500" b="1">
                <a:solidFill>
                  <a:srgbClr val="20685F"/>
                </a:solidFill>
                <a:latin typeface="Arial"/>
              </a:defRPr>
            </a:pPr>
            <a:r>
              <a:t>Transit</a:t>
            </a:r>
          </a:p>
        </p:txBody>
      </p:sp>
      <p:sp>
        <p:nvSpPr>
          <p:cNvPr id="14" name="TextBox 13"/>
          <p:cNvSpPr txBox="1"/>
          <p:nvPr/>
        </p:nvSpPr>
        <p:spPr>
          <a:xfrm>
            <a:off x="4361688" y="5715000"/>
            <a:ext cx="3511296" cy="384048"/>
          </a:xfrm>
          <a:prstGeom prst="rect">
            <a:avLst/>
          </a:prstGeom>
          <a:noFill/>
        </p:spPr>
        <p:txBody>
          <a:bodyPr wrap="square" lIns="0" rIns="0" tIns="0" bIns="0" anchor="t">
            <a:spAutoFit/>
          </a:bodyPr>
          <a:lstStyle/>
          <a:p>
            <a:pPr algn="l">
              <a:lnSpc>
                <a:spcPct val="108000"/>
              </a:lnSpc>
              <a:spcBef>
                <a:spcPts val="0"/>
              </a:spcBef>
              <a:spcAft>
                <a:spcPts val="0"/>
              </a:spcAft>
              <a:defRPr sz="1700" b="0">
                <a:solidFill>
                  <a:srgbClr val="5E6C68"/>
                </a:solidFill>
                <a:latin typeface="Arial"/>
              </a:defRPr>
            </a:pPr>
            <a:r>
              <a:t>Bio-bus concept + stops</a:t>
            </a:r>
          </a:p>
        </p:txBody>
      </p:sp>
      <p:sp>
        <p:nvSpPr>
          <p:cNvPr id="15" name="TextBox 14"/>
          <p:cNvSpPr txBox="1"/>
          <p:nvPr/>
        </p:nvSpPr>
        <p:spPr>
          <a:xfrm>
            <a:off x="8138160" y="5166360"/>
            <a:ext cx="3483864" cy="438912"/>
          </a:xfrm>
          <a:prstGeom prst="rect">
            <a:avLst/>
          </a:prstGeom>
          <a:noFill/>
        </p:spPr>
        <p:txBody>
          <a:bodyPr wrap="square" lIns="0" rIns="0" tIns="0" bIns="0" anchor="t">
            <a:spAutoFit/>
          </a:bodyPr>
          <a:lstStyle/>
          <a:p>
            <a:pPr algn="l">
              <a:lnSpc>
                <a:spcPct val="108000"/>
              </a:lnSpc>
              <a:spcBef>
                <a:spcPts val="0"/>
              </a:spcBef>
              <a:spcAft>
                <a:spcPts val="0"/>
              </a:spcAft>
              <a:defRPr sz="2500" b="1">
                <a:solidFill>
                  <a:srgbClr val="20685F"/>
                </a:solidFill>
                <a:latin typeface="Arial"/>
              </a:defRPr>
            </a:pPr>
            <a:r>
              <a:t>Cycling</a:t>
            </a:r>
          </a:p>
        </p:txBody>
      </p:sp>
      <p:sp>
        <p:nvSpPr>
          <p:cNvPr id="16" name="TextBox 15"/>
          <p:cNvSpPr txBox="1"/>
          <p:nvPr/>
        </p:nvSpPr>
        <p:spPr>
          <a:xfrm>
            <a:off x="8138160" y="5715000"/>
            <a:ext cx="3511296" cy="384048"/>
          </a:xfrm>
          <a:prstGeom prst="rect">
            <a:avLst/>
          </a:prstGeom>
          <a:noFill/>
        </p:spPr>
        <p:txBody>
          <a:bodyPr wrap="square" lIns="0" rIns="0" tIns="0" bIns="0" anchor="t">
            <a:spAutoFit/>
          </a:bodyPr>
          <a:lstStyle/>
          <a:p>
            <a:pPr algn="l">
              <a:lnSpc>
                <a:spcPct val="108000"/>
              </a:lnSpc>
              <a:spcBef>
                <a:spcPts val="0"/>
              </a:spcBef>
              <a:spcAft>
                <a:spcPts val="0"/>
              </a:spcAft>
              <a:defRPr sz="1700" b="0">
                <a:solidFill>
                  <a:srgbClr val="5E6C68"/>
                </a:solidFill>
                <a:latin typeface="Arial"/>
              </a:defRPr>
            </a:pPr>
            <a:r>
              <a:t>Bike racks + pavilions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Rectangle 1"/>
          <p:cNvSpPr/>
          <p:nvPr/>
        </p:nvSpPr>
        <p:spPr>
          <a:xfrm>
            <a:off x="548640" y="448056"/>
            <a:ext cx="329184" cy="41148"/>
          </a:xfrm>
          <a:prstGeom prst="rect">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978408" y="365760"/>
            <a:ext cx="10561320" cy="256032"/>
          </a:xfrm>
          <a:prstGeom prst="rect">
            <a:avLst/>
          </a:prstGeom>
          <a:noFill/>
        </p:spPr>
        <p:txBody>
          <a:bodyPr wrap="square" lIns="0" rIns="0" tIns="0" bIns="0" anchor="t">
            <a:spAutoFit/>
          </a:bodyPr>
          <a:lstStyle/>
          <a:p>
            <a:pPr algn="l">
              <a:lnSpc>
                <a:spcPct val="108000"/>
              </a:lnSpc>
              <a:spcBef>
                <a:spcPts val="0"/>
              </a:spcBef>
              <a:spcAft>
                <a:spcPts val="0"/>
              </a:spcAft>
              <a:defRPr sz="1150" b="1">
                <a:solidFill>
                  <a:srgbClr val="20685F"/>
                </a:solidFill>
                <a:latin typeface="Arial"/>
              </a:defRPr>
            </a:pPr>
            <a:r>
              <a:t>CONCLUSIONS · PLANNING IMPLICATIONS</a:t>
            </a:r>
          </a:p>
        </p:txBody>
      </p:sp>
      <p:sp>
        <p:nvSpPr>
          <p:cNvPr id="4" name="TextBox 3"/>
          <p:cNvSpPr txBox="1"/>
          <p:nvPr/>
        </p:nvSpPr>
        <p:spPr>
          <a:xfrm>
            <a:off x="548640" y="832104"/>
            <a:ext cx="11045952" cy="694944"/>
          </a:xfrm>
          <a:prstGeom prst="rect">
            <a:avLst/>
          </a:prstGeom>
          <a:noFill/>
        </p:spPr>
        <p:txBody>
          <a:bodyPr wrap="square" lIns="0" rIns="0" tIns="0" bIns="0" anchor="t">
            <a:spAutoFit/>
          </a:bodyPr>
          <a:lstStyle/>
          <a:p>
            <a:pPr algn="l">
              <a:lnSpc>
                <a:spcPct val="108000"/>
              </a:lnSpc>
              <a:spcBef>
                <a:spcPts val="0"/>
              </a:spcBef>
              <a:spcAft>
                <a:spcPts val="0"/>
              </a:spcAft>
              <a:defRPr sz="3100" b="1">
                <a:solidFill>
                  <a:srgbClr val="22312F"/>
                </a:solidFill>
                <a:latin typeface="Arial"/>
              </a:defRPr>
            </a:pPr>
            <a:r>
              <a:t>Plan for access, then test the proposal</a:t>
            </a:r>
          </a:p>
        </p:txBody>
      </p:sp>
      <p:cxnSp>
        <p:nvCxnSpPr>
          <p:cNvPr id="5" name="Connector 4"/>
          <p:cNvCxnSpPr/>
          <p:nvPr/>
        </p:nvCxnSpPr>
        <p:spPr>
          <a:xfrm>
            <a:off x="548640" y="6391656"/>
            <a:ext cx="11091672"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87668"/>
            <a:ext cx="10607040" cy="228600"/>
          </a:xfrm>
          <a:prstGeom prst="rect">
            <a:avLst/>
          </a:prstGeom>
          <a:noFill/>
        </p:spPr>
        <p:txBody>
          <a:bodyPr wrap="square" lIns="0" rIns="0" tIns="0" bIns="0" anchor="t">
            <a:spAutoFit/>
          </a:bodyPr>
          <a:lstStyle/>
          <a:p>
            <a:pPr algn="l">
              <a:lnSpc>
                <a:spcPct val="108000"/>
              </a:lnSpc>
              <a:spcBef>
                <a:spcPts val="0"/>
              </a:spcBef>
              <a:spcAft>
                <a:spcPts val="0"/>
              </a:spcAft>
              <a:defRPr sz="1100" b="0">
                <a:solidFill>
                  <a:srgbClr val="5E6C68"/>
                </a:solidFill>
                <a:latin typeface="Arial"/>
              </a:defRPr>
            </a:pPr>
            <a:r>
              <a:t>Argument: supplied ACSP abstract · Design implications: studio PDF · Next steps are recommendations</a:t>
            </a:r>
          </a:p>
        </p:txBody>
      </p:sp>
      <p:sp>
        <p:nvSpPr>
          <p:cNvPr id="7" name="TextBox 6"/>
          <p:cNvSpPr txBox="1"/>
          <p:nvPr/>
        </p:nvSpPr>
        <p:spPr>
          <a:xfrm>
            <a:off x="11192256" y="6473952"/>
            <a:ext cx="420624" cy="246888"/>
          </a:xfrm>
          <a:prstGeom prst="rect">
            <a:avLst/>
          </a:prstGeom>
          <a:noFill/>
        </p:spPr>
        <p:txBody>
          <a:bodyPr wrap="square" lIns="0" rIns="0" tIns="0" bIns="0" anchor="t">
            <a:spAutoFit/>
          </a:bodyPr>
          <a:lstStyle/>
          <a:p>
            <a:pPr algn="r">
              <a:lnSpc>
                <a:spcPct val="108000"/>
              </a:lnSpc>
              <a:spcBef>
                <a:spcPts val="0"/>
              </a:spcBef>
              <a:spcAft>
                <a:spcPts val="0"/>
              </a:spcAft>
              <a:defRPr sz="1200" b="1">
                <a:solidFill>
                  <a:srgbClr val="20685F"/>
                </a:solidFill>
                <a:latin typeface="Arial"/>
              </a:defRPr>
            </a:pPr>
            <a:r>
              <a:t>11</a:t>
            </a:r>
          </a:p>
        </p:txBody>
      </p:sp>
      <p:sp>
        <p:nvSpPr>
          <p:cNvPr id="8" name="TextBox 7"/>
          <p:cNvSpPr txBox="1"/>
          <p:nvPr/>
        </p:nvSpPr>
        <p:spPr>
          <a:xfrm>
            <a:off x="585216" y="1847088"/>
            <a:ext cx="10936224" cy="950976"/>
          </a:xfrm>
          <a:prstGeom prst="rect">
            <a:avLst/>
          </a:prstGeom>
          <a:noFill/>
        </p:spPr>
        <p:txBody>
          <a:bodyPr wrap="square" lIns="0" rIns="0" tIns="0" bIns="0" anchor="t">
            <a:spAutoFit/>
          </a:bodyPr>
          <a:lstStyle/>
          <a:p>
            <a:pPr algn="l">
              <a:lnSpc>
                <a:spcPct val="108000"/>
              </a:lnSpc>
              <a:spcBef>
                <a:spcPts val="0"/>
              </a:spcBef>
              <a:spcAft>
                <a:spcPts val="0"/>
              </a:spcAft>
              <a:defRPr sz="3000" b="1">
                <a:solidFill>
                  <a:srgbClr val="20685F"/>
                </a:solidFill>
                <a:latin typeface="Arial"/>
              </a:defRPr>
            </a:pPr>
            <a:r>
              <a:t>Make everyday access an explicit concern</a:t>
            </a:r>
          </a:p>
          <a:p>
            <a:pPr algn="l">
              <a:lnSpc>
                <a:spcPct val="108000"/>
              </a:lnSpc>
              <a:spcBef>
                <a:spcPts val="0"/>
              </a:spcBef>
              <a:spcAft>
                <a:spcPts val="0"/>
              </a:spcAft>
              <a:defRPr sz="3000" b="1">
                <a:solidFill>
                  <a:srgbClr val="20685F"/>
                </a:solidFill>
                <a:latin typeface="Arial"/>
              </a:defRPr>
            </a:pPr>
            <a:r>
              <a:t>in industrial land-use decisions.</a:t>
            </a:r>
          </a:p>
        </p:txBody>
      </p:sp>
      <p:cxnSp>
        <p:nvCxnSpPr>
          <p:cNvPr id="9" name="Connector 8"/>
          <p:cNvCxnSpPr/>
          <p:nvPr/>
        </p:nvCxnSpPr>
        <p:spPr>
          <a:xfrm>
            <a:off x="585216" y="3054096"/>
            <a:ext cx="10991088"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3383280"/>
            <a:ext cx="4059936" cy="265176"/>
          </a:xfrm>
          <a:prstGeom prst="rect">
            <a:avLst/>
          </a:prstGeom>
          <a:noFill/>
        </p:spPr>
        <p:txBody>
          <a:bodyPr wrap="square" lIns="0" rIns="0" tIns="0" bIns="0" anchor="t">
            <a:spAutoFit/>
          </a:bodyPr>
          <a:lstStyle/>
          <a:p>
            <a:pPr algn="l">
              <a:lnSpc>
                <a:spcPct val="108000"/>
              </a:lnSpc>
              <a:spcBef>
                <a:spcPts val="0"/>
              </a:spcBef>
              <a:spcAft>
                <a:spcPts val="0"/>
              </a:spcAft>
              <a:defRPr sz="1300" b="1">
                <a:solidFill>
                  <a:srgbClr val="20685F"/>
                </a:solidFill>
                <a:latin typeface="Arial"/>
              </a:defRPr>
            </a:pPr>
            <a:r>
              <a:t>NEXT VALIDATION</a:t>
            </a:r>
          </a:p>
        </p:txBody>
      </p:sp>
      <p:sp>
        <p:nvSpPr>
          <p:cNvPr id="11" name="TextBox 10"/>
          <p:cNvSpPr txBox="1"/>
          <p:nvPr/>
        </p:nvSpPr>
        <p:spPr>
          <a:xfrm>
            <a:off x="585216" y="3785615"/>
            <a:ext cx="3794760" cy="448056"/>
          </a:xfrm>
          <a:prstGeom prst="rect">
            <a:avLst/>
          </a:prstGeom>
          <a:noFill/>
        </p:spPr>
        <p:txBody>
          <a:bodyPr wrap="square" lIns="0" rIns="0" tIns="0" bIns="0" anchor="t">
            <a:spAutoFit/>
          </a:bodyPr>
          <a:lstStyle/>
          <a:p>
            <a:pPr algn="l">
              <a:lnSpc>
                <a:spcPct val="108000"/>
              </a:lnSpc>
              <a:spcBef>
                <a:spcPts val="0"/>
              </a:spcBef>
              <a:spcAft>
                <a:spcPts val="0"/>
              </a:spcAft>
              <a:defRPr sz="2400" b="1">
                <a:solidFill>
                  <a:srgbClr val="22312F"/>
                </a:solidFill>
                <a:latin typeface="Arial"/>
              </a:defRPr>
            </a:pPr>
            <a:r>
              <a:t>Verify baselines</a:t>
            </a:r>
          </a:p>
        </p:txBody>
      </p:sp>
      <p:sp>
        <p:nvSpPr>
          <p:cNvPr id="12" name="TextBox 11"/>
          <p:cNvSpPr txBox="1"/>
          <p:nvPr/>
        </p:nvSpPr>
        <p:spPr>
          <a:xfrm>
            <a:off x="4654296" y="3831335"/>
            <a:ext cx="6839712" cy="457200"/>
          </a:xfrm>
          <a:prstGeom prst="rect">
            <a:avLst/>
          </a:prstGeom>
          <a:noFill/>
        </p:spPr>
        <p:txBody>
          <a:bodyPr wrap="square" lIns="0" rIns="0" tIns="0" bIns="0" anchor="t">
            <a:spAutoFit/>
          </a:bodyPr>
          <a:lstStyle/>
          <a:p>
            <a:pPr algn="l">
              <a:lnSpc>
                <a:spcPct val="108000"/>
              </a:lnSpc>
              <a:spcBef>
                <a:spcPts val="0"/>
              </a:spcBef>
              <a:spcAft>
                <a:spcPts val="0"/>
              </a:spcAft>
              <a:defRPr sz="1900" b="0">
                <a:solidFill>
                  <a:srgbClr val="5E6C68"/>
                </a:solidFill>
                <a:latin typeface="Arial"/>
              </a:defRPr>
            </a:pPr>
            <a:r>
              <a:t>Zoning, access measures and dataset vintages</a:t>
            </a:r>
          </a:p>
        </p:txBody>
      </p:sp>
      <p:sp>
        <p:nvSpPr>
          <p:cNvPr id="13" name="TextBox 12"/>
          <p:cNvSpPr txBox="1"/>
          <p:nvPr/>
        </p:nvSpPr>
        <p:spPr>
          <a:xfrm>
            <a:off x="585216" y="4553712"/>
            <a:ext cx="3794760" cy="448056"/>
          </a:xfrm>
          <a:prstGeom prst="rect">
            <a:avLst/>
          </a:prstGeom>
          <a:noFill/>
        </p:spPr>
        <p:txBody>
          <a:bodyPr wrap="square" lIns="0" rIns="0" tIns="0" bIns="0" anchor="t">
            <a:spAutoFit/>
          </a:bodyPr>
          <a:lstStyle/>
          <a:p>
            <a:pPr algn="l">
              <a:lnSpc>
                <a:spcPct val="108000"/>
              </a:lnSpc>
              <a:spcBef>
                <a:spcPts val="0"/>
              </a:spcBef>
              <a:spcAft>
                <a:spcPts val="0"/>
              </a:spcAft>
              <a:defRPr sz="2400" b="1">
                <a:solidFill>
                  <a:srgbClr val="22312F"/>
                </a:solidFill>
                <a:latin typeface="Arial"/>
              </a:defRPr>
            </a:pPr>
            <a:r>
              <a:t>Develop together</a:t>
            </a:r>
          </a:p>
        </p:txBody>
      </p:sp>
      <p:sp>
        <p:nvSpPr>
          <p:cNvPr id="14" name="TextBox 13"/>
          <p:cNvSpPr txBox="1"/>
          <p:nvPr/>
        </p:nvSpPr>
        <p:spPr>
          <a:xfrm>
            <a:off x="4654296" y="4599431"/>
            <a:ext cx="6839712" cy="457200"/>
          </a:xfrm>
          <a:prstGeom prst="rect">
            <a:avLst/>
          </a:prstGeom>
          <a:noFill/>
        </p:spPr>
        <p:txBody>
          <a:bodyPr wrap="square" lIns="0" rIns="0" tIns="0" bIns="0" anchor="t">
            <a:spAutoFit/>
          </a:bodyPr>
          <a:lstStyle/>
          <a:p>
            <a:pPr algn="l">
              <a:lnSpc>
                <a:spcPct val="108000"/>
              </a:lnSpc>
              <a:spcBef>
                <a:spcPts val="0"/>
              </a:spcBef>
              <a:spcAft>
                <a:spcPts val="0"/>
              </a:spcAft>
              <a:defRPr sz="1900" b="0">
                <a:solidFill>
                  <a:srgbClr val="5E6C68"/>
                </a:solidFill>
                <a:latin typeface="Arial"/>
              </a:defRPr>
            </a:pPr>
            <a:r>
              <a:t>Residents, site organizations and transport operators</a:t>
            </a:r>
          </a:p>
        </p:txBody>
      </p:sp>
      <p:sp>
        <p:nvSpPr>
          <p:cNvPr id="15" name="TextBox 14"/>
          <p:cNvSpPr txBox="1"/>
          <p:nvPr/>
        </p:nvSpPr>
        <p:spPr>
          <a:xfrm>
            <a:off x="585216" y="5321807"/>
            <a:ext cx="3794760" cy="448056"/>
          </a:xfrm>
          <a:prstGeom prst="rect">
            <a:avLst/>
          </a:prstGeom>
          <a:noFill/>
        </p:spPr>
        <p:txBody>
          <a:bodyPr wrap="square" lIns="0" rIns="0" tIns="0" bIns="0" anchor="t">
            <a:spAutoFit/>
          </a:bodyPr>
          <a:lstStyle/>
          <a:p>
            <a:pPr algn="l">
              <a:lnSpc>
                <a:spcPct val="108000"/>
              </a:lnSpc>
              <a:spcBef>
                <a:spcPts val="0"/>
              </a:spcBef>
              <a:spcAft>
                <a:spcPts val="0"/>
              </a:spcAft>
              <a:defRPr sz="2400" b="1">
                <a:solidFill>
                  <a:srgbClr val="22312F"/>
                </a:solidFill>
                <a:latin typeface="Arial"/>
              </a:defRPr>
            </a:pPr>
            <a:r>
              <a:t>Test operation</a:t>
            </a:r>
          </a:p>
        </p:txBody>
      </p:sp>
      <p:sp>
        <p:nvSpPr>
          <p:cNvPr id="16" name="TextBox 15"/>
          <p:cNvSpPr txBox="1"/>
          <p:nvPr/>
        </p:nvSpPr>
        <p:spPr>
          <a:xfrm>
            <a:off x="4654296" y="5367527"/>
            <a:ext cx="6839712" cy="457200"/>
          </a:xfrm>
          <a:prstGeom prst="rect">
            <a:avLst/>
          </a:prstGeom>
          <a:noFill/>
        </p:spPr>
        <p:txBody>
          <a:bodyPr wrap="square" lIns="0" rIns="0" tIns="0" bIns="0" anchor="t">
            <a:spAutoFit/>
          </a:bodyPr>
          <a:lstStyle/>
          <a:p>
            <a:pPr algn="l">
              <a:lnSpc>
                <a:spcPct val="108000"/>
              </a:lnSpc>
              <a:spcBef>
                <a:spcPts val="0"/>
              </a:spcBef>
              <a:spcAft>
                <a:spcPts val="0"/>
              </a:spcAft>
              <a:defRPr sz="1900" b="0">
                <a:solidFill>
                  <a:srgbClr val="5E6C68"/>
                </a:solidFill>
                <a:latin typeface="Arial"/>
              </a:defRPr>
            </a:pPr>
            <a:r>
              <a:t>Usefulness, safety, costs, maintenance and governance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9"/>
        </a:solidFill>
        <a:effectLst/>
      </p:bgPr>
    </p:bg>
    <p:spTree>
      <p:nvGrpSpPr>
        <p:cNvPr id="1" name=""/>
        <p:cNvGrpSpPr/>
        <p:nvPr/>
      </p:nvGrpSpPr>
      <p:grpSpPr/>
      <p:sp>
        <p:nvSpPr>
          <p:cNvPr id="2" name="Rectangle 1"/>
          <p:cNvSpPr/>
          <p:nvPr/>
        </p:nvSpPr>
        <p:spPr>
          <a:xfrm>
            <a:off x="548640" y="448056"/>
            <a:ext cx="329184" cy="41148"/>
          </a:xfrm>
          <a:prstGeom prst="rect">
            <a:avLst/>
          </a:prstGeom>
          <a:solidFill>
            <a:srgbClr val="2068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978408" y="365760"/>
            <a:ext cx="10561320" cy="256032"/>
          </a:xfrm>
          <a:prstGeom prst="rect">
            <a:avLst/>
          </a:prstGeom>
          <a:noFill/>
        </p:spPr>
        <p:txBody>
          <a:bodyPr wrap="square" lIns="0" rIns="0" tIns="0" bIns="0" anchor="t">
            <a:spAutoFit/>
          </a:bodyPr>
          <a:lstStyle/>
          <a:p>
            <a:pPr algn="l">
              <a:lnSpc>
                <a:spcPct val="108000"/>
              </a:lnSpc>
              <a:spcBef>
                <a:spcPts val="0"/>
              </a:spcBef>
              <a:spcAft>
                <a:spcPts val="0"/>
              </a:spcAft>
              <a:defRPr sz="1150" b="1">
                <a:solidFill>
                  <a:srgbClr val="20685F"/>
                </a:solidFill>
                <a:latin typeface="Arial"/>
              </a:defRPr>
            </a:pPr>
            <a:r>
              <a:t>SOURCES · EVIDENCE PROVENANCE</a:t>
            </a:r>
          </a:p>
        </p:txBody>
      </p:sp>
      <p:sp>
        <p:nvSpPr>
          <p:cNvPr id="4" name="TextBox 3"/>
          <p:cNvSpPr txBox="1"/>
          <p:nvPr/>
        </p:nvSpPr>
        <p:spPr>
          <a:xfrm>
            <a:off x="548640" y="832104"/>
            <a:ext cx="11045952" cy="694944"/>
          </a:xfrm>
          <a:prstGeom prst="rect">
            <a:avLst/>
          </a:prstGeom>
          <a:noFill/>
        </p:spPr>
        <p:txBody>
          <a:bodyPr wrap="square" lIns="0" rIns="0" tIns="0" bIns="0" anchor="t">
            <a:spAutoFit/>
          </a:bodyPr>
          <a:lstStyle/>
          <a:p>
            <a:pPr algn="l">
              <a:lnSpc>
                <a:spcPct val="108000"/>
              </a:lnSpc>
              <a:spcBef>
                <a:spcPts val="0"/>
              </a:spcBef>
              <a:spcAft>
                <a:spcPts val="0"/>
              </a:spcAft>
              <a:defRPr sz="3100" b="1">
                <a:solidFill>
                  <a:srgbClr val="22312F"/>
                </a:solidFill>
                <a:latin typeface="Arial"/>
              </a:defRPr>
            </a:pPr>
            <a:r>
              <a:t>References</a:t>
            </a:r>
          </a:p>
        </p:txBody>
      </p:sp>
      <p:cxnSp>
        <p:nvCxnSpPr>
          <p:cNvPr id="5" name="Connector 4"/>
          <p:cNvCxnSpPr/>
          <p:nvPr/>
        </p:nvCxnSpPr>
        <p:spPr>
          <a:xfrm>
            <a:off x="548640" y="6391656"/>
            <a:ext cx="11091672"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87668"/>
            <a:ext cx="10607040" cy="228600"/>
          </a:xfrm>
          <a:prstGeom prst="rect">
            <a:avLst/>
          </a:prstGeom>
          <a:noFill/>
        </p:spPr>
        <p:txBody>
          <a:bodyPr wrap="square" lIns="0" rIns="0" tIns="0" bIns="0" anchor="t">
            <a:spAutoFit/>
          </a:bodyPr>
          <a:lstStyle/>
          <a:p>
            <a:pPr algn="l">
              <a:lnSpc>
                <a:spcPct val="108000"/>
              </a:lnSpc>
              <a:spcBef>
                <a:spcPts val="0"/>
              </a:spcBef>
              <a:spcAft>
                <a:spcPts val="0"/>
              </a:spcAft>
              <a:defRPr sz="1100" b="0">
                <a:solidFill>
                  <a:srgbClr val="5E6C68"/>
                </a:solidFill>
                <a:latin typeface="Arial"/>
              </a:defRPr>
            </a:pPr>
            <a:r>
              <a:t>Primary documents supplied by the presenter · No supplementary external data added</a:t>
            </a:r>
          </a:p>
        </p:txBody>
      </p:sp>
      <p:sp>
        <p:nvSpPr>
          <p:cNvPr id="7" name="TextBox 6"/>
          <p:cNvSpPr txBox="1"/>
          <p:nvPr/>
        </p:nvSpPr>
        <p:spPr>
          <a:xfrm>
            <a:off x="11192256" y="6473952"/>
            <a:ext cx="420624" cy="246888"/>
          </a:xfrm>
          <a:prstGeom prst="rect">
            <a:avLst/>
          </a:prstGeom>
          <a:noFill/>
        </p:spPr>
        <p:txBody>
          <a:bodyPr wrap="square" lIns="0" rIns="0" tIns="0" bIns="0" anchor="t">
            <a:spAutoFit/>
          </a:bodyPr>
          <a:lstStyle/>
          <a:p>
            <a:pPr algn="r">
              <a:lnSpc>
                <a:spcPct val="108000"/>
              </a:lnSpc>
              <a:spcBef>
                <a:spcPts val="0"/>
              </a:spcBef>
              <a:spcAft>
                <a:spcPts val="0"/>
              </a:spcAft>
              <a:defRPr sz="1200" b="1">
                <a:solidFill>
                  <a:srgbClr val="20685F"/>
                </a:solidFill>
                <a:latin typeface="Arial"/>
              </a:defRPr>
            </a:pPr>
            <a:r>
              <a:t>12</a:t>
            </a:r>
          </a:p>
        </p:txBody>
      </p:sp>
      <p:sp>
        <p:nvSpPr>
          <p:cNvPr id="8" name="TextBox 7"/>
          <p:cNvSpPr txBox="1"/>
          <p:nvPr/>
        </p:nvSpPr>
        <p:spPr>
          <a:xfrm>
            <a:off x="585216" y="1819656"/>
            <a:ext cx="10899648" cy="274320"/>
          </a:xfrm>
          <a:prstGeom prst="rect">
            <a:avLst/>
          </a:prstGeom>
          <a:noFill/>
        </p:spPr>
        <p:txBody>
          <a:bodyPr wrap="square" lIns="0" rIns="0" tIns="0" bIns="0" anchor="t">
            <a:spAutoFit/>
          </a:bodyPr>
          <a:lstStyle/>
          <a:p>
            <a:pPr algn="l">
              <a:lnSpc>
                <a:spcPct val="108000"/>
              </a:lnSpc>
              <a:spcBef>
                <a:spcPts val="0"/>
              </a:spcBef>
              <a:spcAft>
                <a:spcPts val="0"/>
              </a:spcAft>
              <a:defRPr sz="1300" b="1">
                <a:solidFill>
                  <a:srgbClr val="20685F"/>
                </a:solidFill>
                <a:latin typeface="Arial"/>
              </a:defRPr>
            </a:pPr>
            <a:r>
              <a:t>RESEARCH ABSTRACT</a:t>
            </a:r>
          </a:p>
        </p:txBody>
      </p:sp>
      <p:sp>
        <p:nvSpPr>
          <p:cNvPr id="9" name="TextBox 8"/>
          <p:cNvSpPr txBox="1"/>
          <p:nvPr/>
        </p:nvSpPr>
        <p:spPr>
          <a:xfrm>
            <a:off x="585216" y="2203704"/>
            <a:ext cx="10954512" cy="804672"/>
          </a:xfrm>
          <a:prstGeom prst="rect">
            <a:avLst/>
          </a:prstGeom>
          <a:noFill/>
        </p:spPr>
        <p:txBody>
          <a:bodyPr wrap="square" lIns="0" rIns="0" tIns="0" bIns="0" anchor="t">
            <a:spAutoFit/>
          </a:bodyPr>
          <a:lstStyle/>
          <a:p>
            <a:pPr algn="l">
              <a:lnSpc>
                <a:spcPct val="108000"/>
              </a:lnSpc>
              <a:spcBef>
                <a:spcPts val="0"/>
              </a:spcBef>
              <a:spcAft>
                <a:spcPts val="0"/>
              </a:spcAft>
              <a:defRPr sz="2100" b="0">
                <a:solidFill>
                  <a:srgbClr val="22312F"/>
                </a:solidFill>
                <a:latin typeface="Arial"/>
              </a:defRPr>
            </a:pPr>
            <a:r>
              <a:t>Author and date not stated. Unequal Access by Design: Industrial Zoning and Spatial Justice in Seattle’s Lower Duwamish Corridor.</a:t>
            </a:r>
          </a:p>
        </p:txBody>
      </p:sp>
      <p:sp>
        <p:nvSpPr>
          <p:cNvPr id="10" name="TextBox 9"/>
          <p:cNvSpPr txBox="1"/>
          <p:nvPr/>
        </p:nvSpPr>
        <p:spPr>
          <a:xfrm>
            <a:off x="585216" y="3017520"/>
            <a:ext cx="10954512" cy="301752"/>
          </a:xfrm>
          <a:prstGeom prst="rect">
            <a:avLst/>
          </a:prstGeom>
          <a:noFill/>
        </p:spPr>
        <p:txBody>
          <a:bodyPr wrap="square" lIns="0" rIns="0" tIns="0" bIns="0" anchor="t">
            <a:spAutoFit/>
          </a:bodyPr>
          <a:lstStyle/>
          <a:p>
            <a:pPr algn="l">
              <a:lnSpc>
                <a:spcPct val="108000"/>
              </a:lnSpc>
              <a:spcBef>
                <a:spcPts val="0"/>
              </a:spcBef>
              <a:spcAft>
                <a:spcPts val="0"/>
              </a:spcAft>
              <a:defRPr sz="1600" b="0">
                <a:solidFill>
                  <a:srgbClr val="5E6C68"/>
                </a:solidFill>
                <a:latin typeface="Arial"/>
              </a:defRPr>
            </a:pPr>
            <a:r>
              <a:t>Presenter-supplied conference abstract · ACSP.pdf, p. 1</a:t>
            </a:r>
          </a:p>
        </p:txBody>
      </p:sp>
      <p:cxnSp>
        <p:nvCxnSpPr>
          <p:cNvPr id="11" name="Connector 10"/>
          <p:cNvCxnSpPr/>
          <p:nvPr/>
        </p:nvCxnSpPr>
        <p:spPr>
          <a:xfrm>
            <a:off x="585216" y="3575304"/>
            <a:ext cx="10981944" cy="0"/>
          </a:xfrm>
          <a:prstGeom prst="line">
            <a:avLst/>
          </a:prstGeom>
          <a:ln w="12700">
            <a:solidFill>
              <a:srgbClr val="D9E3DE"/>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585216" y="3840480"/>
            <a:ext cx="10954512" cy="274320"/>
          </a:xfrm>
          <a:prstGeom prst="rect">
            <a:avLst/>
          </a:prstGeom>
          <a:noFill/>
        </p:spPr>
        <p:txBody>
          <a:bodyPr wrap="square" lIns="0" rIns="0" tIns="0" bIns="0" anchor="t">
            <a:spAutoFit/>
          </a:bodyPr>
          <a:lstStyle/>
          <a:p>
            <a:pPr algn="l">
              <a:lnSpc>
                <a:spcPct val="108000"/>
              </a:lnSpc>
              <a:spcBef>
                <a:spcPts val="0"/>
              </a:spcBef>
              <a:spcAft>
                <a:spcPts val="0"/>
              </a:spcAft>
              <a:defRPr sz="1300" b="1">
                <a:solidFill>
                  <a:srgbClr val="20685F"/>
                </a:solidFill>
                <a:latin typeface="Arial"/>
              </a:defRPr>
            </a:pPr>
            <a:r>
              <a:t>STUDIO PROJECT + VISUALS</a:t>
            </a:r>
          </a:p>
        </p:txBody>
      </p:sp>
      <p:sp>
        <p:nvSpPr>
          <p:cNvPr id="13" name="TextBox 12"/>
          <p:cNvSpPr txBox="1"/>
          <p:nvPr/>
        </p:nvSpPr>
        <p:spPr>
          <a:xfrm>
            <a:off x="585216" y="4242816"/>
            <a:ext cx="10954512" cy="804672"/>
          </a:xfrm>
          <a:prstGeom prst="rect">
            <a:avLst/>
          </a:prstGeom>
          <a:noFill/>
        </p:spPr>
        <p:txBody>
          <a:bodyPr wrap="square" lIns="0" rIns="0" tIns="0" bIns="0" anchor="t">
            <a:spAutoFit/>
          </a:bodyPr>
          <a:lstStyle/>
          <a:p>
            <a:pPr algn="l">
              <a:lnSpc>
                <a:spcPct val="108000"/>
              </a:lnSpc>
              <a:spcBef>
                <a:spcPts val="0"/>
              </a:spcBef>
              <a:spcAft>
                <a:spcPts val="0"/>
              </a:spcAft>
              <a:defRPr sz="2100" b="0">
                <a:solidFill>
                  <a:srgbClr val="22312F"/>
                </a:solidFill>
                <a:latin typeface="Arial"/>
              </a:defRPr>
            </a:pPr>
            <a:r>
              <a:t>Li, Su; Zhang, Yijun; Zheng, Yanrong. n.d. FOOD. CO. LARCH 507 studio project, led by Catherine de Almeida.</a:t>
            </a:r>
          </a:p>
        </p:txBody>
      </p:sp>
      <p:sp>
        <p:nvSpPr>
          <p:cNvPr id="14" name="TextBox 13"/>
          <p:cNvSpPr txBox="1"/>
          <p:nvPr/>
        </p:nvSpPr>
        <p:spPr>
          <a:xfrm>
            <a:off x="585216" y="5056632"/>
            <a:ext cx="10954512" cy="301752"/>
          </a:xfrm>
          <a:prstGeom prst="rect">
            <a:avLst/>
          </a:prstGeom>
          <a:noFill/>
        </p:spPr>
        <p:txBody>
          <a:bodyPr wrap="square" lIns="0" rIns="0" tIns="0" bIns="0" anchor="t">
            <a:spAutoFit/>
          </a:bodyPr>
          <a:lstStyle/>
          <a:p>
            <a:pPr algn="l">
              <a:lnSpc>
                <a:spcPct val="108000"/>
              </a:lnSpc>
              <a:spcBef>
                <a:spcPts val="0"/>
              </a:spcBef>
              <a:spcAft>
                <a:spcPts val="0"/>
              </a:spcAft>
              <a:defRPr sz="1600" b="0">
                <a:solidFill>
                  <a:srgbClr val="5E6C68"/>
                </a:solidFill>
                <a:latin typeface="Arial"/>
              </a:defRPr>
            </a:pPr>
            <a:r>
              <a:t>Presenter-supplied portfolio · LARC507_SL_YZ_YZ.PDF.pdf, PDF pp. 1–12</a:t>
            </a:r>
          </a:p>
        </p:txBody>
      </p:sp>
      <p:sp>
        <p:nvSpPr>
          <p:cNvPr id="15" name="TextBox 14"/>
          <p:cNvSpPr txBox="1"/>
          <p:nvPr/>
        </p:nvSpPr>
        <p:spPr>
          <a:xfrm>
            <a:off x="585216" y="5650992"/>
            <a:ext cx="10954512" cy="393192"/>
          </a:xfrm>
          <a:prstGeom prst="rect">
            <a:avLst/>
          </a:prstGeom>
          <a:noFill/>
        </p:spPr>
        <p:txBody>
          <a:bodyPr wrap="square" lIns="0" rIns="0" tIns="0" bIns="0" anchor="t">
            <a:spAutoFit/>
          </a:bodyPr>
          <a:lstStyle/>
          <a:p>
            <a:pPr algn="l">
              <a:lnSpc>
                <a:spcPct val="108000"/>
              </a:lnSpc>
              <a:spcBef>
                <a:spcPts val="0"/>
              </a:spcBef>
              <a:spcAft>
                <a:spcPts val="0"/>
              </a:spcAft>
              <a:defRPr sz="1500" b="0">
                <a:solidFill>
                  <a:srgbClr val="5E6C68"/>
                </a:solidFill>
                <a:latin typeface="Arial"/>
              </a:defRPr>
            </a:pPr>
            <a:r>
              <a:t>Presenter clarification: Yijun Zhang, MKSK; approximate 2023–2025 period; team–community workshop.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Unequal Access by Design: Industrial Zoning and Spatial Justice in Seattle’s Lower Duwamish Corridor</dc:title>
  <dc:subject>ACSP conference presentation; abstract-reported research and FOOD. CO. studio design proposal</dc:subject>
  <dc:creator>Yijun Zhang, MKSK</dc:creator>
  <cp:keywords>ACSP, Duwamish, Georgetown, South Park, spatial justice, FOOD. CO.</cp:keywords>
  <dc:description>Built with python-pptx from two presenter-supplied PDFs. No supplementary external facts were added.</dc:description>
  <cp:lastModifiedBy>Steve Canny</cp:lastModifiedBy>
  <cp:revision>1</cp:revision>
  <dcterms:created xsi:type="dcterms:W3CDTF">2013-01-27T09:14:16Z</dcterms:created>
  <dcterms:modified xsi:type="dcterms:W3CDTF">2013-01-27T09:15:58Z</dcterms:modified>
  <cp:category/>
</cp:coreProperties>
</file>