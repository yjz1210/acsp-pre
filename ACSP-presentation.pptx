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Yijun Zhang from MKSK. This presentation examines how industrial land use shapes everyday access in Seattle’s Lower Duwamish corridor, focusing on Georgetown and South Park. The approximate study period is 2023 to 2025, based on presenter clarification. The central research question concerns how zoning and spatial organization relate to mobility, public space, environmental resources, and household circumstances. I will situate that question within planning debates, explain the study’s approach, and discuss its reported findings. Two studio illustrations will then make possible planning responses visible. The conclusion returns to the research: how can industrial planning make access an explicit consideration in its decisions and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normative planning lens helps define what counts as a good outcome. In The Just City, Susan Fainstein frames urban development through equity, material well-being, and diversity, as described by Cornell University Press. For this case, that lens directs attention to the distribution of usable urban and environmental resources across an industrial corridor. The question becomes whose everyday needs enter the assessment of land-use decisions. This is an interpretive framework introduced for the presentation; it is not a method documented in the supplied abstract. It positions the reported access constraints as a planning concern and provides a reason to connect spatial patterns with community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Integrated planning and accessibility research help specify the spatial relationships at stake. Waddell’s UrbanSim research connects land use, transportation, and public policy, as described in its original author documentation. Blanchard and Waddell’s UrbanAccess methodology represents walking and operational transit networks together for accessibility analysis. These approaches suggest examining destinations together with connections and service timing. The case-specific task here is to relate industrial designation to usable resources and community accounts of access. The supplied study does not report running either model. These scholarly approaches help interpret its question and identify measurements needed to move from a mapped pattern toward a traceable access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Official EPA context places the research in an industrial landscape with ongoing planning responsibilities. EPA describes the Lower Duwamish Superfund site as a five-mile waterway flanked by South Park, Georgetown, and industrial corridors. The site entered the National Priorities List in 2001, and EPA selected a cleanup plan in 2014. Duwamish River People’s Park opened in summer 2022; EPA describes habitat restoration and increased public river access there. These milestones establish context for considering environmental resources and public access together. They are external background, separate from the study’s zoning findings. The park opening does not establish corridor-wide equity improvements, and plan selection should not be described as cleanup completion.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connects spatial patterns with community perspectives. The abstract describes GIS analysis of zoning, access to public and environmental resources, and socioeconomic conditions, drawing on municipal data and the American Community Survey. Presenter clarification identifies a workshop between the project team and community as input. The approach brings mapped conditions into conversation with experiences of mobility, environmental exposure, public space, and planning participation. The approximate study period is 2023 to 2025; exact dataset vintages remain unspecified. The material does not document access measures or workshop participation details. I therefore discuss the research approach without adding precision or testimony that the sources do not provide.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abstract reports the share of land designated for maritime manufacturing and logistics. It reports approximately eighty seven percent in Georgetown and approximately sixty one percent in South Park. Both figures indicate substantial industrial designation, with a higher reported concentration in Georgetown. This establishes a spatial setting for examining everyday access alongside industrial activity. The percentages are reproduced from the abstract, which does not supply their zoning vintage, neighborhood boundaries, or calculation denominator. They should therefore be understood as reported estimates. The comparison supports the study’s diagnosis of concentrated industrial land use, while the relationship with access requires consideration of additional spatial and community evidence.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abstract associates industrial concentration with limited public green space, fragmented mobility networks, and reduced environmental amenities. It also reports that median household incomes in both neighborhoods fall below the King County average, without supplying amounts. These findings bring spatial conditions and household resources into the same discussion of access. The abstract summarizes community perspectives as describing persistent and structural constraints. This account helps explain why the study addresses everyday life alongside the distribution of land uses. For planning, the relevant question is how destinations, connections, environmental conditions, and resources work together. Each dimension contributes to an assessment that a zoning map alone cannot complete.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illustration is FOOD. CO., developed by Su Li, Yijun Zhang, and Yanrong Zheng in LARCH 507 under Catherine de Almeida. Its proposed network connects South Park, Marra Farm, the Duwamish River Community Hub, and Food Lifeline. Container adaptations support community services across these sites. This is a design exploration with a different geographic emphasis from the two neighborhood research comparison. Its relevance is to make relationships among services and destinations visible. The drawing can generate questions about connectivity, shared responsibilities, and use. It supplies no measured access outcomes, so I use it as an illustration of planning responses rather than evidence of effectiveness.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illustration focuses on Food Lifeline’s site edge. The proposed plan combines an entry plaza, pedestrian circulation, a cafe, and urban farm areas with loading and vehicle functions. Drawings show possible arrangements for events and a night market. This makes the relationship between organizational operations and public activity available for discussion. The planning hypothesis is that the edge of a service facility could support forms of community access. Evaluating that possibility would require residents, operators, and relevant agencies to examine circulation, maintenance, costs, and responsibilities. The drawing helps formulate those questions; it does not establish operational compatibility, safe movement, or improved access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contribution to planning knowledge is a case-based connection between industrial land designation and reported constraints on everyday access. For practice, the argument supports an access audit that considers usable destinations, network connections, environmental resources, and household circumstances when assessing land-use decisions. These questions cross land-use, transport, remediation, and community responsibilities, making coordination part of the planning task. For pedagogy, spatial analysis and community workshops can generate questions that a studio drawing helps make discussable and testable. These are implications of the argument, rather than evaluated outcomes. The next research stage should examine which relationships persist and how particular planning decisions change access over time.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case identifies questions for further planning research. Does industrial designation predict access conditions after accounting for network connections and household resources? Whose experiences are missed when access is represented through mapped indicators? Which planning decisions expand usable resources while avoiding the transfer of burdens elsewhere? Addressing these questions requires clear zoning boundaries, dataset vintages, access measures, and documentation of community participation. Comparative and longitudinal work could help distinguish spatial associations from effects of specific decisions. The current materials support a corridor-level interpretation and two design illustrations, without identifying causal effects or establishing generalizability. The research agenda is to make everyday access measurable, interpretable, and relevant to planning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primary study evidence comes from the supplied ACSP abstract and the FOOD. CO. portfolio. The abstract provides the stated approach, industrial designation estimates, and qualitative findings; the portfolio supplies two proposed planning illustrations. External framing draws on Fainstein’s just-city perspective, Waddell’s integrated planning research, and Blanchard and Waddell’s accessibility methodology. EPA supplies dated Lower Duwamish background. Bibliography and claims were checked against publisher content, the indexed journal abstract, official agency text, and original author documentation. Full book and article bodies were not retrieved. These sources frame the research without supplying its missing methods or establishing the effectiveness of the studio proposals.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cornellpress.cornell.edu/book/9780801476907/the-just-city/" TargetMode="External"/><Relationship Id="rId4" Type="http://schemas.openxmlformats.org/officeDocument/2006/relationships/hyperlink" Target="https://doi.org/10.1080/01944360208976274" TargetMode="External"/><Relationship Id="rId5" Type="http://schemas.openxmlformats.org/officeDocument/2006/relationships/hyperlink" Target="https://doi.org/10.3141/2653-05" TargetMode="External"/><Relationship Id="rId6" Type="http://schemas.openxmlformats.org/officeDocument/2006/relationships/hyperlink" Target="https://www.epa.gov/superfund-redevelopment/superfund-sites-reuse-washington" TargetMode="External"/><Relationship Id="rId7" Type="http://schemas.openxmlformats.org/officeDocument/2006/relationships/hyperlink" Target="https://github.com/UDST/.github/blob/main/HISTORY.m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BF9"/>
        </a:solidFill>
        <a:effectLst/>
      </p:bgPr>
    </p:bg>
    <p:spTree>
      <p:nvGrpSpPr>
        <p:cNvPr id="1" name=""/>
        <p:cNvGrpSpPr/>
        <p:nvPr/>
      </p:nvGrpSpPr>
      <p:grpSpPr/>
      <p:sp>
        <p:nvSpPr>
          <p:cNvPr id="2" name="Rectangle 1"/>
          <p:cNvSpPr/>
          <p:nvPr/>
        </p:nvSpPr>
        <p:spPr>
          <a:xfrm>
            <a:off x="548640" y="448056"/>
            <a:ext cx="329184" cy="41148"/>
          </a:xfrm>
          <a:prstGeom prst="rect">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978408" y="365760"/>
            <a:ext cx="10561320" cy="256032"/>
          </a:xfrm>
          <a:prstGeom prst="rect">
            <a:avLst/>
          </a:prstGeom>
          <a:noFill/>
        </p:spPr>
        <p:txBody>
          <a:bodyPr wrap="square" lIns="0" rIns="0" tIns="0" bIns="0" anchor="t">
            <a:spAutoFit/>
          </a:bodyPr>
          <a:lstStyle/>
          <a:p>
            <a:pPr algn="l">
              <a:lnSpc>
                <a:spcPct val="108000"/>
              </a:lnSpc>
              <a:spcBef>
                <a:spcPts val="0"/>
              </a:spcBef>
              <a:spcAft>
                <a:spcPts val="0"/>
              </a:spcAft>
              <a:defRPr sz="1150" b="1">
                <a:solidFill>
                  <a:srgbClr val="20685F"/>
                </a:solidFill>
                <a:latin typeface="Arial"/>
              </a:defRPr>
            </a:pPr>
            <a:r>
              <a:t>ACSP · RESEARCH PRESENTATION</a:t>
            </a:r>
          </a:p>
        </p:txBody>
      </p:sp>
      <p:sp>
        <p:nvSpPr>
          <p:cNvPr id="4" name="TextBox 3"/>
          <p:cNvSpPr txBox="1"/>
          <p:nvPr/>
        </p:nvSpPr>
        <p:spPr>
          <a:xfrm>
            <a:off x="548640" y="832104"/>
            <a:ext cx="11045952" cy="694944"/>
          </a:xfrm>
          <a:prstGeom prst="rect">
            <a:avLst/>
          </a:prstGeom>
          <a:noFill/>
        </p:spPr>
        <p:txBody>
          <a:bodyPr wrap="square" lIns="0" rIns="0" tIns="0" bIns="0" anchor="t">
            <a:spAutoFit/>
          </a:bodyPr>
          <a:lstStyle/>
          <a:p>
            <a:pPr algn="l">
              <a:lnSpc>
                <a:spcPct val="108000"/>
              </a:lnSpc>
              <a:spcBef>
                <a:spcPts val="0"/>
              </a:spcBef>
              <a:spcAft>
                <a:spcPts val="0"/>
              </a:spcAft>
              <a:defRPr sz="4000" b="1">
                <a:solidFill>
                  <a:srgbClr val="22312F"/>
                </a:solidFill>
                <a:latin typeface="Arial"/>
              </a:defRPr>
            </a:pPr>
            <a:r>
              <a:t>Unequal access by design</a:t>
            </a:r>
          </a:p>
        </p:txBody>
      </p:sp>
      <p:cxnSp>
        <p:nvCxnSpPr>
          <p:cNvPr id="5" name="Connector 4"/>
          <p:cNvCxnSpPr/>
          <p:nvPr/>
        </p:nvCxnSpPr>
        <p:spPr>
          <a:xfrm>
            <a:off x="548640" y="6391656"/>
            <a:ext cx="11091672"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48640" y="6487668"/>
            <a:ext cx="10607040" cy="228600"/>
          </a:xfrm>
          <a:prstGeom prst="rect">
            <a:avLst/>
          </a:prstGeom>
          <a:noFill/>
        </p:spPr>
        <p:txBody>
          <a:bodyPr wrap="square" lIns="0" rIns="0" tIns="0" bIns="0" anchor="t">
            <a:spAutoFit/>
          </a:bodyPr>
          <a:lstStyle/>
          <a:p>
            <a:pPr algn="l">
              <a:lnSpc>
                <a:spcPct val="108000"/>
              </a:lnSpc>
              <a:spcBef>
                <a:spcPts val="0"/>
              </a:spcBef>
              <a:spcAft>
                <a:spcPts val="0"/>
              </a:spcAft>
              <a:defRPr sz="1100" b="0">
                <a:solidFill>
                  <a:srgbClr val="5E6C68"/>
                </a:solidFill>
                <a:latin typeface="Arial"/>
              </a:defRPr>
            </a:pPr>
            <a:r>
              <a:t>Primary evidence: supplied ACSP abstract · Presenter clarification: approximate 2023–2025 study period</a:t>
            </a:r>
          </a:p>
        </p:txBody>
      </p:sp>
      <p:sp>
        <p:nvSpPr>
          <p:cNvPr id="7" name="TextBox 6"/>
          <p:cNvSpPr txBox="1"/>
          <p:nvPr/>
        </p:nvSpPr>
        <p:spPr>
          <a:xfrm>
            <a:off x="11192256" y="6473952"/>
            <a:ext cx="420624" cy="246888"/>
          </a:xfrm>
          <a:prstGeom prst="rect">
            <a:avLst/>
          </a:prstGeom>
          <a:noFill/>
        </p:spPr>
        <p:txBody>
          <a:bodyPr wrap="square" lIns="0" rIns="0" tIns="0" bIns="0" anchor="t">
            <a:spAutoFit/>
          </a:bodyPr>
          <a:lstStyle/>
          <a:p>
            <a:pPr algn="r">
              <a:lnSpc>
                <a:spcPct val="108000"/>
              </a:lnSpc>
              <a:spcBef>
                <a:spcPts val="0"/>
              </a:spcBef>
              <a:spcAft>
                <a:spcPts val="0"/>
              </a:spcAft>
              <a:defRPr sz="1200" b="1">
                <a:solidFill>
                  <a:srgbClr val="20685F"/>
                </a:solidFill>
                <a:latin typeface="Arial"/>
              </a:defRPr>
            </a:pPr>
            <a:r>
              <a:t>01</a:t>
            </a:r>
          </a:p>
        </p:txBody>
      </p:sp>
      <p:sp>
        <p:nvSpPr>
          <p:cNvPr id="8" name="TextBox 7"/>
          <p:cNvSpPr txBox="1"/>
          <p:nvPr/>
        </p:nvSpPr>
        <p:spPr>
          <a:xfrm>
            <a:off x="585216" y="1792224"/>
            <a:ext cx="10881360" cy="1024128"/>
          </a:xfrm>
          <a:prstGeom prst="rect">
            <a:avLst/>
          </a:prstGeom>
          <a:noFill/>
        </p:spPr>
        <p:txBody>
          <a:bodyPr wrap="square" lIns="0" rIns="0" tIns="0" bIns="0" anchor="t">
            <a:spAutoFit/>
          </a:bodyPr>
          <a:lstStyle/>
          <a:p>
            <a:pPr algn="l">
              <a:lnSpc>
                <a:spcPct val="108000"/>
              </a:lnSpc>
              <a:spcBef>
                <a:spcPts val="0"/>
              </a:spcBef>
              <a:spcAft>
                <a:spcPts val="0"/>
              </a:spcAft>
              <a:defRPr sz="2700" b="0">
                <a:solidFill>
                  <a:srgbClr val="22312F"/>
                </a:solidFill>
                <a:latin typeface="Arial"/>
              </a:defRPr>
            </a:pPr>
            <a:r>
              <a:t>Industrial zoning and spatial justice in</a:t>
            </a:r>
          </a:p>
          <a:p>
            <a:pPr algn="l">
              <a:lnSpc>
                <a:spcPct val="108000"/>
              </a:lnSpc>
              <a:spcBef>
                <a:spcPts val="0"/>
              </a:spcBef>
              <a:spcAft>
                <a:spcPts val="0"/>
              </a:spcAft>
              <a:defRPr sz="2700" b="0">
                <a:solidFill>
                  <a:srgbClr val="22312F"/>
                </a:solidFill>
                <a:latin typeface="Arial"/>
              </a:defRPr>
            </a:pPr>
            <a:r>
              <a:t>Seattle’s Lower Duwamish corridor</a:t>
            </a:r>
          </a:p>
        </p:txBody>
      </p:sp>
      <p:sp>
        <p:nvSpPr>
          <p:cNvPr id="9" name="TextBox 8"/>
          <p:cNvSpPr txBox="1"/>
          <p:nvPr/>
        </p:nvSpPr>
        <p:spPr>
          <a:xfrm>
            <a:off x="585216" y="3063240"/>
            <a:ext cx="10881360" cy="384048"/>
          </a:xfrm>
          <a:prstGeom prst="rect">
            <a:avLst/>
          </a:prstGeom>
          <a:noFill/>
        </p:spPr>
        <p:txBody>
          <a:bodyPr wrap="square" lIns="0" rIns="0" tIns="0" bIns="0" anchor="t">
            <a:spAutoFit/>
          </a:bodyPr>
          <a:lstStyle/>
          <a:p>
            <a:pPr algn="l">
              <a:lnSpc>
                <a:spcPct val="108000"/>
              </a:lnSpc>
              <a:spcBef>
                <a:spcPts val="0"/>
              </a:spcBef>
              <a:spcAft>
                <a:spcPts val="0"/>
              </a:spcAft>
              <a:defRPr sz="2100" b="1">
                <a:solidFill>
                  <a:srgbClr val="20685F"/>
                </a:solidFill>
                <a:latin typeface="Arial"/>
              </a:defRPr>
            </a:pPr>
            <a:r>
              <a:t>Yijun Zhang  |  MKSK</a:t>
            </a:r>
          </a:p>
        </p:txBody>
      </p:sp>
      <p:sp>
        <p:nvSpPr>
          <p:cNvPr id="10" name="Rectangle 9"/>
          <p:cNvSpPr/>
          <p:nvPr/>
        </p:nvSpPr>
        <p:spPr>
          <a:xfrm>
            <a:off x="585216" y="3840480"/>
            <a:ext cx="10991088" cy="2112264"/>
          </a:xfrm>
          <a:prstGeom prst="rect">
            <a:avLst/>
          </a:prstGeom>
          <a:solidFill>
            <a:srgbClr val="E9F1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859536" y="4123944"/>
            <a:ext cx="10415016" cy="256032"/>
          </a:xfrm>
          <a:prstGeom prst="rect">
            <a:avLst/>
          </a:prstGeom>
          <a:noFill/>
        </p:spPr>
        <p:txBody>
          <a:bodyPr wrap="square" lIns="0" rIns="0" tIns="0" bIns="0" anchor="t">
            <a:spAutoFit/>
          </a:bodyPr>
          <a:lstStyle/>
          <a:p>
            <a:pPr algn="l">
              <a:lnSpc>
                <a:spcPct val="108000"/>
              </a:lnSpc>
              <a:spcBef>
                <a:spcPts val="0"/>
              </a:spcBef>
              <a:spcAft>
                <a:spcPts val="0"/>
              </a:spcAft>
              <a:defRPr sz="1200" b="1">
                <a:solidFill>
                  <a:srgbClr val="20685F"/>
                </a:solidFill>
                <a:latin typeface="Arial"/>
              </a:defRPr>
            </a:pPr>
            <a:r>
              <a:t>RESEARCH QUESTION</a:t>
            </a:r>
          </a:p>
        </p:txBody>
      </p:sp>
      <p:sp>
        <p:nvSpPr>
          <p:cNvPr id="12" name="TextBox 11"/>
          <p:cNvSpPr txBox="1"/>
          <p:nvPr/>
        </p:nvSpPr>
        <p:spPr>
          <a:xfrm>
            <a:off x="859536" y="4572000"/>
            <a:ext cx="10415016" cy="941832"/>
          </a:xfrm>
          <a:prstGeom prst="rect">
            <a:avLst/>
          </a:prstGeom>
          <a:noFill/>
        </p:spPr>
        <p:txBody>
          <a:bodyPr wrap="square" lIns="0" rIns="0" tIns="0" bIns="0" anchor="t">
            <a:spAutoFit/>
          </a:bodyPr>
          <a:lstStyle/>
          <a:p>
            <a:pPr algn="l">
              <a:lnSpc>
                <a:spcPct val="108000"/>
              </a:lnSpc>
              <a:spcBef>
                <a:spcPts val="0"/>
              </a:spcBef>
              <a:spcAft>
                <a:spcPts val="0"/>
              </a:spcAft>
              <a:defRPr sz="2800" b="1">
                <a:solidFill>
                  <a:srgbClr val="22312F"/>
                </a:solidFill>
                <a:latin typeface="Arial"/>
              </a:defRPr>
            </a:pPr>
            <a:r>
              <a:t>How does industrial land use shape everyday access</a:t>
            </a:r>
          </a:p>
          <a:p>
            <a:pPr algn="l">
              <a:lnSpc>
                <a:spcPct val="108000"/>
              </a:lnSpc>
              <a:spcBef>
                <a:spcPts val="0"/>
              </a:spcBef>
              <a:spcAft>
                <a:spcPts val="0"/>
              </a:spcAft>
              <a:defRPr sz="2800" b="1">
                <a:solidFill>
                  <a:srgbClr val="22312F"/>
                </a:solidFill>
                <a:latin typeface="Arial"/>
              </a:defRPr>
            </a:pPr>
            <a:r>
              <a:t>in Georgetown and South Park?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BF9"/>
        </a:solidFill>
        <a:effectLst/>
      </p:bgPr>
    </p:bg>
    <p:spTree>
      <p:nvGrpSpPr>
        <p:cNvPr id="1" name=""/>
        <p:cNvGrpSpPr/>
        <p:nvPr/>
      </p:nvGrpSpPr>
      <p:grpSpPr/>
      <p:sp>
        <p:nvSpPr>
          <p:cNvPr id="2" name="Rectangle 1"/>
          <p:cNvSpPr/>
          <p:nvPr/>
        </p:nvSpPr>
        <p:spPr>
          <a:xfrm>
            <a:off x="548640" y="448056"/>
            <a:ext cx="329184" cy="41148"/>
          </a:xfrm>
          <a:prstGeom prst="rect">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978408" y="365760"/>
            <a:ext cx="10561320" cy="256032"/>
          </a:xfrm>
          <a:prstGeom prst="rect">
            <a:avLst/>
          </a:prstGeom>
          <a:noFill/>
        </p:spPr>
        <p:txBody>
          <a:bodyPr wrap="square" lIns="0" rIns="0" tIns="0" bIns="0" anchor="t">
            <a:spAutoFit/>
          </a:bodyPr>
          <a:lstStyle/>
          <a:p>
            <a:pPr algn="l">
              <a:lnSpc>
                <a:spcPct val="108000"/>
              </a:lnSpc>
              <a:spcBef>
                <a:spcPts val="0"/>
              </a:spcBef>
              <a:spcAft>
                <a:spcPts val="0"/>
              </a:spcAft>
              <a:defRPr sz="1150" b="1">
                <a:solidFill>
                  <a:srgbClr val="20685F"/>
                </a:solidFill>
                <a:latin typeface="Arial"/>
              </a:defRPr>
            </a:pPr>
            <a:r>
              <a:t>LITERATURE · NORMATIVE PLANNING</a:t>
            </a:r>
          </a:p>
        </p:txBody>
      </p:sp>
      <p:sp>
        <p:nvSpPr>
          <p:cNvPr id="4" name="TextBox 3"/>
          <p:cNvSpPr txBox="1"/>
          <p:nvPr/>
        </p:nvSpPr>
        <p:spPr>
          <a:xfrm>
            <a:off x="548640" y="832104"/>
            <a:ext cx="11045952" cy="694944"/>
          </a:xfrm>
          <a:prstGeom prst="rect">
            <a:avLst/>
          </a:prstGeom>
          <a:noFill/>
        </p:spPr>
        <p:txBody>
          <a:bodyPr wrap="square" lIns="0" rIns="0" tIns="0" bIns="0" anchor="t">
            <a:spAutoFit/>
          </a:bodyPr>
          <a:lstStyle/>
          <a:p>
            <a:pPr algn="l">
              <a:lnSpc>
                <a:spcPct val="108000"/>
              </a:lnSpc>
              <a:spcBef>
                <a:spcPts val="0"/>
              </a:spcBef>
              <a:spcAft>
                <a:spcPts val="0"/>
              </a:spcAft>
              <a:defRPr sz="3100" b="1">
                <a:solidFill>
                  <a:srgbClr val="22312F"/>
                </a:solidFill>
                <a:latin typeface="Arial"/>
              </a:defRPr>
            </a:pPr>
            <a:r>
              <a:t>Planning justice asks who benefits</a:t>
            </a:r>
          </a:p>
        </p:txBody>
      </p:sp>
      <p:sp>
        <p:nvSpPr>
          <p:cNvPr id="5" name="TextBox 4"/>
          <p:cNvSpPr txBox="1"/>
          <p:nvPr/>
        </p:nvSpPr>
        <p:spPr>
          <a:xfrm>
            <a:off x="548640" y="1536192"/>
            <a:ext cx="11045952" cy="502920"/>
          </a:xfrm>
          <a:prstGeom prst="rect">
            <a:avLst/>
          </a:prstGeom>
          <a:noFill/>
        </p:spPr>
        <p:txBody>
          <a:bodyPr wrap="square" lIns="0" rIns="0" tIns="0" bIns="0" anchor="t">
            <a:spAutoFit/>
          </a:bodyPr>
          <a:lstStyle/>
          <a:p>
            <a:pPr algn="l">
              <a:lnSpc>
                <a:spcPct val="108000"/>
              </a:lnSpc>
              <a:spcBef>
                <a:spcPts val="0"/>
              </a:spcBef>
              <a:spcAft>
                <a:spcPts val="0"/>
              </a:spcAft>
              <a:defRPr sz="1900" b="0">
                <a:solidFill>
                  <a:srgbClr val="5E6C68"/>
                </a:solidFill>
                <a:latin typeface="Arial"/>
              </a:defRPr>
            </a:pPr>
            <a:r>
              <a:t>An equity lens for evaluating the distribution of usable urban resources</a:t>
            </a:r>
          </a:p>
        </p:txBody>
      </p:sp>
      <p:cxnSp>
        <p:nvCxnSpPr>
          <p:cNvPr id="6" name="Connector 5"/>
          <p:cNvCxnSpPr/>
          <p:nvPr/>
        </p:nvCxnSpPr>
        <p:spPr>
          <a:xfrm>
            <a:off x="548640" y="6391656"/>
            <a:ext cx="11091672"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548640" y="6487668"/>
            <a:ext cx="10607040" cy="228600"/>
          </a:xfrm>
          <a:prstGeom prst="rect">
            <a:avLst/>
          </a:prstGeom>
          <a:noFill/>
        </p:spPr>
        <p:txBody>
          <a:bodyPr wrap="square" lIns="0" rIns="0" tIns="0" bIns="0" anchor="t">
            <a:spAutoFit/>
          </a:bodyPr>
          <a:lstStyle/>
          <a:p>
            <a:pPr algn="l">
              <a:lnSpc>
                <a:spcPct val="108000"/>
              </a:lnSpc>
              <a:spcBef>
                <a:spcPts val="0"/>
              </a:spcBef>
              <a:spcAft>
                <a:spcPts val="0"/>
              </a:spcAft>
              <a:defRPr sz="1100" b="0">
                <a:solidFill>
                  <a:srgbClr val="5E6C68"/>
                </a:solidFill>
                <a:latin typeface="Arial"/>
              </a:defRPr>
            </a:pPr>
            <a:r>
              <a:t>[1] Fainstein (2010), The Just City · Framework checked against Cornell University Press description</a:t>
            </a:r>
          </a:p>
        </p:txBody>
      </p:sp>
      <p:sp>
        <p:nvSpPr>
          <p:cNvPr id="8" name="TextBox 7"/>
          <p:cNvSpPr txBox="1"/>
          <p:nvPr/>
        </p:nvSpPr>
        <p:spPr>
          <a:xfrm>
            <a:off x="11192256" y="6473952"/>
            <a:ext cx="420624" cy="246888"/>
          </a:xfrm>
          <a:prstGeom prst="rect">
            <a:avLst/>
          </a:prstGeom>
          <a:noFill/>
        </p:spPr>
        <p:txBody>
          <a:bodyPr wrap="square" lIns="0" rIns="0" tIns="0" bIns="0" anchor="t">
            <a:spAutoFit/>
          </a:bodyPr>
          <a:lstStyle/>
          <a:p>
            <a:pPr algn="r">
              <a:lnSpc>
                <a:spcPct val="108000"/>
              </a:lnSpc>
              <a:spcBef>
                <a:spcPts val="0"/>
              </a:spcBef>
              <a:spcAft>
                <a:spcPts val="0"/>
              </a:spcAft>
              <a:defRPr sz="1200" b="1">
                <a:solidFill>
                  <a:srgbClr val="20685F"/>
                </a:solidFill>
                <a:latin typeface="Arial"/>
              </a:defRPr>
            </a:pPr>
            <a:r>
              <a:t>02</a:t>
            </a:r>
          </a:p>
        </p:txBody>
      </p:sp>
      <p:sp>
        <p:nvSpPr>
          <p:cNvPr id="9" name="Rectangle 8"/>
          <p:cNvSpPr/>
          <p:nvPr/>
        </p:nvSpPr>
        <p:spPr>
          <a:xfrm>
            <a:off x="585216" y="2459736"/>
            <a:ext cx="3456432" cy="2423160"/>
          </a:xfrm>
          <a:prstGeom prst="rect">
            <a:avLst/>
          </a:prstGeom>
          <a:solidFill>
            <a:srgbClr val="FFFFFF"/>
          </a:solidFill>
          <a:ln w="8890">
            <a:solidFill>
              <a:srgbClr val="D9E3D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86384" y="2779776"/>
            <a:ext cx="3054096" cy="658368"/>
          </a:xfrm>
          <a:prstGeom prst="rect">
            <a:avLst/>
          </a:prstGeom>
          <a:noFill/>
        </p:spPr>
        <p:txBody>
          <a:bodyPr wrap="square" lIns="0" rIns="0" tIns="0" bIns="0" anchor="t">
            <a:spAutoFit/>
          </a:bodyPr>
          <a:lstStyle/>
          <a:p>
            <a:pPr algn="l">
              <a:lnSpc>
                <a:spcPct val="108000"/>
              </a:lnSpc>
              <a:spcBef>
                <a:spcPts val="0"/>
              </a:spcBef>
              <a:spcAft>
                <a:spcPts val="0"/>
              </a:spcAft>
              <a:defRPr sz="2400" b="1">
                <a:solidFill>
                  <a:srgbClr val="20685F"/>
                </a:solidFill>
                <a:latin typeface="Arial"/>
              </a:defRPr>
            </a:pPr>
            <a:r>
              <a:t>Equity</a:t>
            </a:r>
          </a:p>
        </p:txBody>
      </p:sp>
      <p:sp>
        <p:nvSpPr>
          <p:cNvPr id="11" name="TextBox 10"/>
          <p:cNvSpPr txBox="1"/>
          <p:nvPr/>
        </p:nvSpPr>
        <p:spPr>
          <a:xfrm>
            <a:off x="786384" y="3666744"/>
            <a:ext cx="3054096" cy="804672"/>
          </a:xfrm>
          <a:prstGeom prst="rect">
            <a:avLst/>
          </a:prstGeom>
          <a:noFill/>
        </p:spPr>
        <p:txBody>
          <a:bodyPr wrap="square" lIns="0" rIns="0" tIns="0" bIns="0" anchor="t">
            <a:spAutoFit/>
          </a:bodyPr>
          <a:lstStyle/>
          <a:p>
            <a:pPr algn="l">
              <a:lnSpc>
                <a:spcPct val="108000"/>
              </a:lnSpc>
              <a:spcBef>
                <a:spcPts val="0"/>
              </a:spcBef>
              <a:spcAft>
                <a:spcPts val="0"/>
              </a:spcAft>
              <a:defRPr sz="2100" b="0">
                <a:solidFill>
                  <a:srgbClr val="22312F"/>
                </a:solidFill>
                <a:latin typeface="Arial"/>
              </a:defRPr>
            </a:pPr>
            <a:r>
              <a:t>Who can use the</a:t>
            </a:r>
          </a:p>
          <a:p>
            <a:pPr algn="l">
              <a:lnSpc>
                <a:spcPct val="108000"/>
              </a:lnSpc>
              <a:spcBef>
                <a:spcPts val="0"/>
              </a:spcBef>
              <a:spcAft>
                <a:spcPts val="0"/>
              </a:spcAft>
              <a:defRPr sz="2100" b="0">
                <a:solidFill>
                  <a:srgbClr val="22312F"/>
                </a:solidFill>
                <a:latin typeface="Arial"/>
              </a:defRPr>
            </a:pPr>
            <a:r>
              <a:t>resources of the city?</a:t>
            </a:r>
          </a:p>
        </p:txBody>
      </p:sp>
      <p:sp>
        <p:nvSpPr>
          <p:cNvPr id="12" name="Rectangle 11"/>
          <p:cNvSpPr/>
          <p:nvPr/>
        </p:nvSpPr>
        <p:spPr>
          <a:xfrm>
            <a:off x="4361688" y="2459736"/>
            <a:ext cx="3456432" cy="2423160"/>
          </a:xfrm>
          <a:prstGeom prst="rect">
            <a:avLst/>
          </a:prstGeom>
          <a:solidFill>
            <a:srgbClr val="FFFFFF"/>
          </a:solidFill>
          <a:ln w="8890">
            <a:solidFill>
              <a:srgbClr val="D9E3D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562855" y="2779776"/>
            <a:ext cx="3054096" cy="658368"/>
          </a:xfrm>
          <a:prstGeom prst="rect">
            <a:avLst/>
          </a:prstGeom>
          <a:noFill/>
        </p:spPr>
        <p:txBody>
          <a:bodyPr wrap="square" lIns="0" rIns="0" tIns="0" bIns="0" anchor="t">
            <a:spAutoFit/>
          </a:bodyPr>
          <a:lstStyle/>
          <a:p>
            <a:pPr algn="l">
              <a:lnSpc>
                <a:spcPct val="108000"/>
              </a:lnSpc>
              <a:spcBef>
                <a:spcPts val="0"/>
              </a:spcBef>
              <a:spcAft>
                <a:spcPts val="0"/>
              </a:spcAft>
              <a:defRPr sz="2400" b="1">
                <a:solidFill>
                  <a:srgbClr val="20685F"/>
                </a:solidFill>
                <a:latin typeface="Arial"/>
              </a:defRPr>
            </a:pPr>
            <a:r>
              <a:t>Material well-being</a:t>
            </a:r>
          </a:p>
        </p:txBody>
      </p:sp>
      <p:sp>
        <p:nvSpPr>
          <p:cNvPr id="14" name="TextBox 13"/>
          <p:cNvSpPr txBox="1"/>
          <p:nvPr/>
        </p:nvSpPr>
        <p:spPr>
          <a:xfrm>
            <a:off x="4562855" y="3666744"/>
            <a:ext cx="3054096" cy="804672"/>
          </a:xfrm>
          <a:prstGeom prst="rect">
            <a:avLst/>
          </a:prstGeom>
          <a:noFill/>
        </p:spPr>
        <p:txBody>
          <a:bodyPr wrap="square" lIns="0" rIns="0" tIns="0" bIns="0" anchor="t">
            <a:spAutoFit/>
          </a:bodyPr>
          <a:lstStyle/>
          <a:p>
            <a:pPr algn="l">
              <a:lnSpc>
                <a:spcPct val="108000"/>
              </a:lnSpc>
              <a:spcBef>
                <a:spcPts val="0"/>
              </a:spcBef>
              <a:spcAft>
                <a:spcPts val="0"/>
              </a:spcAft>
              <a:defRPr sz="2100" b="0">
                <a:solidFill>
                  <a:srgbClr val="22312F"/>
                </a:solidFill>
                <a:latin typeface="Arial"/>
              </a:defRPr>
            </a:pPr>
            <a:r>
              <a:t>How do decisions relate</a:t>
            </a:r>
          </a:p>
          <a:p>
            <a:pPr algn="l">
              <a:lnSpc>
                <a:spcPct val="108000"/>
              </a:lnSpc>
              <a:spcBef>
                <a:spcPts val="0"/>
              </a:spcBef>
              <a:spcAft>
                <a:spcPts val="0"/>
              </a:spcAft>
              <a:defRPr sz="2100" b="0">
                <a:solidFill>
                  <a:srgbClr val="22312F"/>
                </a:solidFill>
                <a:latin typeface="Arial"/>
              </a:defRPr>
            </a:pPr>
            <a:r>
              <a:t>to everyday needs?</a:t>
            </a:r>
          </a:p>
        </p:txBody>
      </p:sp>
      <p:sp>
        <p:nvSpPr>
          <p:cNvPr id="15" name="Rectangle 14"/>
          <p:cNvSpPr/>
          <p:nvPr/>
        </p:nvSpPr>
        <p:spPr>
          <a:xfrm>
            <a:off x="8138160" y="2459736"/>
            <a:ext cx="3456432" cy="2423160"/>
          </a:xfrm>
          <a:prstGeom prst="rect">
            <a:avLst/>
          </a:prstGeom>
          <a:solidFill>
            <a:srgbClr val="FFFFFF"/>
          </a:solidFill>
          <a:ln w="8890">
            <a:solidFill>
              <a:srgbClr val="D9E3D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339328" y="2779776"/>
            <a:ext cx="3054096" cy="658368"/>
          </a:xfrm>
          <a:prstGeom prst="rect">
            <a:avLst/>
          </a:prstGeom>
          <a:noFill/>
        </p:spPr>
        <p:txBody>
          <a:bodyPr wrap="square" lIns="0" rIns="0" tIns="0" bIns="0" anchor="t">
            <a:spAutoFit/>
          </a:bodyPr>
          <a:lstStyle/>
          <a:p>
            <a:pPr algn="l">
              <a:lnSpc>
                <a:spcPct val="108000"/>
              </a:lnSpc>
              <a:spcBef>
                <a:spcPts val="0"/>
              </a:spcBef>
              <a:spcAft>
                <a:spcPts val="0"/>
              </a:spcAft>
              <a:defRPr sz="2400" b="1">
                <a:solidFill>
                  <a:srgbClr val="20685F"/>
                </a:solidFill>
                <a:latin typeface="Arial"/>
              </a:defRPr>
            </a:pPr>
            <a:r>
              <a:t>Diversity</a:t>
            </a:r>
          </a:p>
        </p:txBody>
      </p:sp>
      <p:sp>
        <p:nvSpPr>
          <p:cNvPr id="17" name="TextBox 16"/>
          <p:cNvSpPr txBox="1"/>
          <p:nvPr/>
        </p:nvSpPr>
        <p:spPr>
          <a:xfrm>
            <a:off x="8339328" y="3666744"/>
            <a:ext cx="3054096" cy="804672"/>
          </a:xfrm>
          <a:prstGeom prst="rect">
            <a:avLst/>
          </a:prstGeom>
          <a:noFill/>
        </p:spPr>
        <p:txBody>
          <a:bodyPr wrap="square" lIns="0" rIns="0" tIns="0" bIns="0" anchor="t">
            <a:spAutoFit/>
          </a:bodyPr>
          <a:lstStyle/>
          <a:p>
            <a:pPr algn="l">
              <a:lnSpc>
                <a:spcPct val="108000"/>
              </a:lnSpc>
              <a:spcBef>
                <a:spcPts val="0"/>
              </a:spcBef>
              <a:spcAft>
                <a:spcPts val="0"/>
              </a:spcAft>
              <a:defRPr sz="2100" b="0">
                <a:solidFill>
                  <a:srgbClr val="22312F"/>
                </a:solidFill>
                <a:latin typeface="Arial"/>
              </a:defRPr>
            </a:pPr>
            <a:r>
              <a:t>Whose needs enter</a:t>
            </a:r>
          </a:p>
          <a:p>
            <a:pPr algn="l">
              <a:lnSpc>
                <a:spcPct val="108000"/>
              </a:lnSpc>
              <a:spcBef>
                <a:spcPts val="0"/>
              </a:spcBef>
              <a:spcAft>
                <a:spcPts val="0"/>
              </a:spcAft>
              <a:defRPr sz="2100" b="0">
                <a:solidFill>
                  <a:srgbClr val="22312F"/>
                </a:solidFill>
                <a:latin typeface="Arial"/>
              </a:defRPr>
            </a:pPr>
            <a:r>
              <a:t>planning assessment?</a:t>
            </a:r>
          </a:p>
        </p:txBody>
      </p:sp>
      <p:sp>
        <p:nvSpPr>
          <p:cNvPr id="18" name="TextBox 17"/>
          <p:cNvSpPr txBox="1"/>
          <p:nvPr/>
        </p:nvSpPr>
        <p:spPr>
          <a:xfrm>
            <a:off x="585216" y="5330952"/>
            <a:ext cx="10991088" cy="530352"/>
          </a:xfrm>
          <a:prstGeom prst="rect">
            <a:avLst/>
          </a:prstGeom>
          <a:noFill/>
        </p:spPr>
        <p:txBody>
          <a:bodyPr wrap="square" lIns="0" rIns="0" tIns="0" bIns="0" anchor="t">
            <a:spAutoFit/>
          </a:bodyPr>
          <a:lstStyle/>
          <a:p>
            <a:pPr algn="l">
              <a:lnSpc>
                <a:spcPct val="108000"/>
              </a:lnSpc>
              <a:spcBef>
                <a:spcPts val="0"/>
              </a:spcBef>
              <a:spcAft>
                <a:spcPts val="0"/>
              </a:spcAft>
              <a:defRPr sz="2300" b="1">
                <a:solidFill>
                  <a:srgbClr val="22312F"/>
                </a:solidFill>
                <a:latin typeface="Arial"/>
              </a:defRPr>
            </a:pPr>
            <a:r>
              <a:t>Application to this case: assess access alongside industrial land designation.</a:t>
            </a:r>
          </a:p>
        </p:txBody>
      </p:sp>
      <p:sp>
        <p:nvSpPr>
          <p:cNvPr id="19" name="TextBox 18"/>
          <p:cNvSpPr txBox="1"/>
          <p:nvPr/>
        </p:nvSpPr>
        <p:spPr>
          <a:xfrm>
            <a:off x="585216" y="5934456"/>
            <a:ext cx="10991088" cy="256032"/>
          </a:xfrm>
          <a:prstGeom prst="rect">
            <a:avLst/>
          </a:prstGeom>
          <a:noFill/>
        </p:spPr>
        <p:txBody>
          <a:bodyPr wrap="square" lIns="0" rIns="0" tIns="0" bIns="0" anchor="t">
            <a:spAutoFit/>
          </a:bodyPr>
          <a:lstStyle/>
          <a:p>
            <a:pPr algn="l">
              <a:lnSpc>
                <a:spcPct val="108000"/>
              </a:lnSpc>
              <a:spcBef>
                <a:spcPts val="0"/>
              </a:spcBef>
              <a:spcAft>
                <a:spcPts val="0"/>
              </a:spcAft>
              <a:defRPr sz="1300" b="0">
                <a:solidFill>
                  <a:srgbClr val="5E6C68"/>
                </a:solidFill>
                <a:latin typeface="Arial"/>
              </a:defRPr>
            </a:pPr>
            <a:r>
              <a:t>Interpretive lens introduced here; the abstract does not report applying this framework.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BF9"/>
        </a:solidFill>
        <a:effectLst/>
      </p:bgPr>
    </p:bg>
    <p:spTree>
      <p:nvGrpSpPr>
        <p:cNvPr id="1" name=""/>
        <p:cNvGrpSpPr/>
        <p:nvPr/>
      </p:nvGrpSpPr>
      <p:grpSpPr/>
      <p:sp>
        <p:nvSpPr>
          <p:cNvPr id="2" name="Rectangle 1"/>
          <p:cNvSpPr/>
          <p:nvPr/>
        </p:nvSpPr>
        <p:spPr>
          <a:xfrm>
            <a:off x="548640" y="448056"/>
            <a:ext cx="329184" cy="41148"/>
          </a:xfrm>
          <a:prstGeom prst="rect">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978408" y="365760"/>
            <a:ext cx="10561320" cy="256032"/>
          </a:xfrm>
          <a:prstGeom prst="rect">
            <a:avLst/>
          </a:prstGeom>
          <a:noFill/>
        </p:spPr>
        <p:txBody>
          <a:bodyPr wrap="square" lIns="0" rIns="0" tIns="0" bIns="0" anchor="t">
            <a:spAutoFit/>
          </a:bodyPr>
          <a:lstStyle/>
          <a:p>
            <a:pPr algn="l">
              <a:lnSpc>
                <a:spcPct val="108000"/>
              </a:lnSpc>
              <a:spcBef>
                <a:spcPts val="0"/>
              </a:spcBef>
              <a:spcAft>
                <a:spcPts val="0"/>
              </a:spcAft>
              <a:defRPr sz="1150" b="1">
                <a:solidFill>
                  <a:srgbClr val="20685F"/>
                </a:solidFill>
                <a:latin typeface="Arial"/>
              </a:defRPr>
            </a:pPr>
            <a:r>
              <a:t>LITERATURE · INTEGRATED PLANNING + ACCESSIBILITY</a:t>
            </a:r>
          </a:p>
        </p:txBody>
      </p:sp>
      <p:sp>
        <p:nvSpPr>
          <p:cNvPr id="4" name="TextBox 3"/>
          <p:cNvSpPr txBox="1"/>
          <p:nvPr/>
        </p:nvSpPr>
        <p:spPr>
          <a:xfrm>
            <a:off x="548640" y="832104"/>
            <a:ext cx="11045952" cy="694944"/>
          </a:xfrm>
          <a:prstGeom prst="rect">
            <a:avLst/>
          </a:prstGeom>
          <a:noFill/>
        </p:spPr>
        <p:txBody>
          <a:bodyPr wrap="square" lIns="0" rIns="0" tIns="0" bIns="0" anchor="t">
            <a:spAutoFit/>
          </a:bodyPr>
          <a:lstStyle/>
          <a:p>
            <a:pPr algn="l">
              <a:lnSpc>
                <a:spcPct val="108000"/>
              </a:lnSpc>
              <a:spcBef>
                <a:spcPts val="0"/>
              </a:spcBef>
              <a:spcAft>
                <a:spcPts val="0"/>
              </a:spcAft>
              <a:defRPr sz="3100" b="1">
                <a:solidFill>
                  <a:srgbClr val="22312F"/>
                </a:solidFill>
                <a:latin typeface="Arial"/>
              </a:defRPr>
            </a:pPr>
            <a:r>
              <a:t>Access emerges from land use and networks</a:t>
            </a:r>
          </a:p>
        </p:txBody>
      </p:sp>
      <p:sp>
        <p:nvSpPr>
          <p:cNvPr id="5" name="TextBox 4"/>
          <p:cNvSpPr txBox="1"/>
          <p:nvPr/>
        </p:nvSpPr>
        <p:spPr>
          <a:xfrm>
            <a:off x="548640" y="1536192"/>
            <a:ext cx="11045952" cy="502920"/>
          </a:xfrm>
          <a:prstGeom prst="rect">
            <a:avLst/>
          </a:prstGeom>
          <a:noFill/>
        </p:spPr>
        <p:txBody>
          <a:bodyPr wrap="square" lIns="0" rIns="0" tIns="0" bIns="0" anchor="t">
            <a:spAutoFit/>
          </a:bodyPr>
          <a:lstStyle/>
          <a:p>
            <a:pPr algn="l">
              <a:lnSpc>
                <a:spcPct val="108000"/>
              </a:lnSpc>
              <a:spcBef>
                <a:spcPts val="0"/>
              </a:spcBef>
              <a:spcAft>
                <a:spcPts val="0"/>
              </a:spcAft>
              <a:defRPr sz="1900" b="0">
                <a:solidFill>
                  <a:srgbClr val="5E6C68"/>
                </a:solidFill>
                <a:latin typeface="Arial"/>
              </a:defRPr>
            </a:pPr>
            <a:r>
              <a:t>Relate land-use decisions to destinations, connections, and service timing</a:t>
            </a:r>
          </a:p>
        </p:txBody>
      </p:sp>
      <p:cxnSp>
        <p:nvCxnSpPr>
          <p:cNvPr id="6" name="Connector 5"/>
          <p:cNvCxnSpPr/>
          <p:nvPr/>
        </p:nvCxnSpPr>
        <p:spPr>
          <a:xfrm>
            <a:off x="548640" y="6391656"/>
            <a:ext cx="11091672"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548640" y="6487668"/>
            <a:ext cx="10607040" cy="228600"/>
          </a:xfrm>
          <a:prstGeom prst="rect">
            <a:avLst/>
          </a:prstGeom>
          <a:noFill/>
        </p:spPr>
        <p:txBody>
          <a:bodyPr wrap="square" lIns="0" rIns="0" tIns="0" bIns="0" anchor="t">
            <a:spAutoFit/>
          </a:bodyPr>
          <a:lstStyle/>
          <a:p>
            <a:pPr algn="l">
              <a:lnSpc>
                <a:spcPct val="108000"/>
              </a:lnSpc>
              <a:spcBef>
                <a:spcPts val="0"/>
              </a:spcBef>
              <a:spcAft>
                <a:spcPts val="0"/>
              </a:spcAft>
              <a:defRPr sz="1100" b="0">
                <a:solidFill>
                  <a:srgbClr val="5E6C68"/>
                </a:solidFill>
                <a:latin typeface="Arial"/>
              </a:defRPr>
            </a:pPr>
            <a:r>
              <a:t>[2] Waddell (2002); original UDST documentation [5] · [3] Blanchard &amp; Waddell (2017), indexed journal abstract</a:t>
            </a:r>
          </a:p>
        </p:txBody>
      </p:sp>
      <p:sp>
        <p:nvSpPr>
          <p:cNvPr id="8" name="TextBox 7"/>
          <p:cNvSpPr txBox="1"/>
          <p:nvPr/>
        </p:nvSpPr>
        <p:spPr>
          <a:xfrm>
            <a:off x="11192256" y="6473952"/>
            <a:ext cx="420624" cy="246888"/>
          </a:xfrm>
          <a:prstGeom prst="rect">
            <a:avLst/>
          </a:prstGeom>
          <a:noFill/>
        </p:spPr>
        <p:txBody>
          <a:bodyPr wrap="square" lIns="0" rIns="0" tIns="0" bIns="0" anchor="t">
            <a:spAutoFit/>
          </a:bodyPr>
          <a:lstStyle/>
          <a:p>
            <a:pPr algn="r">
              <a:lnSpc>
                <a:spcPct val="108000"/>
              </a:lnSpc>
              <a:spcBef>
                <a:spcPts val="0"/>
              </a:spcBef>
              <a:spcAft>
                <a:spcPts val="0"/>
              </a:spcAft>
              <a:defRPr sz="1200" b="1">
                <a:solidFill>
                  <a:srgbClr val="20685F"/>
                </a:solidFill>
                <a:latin typeface="Arial"/>
              </a:defRPr>
            </a:pPr>
            <a:r>
              <a:t>03</a:t>
            </a:r>
          </a:p>
        </p:txBody>
      </p:sp>
      <p:sp>
        <p:nvSpPr>
          <p:cNvPr id="9" name="Rectangle 8"/>
          <p:cNvSpPr/>
          <p:nvPr/>
        </p:nvSpPr>
        <p:spPr>
          <a:xfrm>
            <a:off x="585216" y="2295144"/>
            <a:ext cx="5349240" cy="2084831"/>
          </a:xfrm>
          <a:prstGeom prst="rect">
            <a:avLst/>
          </a:prstGeom>
          <a:solidFill>
            <a:srgbClr val="FFFFFF"/>
          </a:solidFill>
          <a:ln w="8890">
            <a:solidFill>
              <a:srgbClr val="D9E3D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95528" y="2523744"/>
            <a:ext cx="4928616" cy="429768"/>
          </a:xfrm>
          <a:prstGeom prst="rect">
            <a:avLst/>
          </a:prstGeom>
          <a:noFill/>
        </p:spPr>
        <p:txBody>
          <a:bodyPr wrap="square" lIns="0" rIns="0" tIns="0" bIns="0" anchor="t">
            <a:spAutoFit/>
          </a:bodyPr>
          <a:lstStyle/>
          <a:p>
            <a:pPr algn="l">
              <a:lnSpc>
                <a:spcPct val="108000"/>
              </a:lnSpc>
              <a:spcBef>
                <a:spcPts val="0"/>
              </a:spcBef>
              <a:spcAft>
                <a:spcPts val="0"/>
              </a:spcAft>
              <a:defRPr sz="2400" b="1">
                <a:solidFill>
                  <a:srgbClr val="20685F"/>
                </a:solidFill>
                <a:latin typeface="Arial"/>
              </a:defRPr>
            </a:pPr>
            <a:r>
              <a:t>Integrated planning</a:t>
            </a:r>
          </a:p>
        </p:txBody>
      </p:sp>
      <p:sp>
        <p:nvSpPr>
          <p:cNvPr id="11" name="TextBox 10"/>
          <p:cNvSpPr txBox="1"/>
          <p:nvPr/>
        </p:nvSpPr>
        <p:spPr>
          <a:xfrm>
            <a:off x="795528" y="3035808"/>
            <a:ext cx="4928616" cy="310896"/>
          </a:xfrm>
          <a:prstGeom prst="rect">
            <a:avLst/>
          </a:prstGeom>
          <a:noFill/>
        </p:spPr>
        <p:txBody>
          <a:bodyPr wrap="square" lIns="0" rIns="0" tIns="0" bIns="0" anchor="t">
            <a:spAutoFit/>
          </a:bodyPr>
          <a:lstStyle/>
          <a:p>
            <a:pPr algn="l">
              <a:lnSpc>
                <a:spcPct val="108000"/>
              </a:lnSpc>
              <a:spcBef>
                <a:spcPts val="0"/>
              </a:spcBef>
              <a:spcAft>
                <a:spcPts val="0"/>
              </a:spcAft>
              <a:defRPr sz="1600" b="0">
                <a:solidFill>
                  <a:srgbClr val="5E6C68"/>
                </a:solidFill>
                <a:latin typeface="Arial"/>
              </a:defRPr>
            </a:pPr>
            <a:r>
              <a:t>Waddell · UrbanSim</a:t>
            </a:r>
          </a:p>
        </p:txBody>
      </p:sp>
      <p:sp>
        <p:nvSpPr>
          <p:cNvPr id="12" name="TextBox 11"/>
          <p:cNvSpPr txBox="1"/>
          <p:nvPr/>
        </p:nvSpPr>
        <p:spPr>
          <a:xfrm>
            <a:off x="795528" y="3557016"/>
            <a:ext cx="4928616" cy="658368"/>
          </a:xfrm>
          <a:prstGeom prst="rect">
            <a:avLst/>
          </a:prstGeom>
          <a:noFill/>
        </p:spPr>
        <p:txBody>
          <a:bodyPr wrap="square" lIns="0" rIns="0" tIns="0" bIns="0" anchor="t">
            <a:spAutoFit/>
          </a:bodyPr>
          <a:lstStyle/>
          <a:p>
            <a:pPr algn="l">
              <a:lnSpc>
                <a:spcPct val="108000"/>
              </a:lnSpc>
              <a:spcBef>
                <a:spcPts val="0"/>
              </a:spcBef>
              <a:spcAft>
                <a:spcPts val="0"/>
              </a:spcAft>
              <a:defRPr sz="2200" b="0">
                <a:solidFill>
                  <a:srgbClr val="22312F"/>
                </a:solidFill>
                <a:latin typeface="Arial"/>
              </a:defRPr>
            </a:pPr>
            <a:r>
              <a:t>Land use + transportation</a:t>
            </a:r>
          </a:p>
          <a:p>
            <a:pPr algn="l">
              <a:lnSpc>
                <a:spcPct val="108000"/>
              </a:lnSpc>
              <a:spcBef>
                <a:spcPts val="0"/>
              </a:spcBef>
              <a:spcAft>
                <a:spcPts val="0"/>
              </a:spcAft>
              <a:defRPr sz="2200" b="0">
                <a:solidFill>
                  <a:srgbClr val="22312F"/>
                </a:solidFill>
                <a:latin typeface="Arial"/>
              </a:defRPr>
            </a:pPr>
            <a:r>
              <a:t>+ public policy</a:t>
            </a:r>
          </a:p>
        </p:txBody>
      </p:sp>
      <p:sp>
        <p:nvSpPr>
          <p:cNvPr id="13" name="Rectangle 12"/>
          <p:cNvSpPr/>
          <p:nvPr/>
        </p:nvSpPr>
        <p:spPr>
          <a:xfrm>
            <a:off x="6217920" y="2295144"/>
            <a:ext cx="5349240" cy="2084831"/>
          </a:xfrm>
          <a:prstGeom prst="rect">
            <a:avLst/>
          </a:prstGeom>
          <a:solidFill>
            <a:srgbClr val="FFFFFF"/>
          </a:solidFill>
          <a:ln w="8890">
            <a:solidFill>
              <a:srgbClr val="D9E3D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6428232" y="2523744"/>
            <a:ext cx="4928616" cy="429768"/>
          </a:xfrm>
          <a:prstGeom prst="rect">
            <a:avLst/>
          </a:prstGeom>
          <a:noFill/>
        </p:spPr>
        <p:txBody>
          <a:bodyPr wrap="square" lIns="0" rIns="0" tIns="0" bIns="0" anchor="t">
            <a:spAutoFit/>
          </a:bodyPr>
          <a:lstStyle/>
          <a:p>
            <a:pPr algn="l">
              <a:lnSpc>
                <a:spcPct val="108000"/>
              </a:lnSpc>
              <a:spcBef>
                <a:spcPts val="0"/>
              </a:spcBef>
              <a:spcAft>
                <a:spcPts val="0"/>
              </a:spcAft>
              <a:defRPr sz="2400" b="1">
                <a:solidFill>
                  <a:srgbClr val="20685F"/>
                </a:solidFill>
                <a:latin typeface="Arial"/>
              </a:defRPr>
            </a:pPr>
            <a:r>
              <a:t>Network accessibility</a:t>
            </a:r>
          </a:p>
        </p:txBody>
      </p:sp>
      <p:sp>
        <p:nvSpPr>
          <p:cNvPr id="15" name="TextBox 14"/>
          <p:cNvSpPr txBox="1"/>
          <p:nvPr/>
        </p:nvSpPr>
        <p:spPr>
          <a:xfrm>
            <a:off x="6428232" y="3035808"/>
            <a:ext cx="4928616" cy="310896"/>
          </a:xfrm>
          <a:prstGeom prst="rect">
            <a:avLst/>
          </a:prstGeom>
          <a:noFill/>
        </p:spPr>
        <p:txBody>
          <a:bodyPr wrap="square" lIns="0" rIns="0" tIns="0" bIns="0" anchor="t">
            <a:spAutoFit/>
          </a:bodyPr>
          <a:lstStyle/>
          <a:p>
            <a:pPr algn="l">
              <a:lnSpc>
                <a:spcPct val="108000"/>
              </a:lnSpc>
              <a:spcBef>
                <a:spcPts val="0"/>
              </a:spcBef>
              <a:spcAft>
                <a:spcPts val="0"/>
              </a:spcAft>
              <a:defRPr sz="1600" b="0">
                <a:solidFill>
                  <a:srgbClr val="5E6C68"/>
                </a:solidFill>
                <a:latin typeface="Arial"/>
              </a:defRPr>
            </a:pPr>
            <a:r>
              <a:t>Blanchard &amp; Waddell · UrbanAccess</a:t>
            </a:r>
          </a:p>
        </p:txBody>
      </p:sp>
      <p:sp>
        <p:nvSpPr>
          <p:cNvPr id="16" name="TextBox 15"/>
          <p:cNvSpPr txBox="1"/>
          <p:nvPr/>
        </p:nvSpPr>
        <p:spPr>
          <a:xfrm>
            <a:off x="6428232" y="3557016"/>
            <a:ext cx="4928616" cy="658368"/>
          </a:xfrm>
          <a:prstGeom prst="rect">
            <a:avLst/>
          </a:prstGeom>
          <a:noFill/>
        </p:spPr>
        <p:txBody>
          <a:bodyPr wrap="square" lIns="0" rIns="0" tIns="0" bIns="0" anchor="t">
            <a:spAutoFit/>
          </a:bodyPr>
          <a:lstStyle/>
          <a:p>
            <a:pPr algn="l">
              <a:lnSpc>
                <a:spcPct val="108000"/>
              </a:lnSpc>
              <a:spcBef>
                <a:spcPts val="0"/>
              </a:spcBef>
              <a:spcAft>
                <a:spcPts val="0"/>
              </a:spcAft>
              <a:defRPr sz="2200" b="0">
                <a:solidFill>
                  <a:srgbClr val="22312F"/>
                </a:solidFill>
                <a:latin typeface="Arial"/>
              </a:defRPr>
            </a:pPr>
            <a:r>
              <a:t>Walking + operational</a:t>
            </a:r>
          </a:p>
          <a:p>
            <a:pPr algn="l">
              <a:lnSpc>
                <a:spcPct val="108000"/>
              </a:lnSpc>
              <a:spcBef>
                <a:spcPts val="0"/>
              </a:spcBef>
              <a:spcAft>
                <a:spcPts val="0"/>
              </a:spcAft>
              <a:defRPr sz="2200" b="0">
                <a:solidFill>
                  <a:srgbClr val="22312F"/>
                </a:solidFill>
                <a:latin typeface="Arial"/>
              </a:defRPr>
            </a:pPr>
            <a:r>
              <a:t>transit networks</a:t>
            </a:r>
          </a:p>
        </p:txBody>
      </p:sp>
      <p:sp>
        <p:nvSpPr>
          <p:cNvPr id="17" name="Rectangle 16"/>
          <p:cNvSpPr/>
          <p:nvPr/>
        </p:nvSpPr>
        <p:spPr>
          <a:xfrm>
            <a:off x="585216" y="4745736"/>
            <a:ext cx="10981944" cy="1207008"/>
          </a:xfrm>
          <a:prstGeom prst="rect">
            <a:avLst/>
          </a:prstGeom>
          <a:solidFill>
            <a:srgbClr val="E9F1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13816" y="4946904"/>
            <a:ext cx="10543032" cy="228600"/>
          </a:xfrm>
          <a:prstGeom prst="rect">
            <a:avLst/>
          </a:prstGeom>
          <a:noFill/>
        </p:spPr>
        <p:txBody>
          <a:bodyPr wrap="square" lIns="0" rIns="0" tIns="0" bIns="0" anchor="t">
            <a:spAutoFit/>
          </a:bodyPr>
          <a:lstStyle/>
          <a:p>
            <a:pPr algn="l">
              <a:lnSpc>
                <a:spcPct val="108000"/>
              </a:lnSpc>
              <a:spcBef>
                <a:spcPts val="0"/>
              </a:spcBef>
              <a:spcAft>
                <a:spcPts val="0"/>
              </a:spcAft>
              <a:defRPr sz="1200" b="1">
                <a:solidFill>
                  <a:srgbClr val="20685F"/>
                </a:solidFill>
                <a:latin typeface="Arial"/>
              </a:defRPr>
            </a:pPr>
            <a:r>
              <a:t>CASE-SPECIFIC TASK</a:t>
            </a:r>
          </a:p>
        </p:txBody>
      </p:sp>
      <p:sp>
        <p:nvSpPr>
          <p:cNvPr id="19" name="TextBox 18"/>
          <p:cNvSpPr txBox="1"/>
          <p:nvPr/>
        </p:nvSpPr>
        <p:spPr>
          <a:xfrm>
            <a:off x="813816" y="5266944"/>
            <a:ext cx="10543032" cy="594360"/>
          </a:xfrm>
          <a:prstGeom prst="rect">
            <a:avLst/>
          </a:prstGeom>
          <a:noFill/>
        </p:spPr>
        <p:txBody>
          <a:bodyPr wrap="square" lIns="0" rIns="0" tIns="0" bIns="0" anchor="t">
            <a:spAutoFit/>
          </a:bodyPr>
          <a:lstStyle/>
          <a:p>
            <a:pPr algn="l">
              <a:lnSpc>
                <a:spcPct val="108000"/>
              </a:lnSpc>
              <a:spcBef>
                <a:spcPts val="0"/>
              </a:spcBef>
              <a:spcAft>
                <a:spcPts val="0"/>
              </a:spcAft>
              <a:defRPr sz="2100" b="1">
                <a:solidFill>
                  <a:srgbClr val="22312F"/>
                </a:solidFill>
                <a:latin typeface="Arial"/>
              </a:defRPr>
            </a:pPr>
            <a:r>
              <a:t>Relate industrial designation to usable resources</a:t>
            </a:r>
          </a:p>
          <a:p>
            <a:pPr algn="l">
              <a:lnSpc>
                <a:spcPct val="108000"/>
              </a:lnSpc>
              <a:spcBef>
                <a:spcPts val="0"/>
              </a:spcBef>
              <a:spcAft>
                <a:spcPts val="0"/>
              </a:spcAft>
              <a:defRPr sz="2100" b="1">
                <a:solidFill>
                  <a:srgbClr val="22312F"/>
                </a:solidFill>
                <a:latin typeface="Arial"/>
              </a:defRPr>
            </a:pPr>
            <a:r>
              <a:t>and community accounts of access.</a:t>
            </a:r>
          </a:p>
        </p:txBody>
      </p:sp>
      <p:sp>
        <p:nvSpPr>
          <p:cNvPr id="20" name="TextBox 19"/>
          <p:cNvSpPr txBox="1"/>
          <p:nvPr/>
        </p:nvSpPr>
        <p:spPr>
          <a:xfrm>
            <a:off x="585216" y="6062472"/>
            <a:ext cx="10991088" cy="219456"/>
          </a:xfrm>
          <a:prstGeom prst="rect">
            <a:avLst/>
          </a:prstGeom>
          <a:noFill/>
        </p:spPr>
        <p:txBody>
          <a:bodyPr wrap="square" lIns="0" rIns="0" tIns="0" bIns="0" anchor="t">
            <a:spAutoFit/>
          </a:bodyPr>
          <a:lstStyle/>
          <a:p>
            <a:pPr algn="l">
              <a:lnSpc>
                <a:spcPct val="108000"/>
              </a:lnSpc>
              <a:spcBef>
                <a:spcPts val="0"/>
              </a:spcBef>
              <a:spcAft>
                <a:spcPts val="0"/>
              </a:spcAft>
              <a:defRPr sz="1200" b="0">
                <a:solidFill>
                  <a:srgbClr val="5E6C68"/>
                </a:solidFill>
                <a:latin typeface="Arial"/>
              </a:defRPr>
            </a:pPr>
            <a:r>
              <a:t>These are framing approaches; neither model is reported as used in this study.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BF9"/>
        </a:solidFill>
        <a:effectLst/>
      </p:bgPr>
    </p:bg>
    <p:spTree>
      <p:nvGrpSpPr>
        <p:cNvPr id="1" name=""/>
        <p:cNvGrpSpPr/>
        <p:nvPr/>
      </p:nvGrpSpPr>
      <p:grpSpPr/>
      <p:sp>
        <p:nvSpPr>
          <p:cNvPr id="2" name="Rectangle 1"/>
          <p:cNvSpPr/>
          <p:nvPr/>
        </p:nvSpPr>
        <p:spPr>
          <a:xfrm>
            <a:off x="548640" y="448056"/>
            <a:ext cx="329184" cy="41148"/>
          </a:xfrm>
          <a:prstGeom prst="rect">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978408" y="365760"/>
            <a:ext cx="10561320" cy="256032"/>
          </a:xfrm>
          <a:prstGeom prst="rect">
            <a:avLst/>
          </a:prstGeom>
          <a:noFill/>
        </p:spPr>
        <p:txBody>
          <a:bodyPr wrap="square" lIns="0" rIns="0" tIns="0" bIns="0" anchor="t">
            <a:spAutoFit/>
          </a:bodyPr>
          <a:lstStyle/>
          <a:p>
            <a:pPr algn="l">
              <a:lnSpc>
                <a:spcPct val="108000"/>
              </a:lnSpc>
              <a:spcBef>
                <a:spcPts val="0"/>
              </a:spcBef>
              <a:spcAft>
                <a:spcPts val="0"/>
              </a:spcAft>
              <a:defRPr sz="1150" b="1">
                <a:solidFill>
                  <a:srgbClr val="20685F"/>
                </a:solidFill>
                <a:latin typeface="Arial"/>
              </a:defRPr>
            </a:pPr>
            <a:r>
              <a:t>EXTERNAL CONTEXT · LOWER DUWAMISH</a:t>
            </a:r>
          </a:p>
        </p:txBody>
      </p:sp>
      <p:sp>
        <p:nvSpPr>
          <p:cNvPr id="4" name="TextBox 3"/>
          <p:cNvSpPr txBox="1"/>
          <p:nvPr/>
        </p:nvSpPr>
        <p:spPr>
          <a:xfrm>
            <a:off x="548640" y="832104"/>
            <a:ext cx="11045952" cy="694944"/>
          </a:xfrm>
          <a:prstGeom prst="rect">
            <a:avLst/>
          </a:prstGeom>
          <a:noFill/>
        </p:spPr>
        <p:txBody>
          <a:bodyPr wrap="square" lIns="0" rIns="0" tIns="0" bIns="0" anchor="t">
            <a:spAutoFit/>
          </a:bodyPr>
          <a:lstStyle/>
          <a:p>
            <a:pPr algn="l">
              <a:lnSpc>
                <a:spcPct val="108000"/>
              </a:lnSpc>
              <a:spcBef>
                <a:spcPts val="0"/>
              </a:spcBef>
              <a:spcAft>
                <a:spcPts val="0"/>
              </a:spcAft>
              <a:defRPr sz="2900" b="1">
                <a:solidFill>
                  <a:srgbClr val="22312F"/>
                </a:solidFill>
                <a:latin typeface="Arial"/>
              </a:defRPr>
            </a:pPr>
            <a:r>
              <a:t>Cleanup and public access are planning questions</a:t>
            </a:r>
          </a:p>
        </p:txBody>
      </p:sp>
      <p:cxnSp>
        <p:nvCxnSpPr>
          <p:cNvPr id="5" name="Connector 4"/>
          <p:cNvCxnSpPr/>
          <p:nvPr/>
        </p:nvCxnSpPr>
        <p:spPr>
          <a:xfrm>
            <a:off x="548640" y="6391656"/>
            <a:ext cx="11091672"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48640" y="6487668"/>
            <a:ext cx="10607040" cy="228600"/>
          </a:xfrm>
          <a:prstGeom prst="rect">
            <a:avLst/>
          </a:prstGeom>
          <a:noFill/>
        </p:spPr>
        <p:txBody>
          <a:bodyPr wrap="square" lIns="0" rIns="0" tIns="0" bIns="0" anchor="t">
            <a:spAutoFit/>
          </a:bodyPr>
          <a:lstStyle/>
          <a:p>
            <a:pPr algn="l">
              <a:lnSpc>
                <a:spcPct val="108000"/>
              </a:lnSpc>
              <a:spcBef>
                <a:spcPts val="0"/>
              </a:spcBef>
              <a:spcAft>
                <a:spcPts val="0"/>
              </a:spcAft>
              <a:defRPr sz="1100" b="0">
                <a:solidFill>
                  <a:srgbClr val="5E6C68"/>
                </a:solidFill>
                <a:latin typeface="Arial"/>
              </a:defRPr>
            </a:pPr>
            <a:r>
              <a:t>[4] U.S. EPA (2025), Lower Duwamish Waterway section · Context map: supplied studio PDF p. 5</a:t>
            </a:r>
          </a:p>
        </p:txBody>
      </p:sp>
      <p:sp>
        <p:nvSpPr>
          <p:cNvPr id="7" name="TextBox 6"/>
          <p:cNvSpPr txBox="1"/>
          <p:nvPr/>
        </p:nvSpPr>
        <p:spPr>
          <a:xfrm>
            <a:off x="11192256" y="6473952"/>
            <a:ext cx="420624" cy="246888"/>
          </a:xfrm>
          <a:prstGeom prst="rect">
            <a:avLst/>
          </a:prstGeom>
          <a:noFill/>
        </p:spPr>
        <p:txBody>
          <a:bodyPr wrap="square" lIns="0" rIns="0" tIns="0" bIns="0" anchor="t">
            <a:spAutoFit/>
          </a:bodyPr>
          <a:lstStyle/>
          <a:p>
            <a:pPr algn="r">
              <a:lnSpc>
                <a:spcPct val="108000"/>
              </a:lnSpc>
              <a:spcBef>
                <a:spcPts val="0"/>
              </a:spcBef>
              <a:spcAft>
                <a:spcPts val="0"/>
              </a:spcAft>
              <a:defRPr sz="1200" b="1">
                <a:solidFill>
                  <a:srgbClr val="20685F"/>
                </a:solidFill>
                <a:latin typeface="Arial"/>
              </a:defRPr>
            </a:pPr>
            <a:r>
              <a:t>04</a:t>
            </a:r>
          </a:p>
        </p:txBody>
      </p:sp>
      <p:sp>
        <p:nvSpPr>
          <p:cNvPr id="8" name="Rectangle 7"/>
          <p:cNvSpPr/>
          <p:nvPr/>
        </p:nvSpPr>
        <p:spPr>
          <a:xfrm>
            <a:off x="585216" y="1773936"/>
            <a:ext cx="3986784" cy="429768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Studio context map of Seattle industrial and freight connections; not the study zoning map or official Superfund boundary."/>
          <p:cNvPicPr>
            <a:picLocks noChangeAspect="1"/>
          </p:cNvPicPr>
          <p:nvPr/>
        </p:nvPicPr>
        <p:blipFill>
          <a:blip r:embed="rId3"/>
          <a:stretch>
            <a:fillRect/>
          </a:stretch>
        </p:blipFill>
        <p:spPr>
          <a:xfrm>
            <a:off x="630936" y="2205219"/>
            <a:ext cx="3886200" cy="3179080"/>
          </a:xfrm>
          <a:prstGeom prst="rect">
            <a:avLst/>
          </a:prstGeom>
        </p:spPr>
      </p:pic>
      <p:sp>
        <p:nvSpPr>
          <p:cNvPr id="10" name="TextBox 9"/>
          <p:cNvSpPr txBox="1"/>
          <p:nvPr/>
        </p:nvSpPr>
        <p:spPr>
          <a:xfrm>
            <a:off x="630936" y="5879592"/>
            <a:ext cx="3886200" cy="237744"/>
          </a:xfrm>
          <a:prstGeom prst="rect">
            <a:avLst/>
          </a:prstGeom>
          <a:noFill/>
        </p:spPr>
        <p:txBody>
          <a:bodyPr wrap="square" lIns="0" rIns="0" tIns="0" bIns="0" anchor="t">
            <a:spAutoFit/>
          </a:bodyPr>
          <a:lstStyle/>
          <a:p>
            <a:pPr algn="l">
              <a:lnSpc>
                <a:spcPct val="108000"/>
              </a:lnSpc>
              <a:spcBef>
                <a:spcPts val="0"/>
              </a:spcBef>
              <a:spcAft>
                <a:spcPts val="0"/>
              </a:spcAft>
              <a:defRPr sz="1150" b="0">
                <a:solidFill>
                  <a:srgbClr val="5E6C68"/>
                </a:solidFill>
                <a:latin typeface="Arial"/>
              </a:defRPr>
            </a:pPr>
            <a:r>
              <a:t>Studio context map · not zoning boundaries</a:t>
            </a:r>
          </a:p>
        </p:txBody>
      </p:sp>
      <p:sp>
        <p:nvSpPr>
          <p:cNvPr id="11" name="TextBox 10"/>
          <p:cNvSpPr txBox="1"/>
          <p:nvPr/>
        </p:nvSpPr>
        <p:spPr>
          <a:xfrm>
            <a:off x="5029200" y="1773936"/>
            <a:ext cx="6510528" cy="484632"/>
          </a:xfrm>
          <a:prstGeom prst="rect">
            <a:avLst/>
          </a:prstGeom>
          <a:noFill/>
        </p:spPr>
        <p:txBody>
          <a:bodyPr wrap="square" lIns="0" rIns="0" tIns="0" bIns="0" anchor="t">
            <a:spAutoFit/>
          </a:bodyPr>
          <a:lstStyle/>
          <a:p>
            <a:pPr algn="l">
              <a:lnSpc>
                <a:spcPct val="108000"/>
              </a:lnSpc>
              <a:spcBef>
                <a:spcPts val="0"/>
              </a:spcBef>
              <a:spcAft>
                <a:spcPts val="0"/>
              </a:spcAft>
              <a:defRPr sz="2700" b="1">
                <a:solidFill>
                  <a:srgbClr val="20685F"/>
                </a:solidFill>
                <a:latin typeface="Arial"/>
              </a:defRPr>
            </a:pPr>
            <a:r>
              <a:t>5-mile waterway</a:t>
            </a:r>
          </a:p>
        </p:txBody>
      </p:sp>
      <p:sp>
        <p:nvSpPr>
          <p:cNvPr id="12" name="TextBox 11"/>
          <p:cNvSpPr txBox="1"/>
          <p:nvPr/>
        </p:nvSpPr>
        <p:spPr>
          <a:xfrm>
            <a:off x="5029200" y="2350008"/>
            <a:ext cx="6510528" cy="521207"/>
          </a:xfrm>
          <a:prstGeom prst="rect">
            <a:avLst/>
          </a:prstGeom>
          <a:noFill/>
        </p:spPr>
        <p:txBody>
          <a:bodyPr wrap="square" lIns="0" rIns="0" tIns="0" bIns="0" anchor="t">
            <a:spAutoFit/>
          </a:bodyPr>
          <a:lstStyle/>
          <a:p>
            <a:pPr algn="l">
              <a:lnSpc>
                <a:spcPct val="108000"/>
              </a:lnSpc>
              <a:spcBef>
                <a:spcPts val="0"/>
              </a:spcBef>
              <a:spcAft>
                <a:spcPts val="0"/>
              </a:spcAft>
              <a:defRPr sz="1800" b="0">
                <a:solidFill>
                  <a:srgbClr val="5E6C68"/>
                </a:solidFill>
                <a:latin typeface="Arial"/>
              </a:defRPr>
            </a:pPr>
            <a:r>
              <a:t>EPA’s Superfund site extent; separate from neighborhood zoning shares.</a:t>
            </a:r>
          </a:p>
        </p:txBody>
      </p:sp>
      <p:cxnSp>
        <p:nvCxnSpPr>
          <p:cNvPr id="13" name="Connector 12"/>
          <p:cNvCxnSpPr/>
          <p:nvPr/>
        </p:nvCxnSpPr>
        <p:spPr>
          <a:xfrm>
            <a:off x="5157216" y="3108960"/>
            <a:ext cx="0" cy="2596896"/>
          </a:xfrm>
          <a:prstGeom prst="line">
            <a:avLst/>
          </a:prstGeom>
          <a:ln w="254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14" name="Rectangle 13"/>
          <p:cNvSpPr/>
          <p:nvPr/>
        </p:nvSpPr>
        <p:spPr>
          <a:xfrm>
            <a:off x="5084064" y="3136391"/>
            <a:ext cx="146304" cy="146304"/>
          </a:xfrm>
          <a:prstGeom prst="rect">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449824" y="3054096"/>
            <a:ext cx="1591056" cy="274320"/>
          </a:xfrm>
          <a:prstGeom prst="rect">
            <a:avLst/>
          </a:prstGeom>
          <a:noFill/>
        </p:spPr>
        <p:txBody>
          <a:bodyPr wrap="square" lIns="0" rIns="0" tIns="0" bIns="0" anchor="t">
            <a:spAutoFit/>
          </a:bodyPr>
          <a:lstStyle/>
          <a:p>
            <a:pPr algn="l">
              <a:lnSpc>
                <a:spcPct val="108000"/>
              </a:lnSpc>
              <a:spcBef>
                <a:spcPts val="0"/>
              </a:spcBef>
              <a:spcAft>
                <a:spcPts val="0"/>
              </a:spcAft>
              <a:defRPr sz="1600" b="1">
                <a:solidFill>
                  <a:srgbClr val="20685F"/>
                </a:solidFill>
                <a:latin typeface="Arial"/>
              </a:defRPr>
            </a:pPr>
            <a:r>
              <a:t>2001</a:t>
            </a:r>
          </a:p>
        </p:txBody>
      </p:sp>
      <p:sp>
        <p:nvSpPr>
          <p:cNvPr id="16" name="TextBox 15"/>
          <p:cNvSpPr txBox="1"/>
          <p:nvPr/>
        </p:nvSpPr>
        <p:spPr>
          <a:xfrm>
            <a:off x="7168896" y="3044952"/>
            <a:ext cx="4379976" cy="347472"/>
          </a:xfrm>
          <a:prstGeom prst="rect">
            <a:avLst/>
          </a:prstGeom>
          <a:noFill/>
        </p:spPr>
        <p:txBody>
          <a:bodyPr wrap="square" lIns="0" rIns="0" tIns="0" bIns="0" anchor="t">
            <a:spAutoFit/>
          </a:bodyPr>
          <a:lstStyle/>
          <a:p>
            <a:pPr algn="l">
              <a:lnSpc>
                <a:spcPct val="108000"/>
              </a:lnSpc>
              <a:spcBef>
                <a:spcPts val="0"/>
              </a:spcBef>
              <a:spcAft>
                <a:spcPts val="0"/>
              </a:spcAft>
              <a:defRPr sz="2000" b="1">
                <a:solidFill>
                  <a:srgbClr val="22312F"/>
                </a:solidFill>
                <a:latin typeface="Arial"/>
              </a:defRPr>
            </a:pPr>
            <a:r>
              <a:t>National Priorities List</a:t>
            </a:r>
          </a:p>
        </p:txBody>
      </p:sp>
      <p:sp>
        <p:nvSpPr>
          <p:cNvPr id="17" name="TextBox 16"/>
          <p:cNvSpPr txBox="1"/>
          <p:nvPr/>
        </p:nvSpPr>
        <p:spPr>
          <a:xfrm>
            <a:off x="7168896" y="3447288"/>
            <a:ext cx="4379976" cy="566928"/>
          </a:xfrm>
          <a:prstGeom prst="rect">
            <a:avLst/>
          </a:prstGeom>
          <a:noFill/>
        </p:spPr>
        <p:txBody>
          <a:bodyPr wrap="square" lIns="0" rIns="0" tIns="0" bIns="0" anchor="t">
            <a:spAutoFit/>
          </a:bodyPr>
          <a:lstStyle/>
          <a:p>
            <a:pPr algn="l">
              <a:lnSpc>
                <a:spcPct val="108000"/>
              </a:lnSpc>
              <a:spcBef>
                <a:spcPts val="0"/>
              </a:spcBef>
              <a:spcAft>
                <a:spcPts val="0"/>
              </a:spcAft>
              <a:defRPr sz="1600" b="0">
                <a:solidFill>
                  <a:srgbClr val="5E6C68"/>
                </a:solidFill>
                <a:latin typeface="Arial"/>
              </a:defRPr>
            </a:pPr>
            <a:r>
              <a:t>Lower Duwamish site added</a:t>
            </a:r>
          </a:p>
        </p:txBody>
      </p:sp>
      <p:sp>
        <p:nvSpPr>
          <p:cNvPr id="18" name="Rectangle 17"/>
          <p:cNvSpPr/>
          <p:nvPr/>
        </p:nvSpPr>
        <p:spPr>
          <a:xfrm>
            <a:off x="5084064" y="4114800"/>
            <a:ext cx="146304" cy="146304"/>
          </a:xfrm>
          <a:prstGeom prst="rect">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5449824" y="4032504"/>
            <a:ext cx="1591056" cy="274320"/>
          </a:xfrm>
          <a:prstGeom prst="rect">
            <a:avLst/>
          </a:prstGeom>
          <a:noFill/>
        </p:spPr>
        <p:txBody>
          <a:bodyPr wrap="square" lIns="0" rIns="0" tIns="0" bIns="0" anchor="t">
            <a:spAutoFit/>
          </a:bodyPr>
          <a:lstStyle/>
          <a:p>
            <a:pPr algn="l">
              <a:lnSpc>
                <a:spcPct val="108000"/>
              </a:lnSpc>
              <a:spcBef>
                <a:spcPts val="0"/>
              </a:spcBef>
              <a:spcAft>
                <a:spcPts val="0"/>
              </a:spcAft>
              <a:defRPr sz="1600" b="1">
                <a:solidFill>
                  <a:srgbClr val="20685F"/>
                </a:solidFill>
                <a:latin typeface="Arial"/>
              </a:defRPr>
            </a:pPr>
            <a:r>
              <a:t>2014</a:t>
            </a:r>
          </a:p>
        </p:txBody>
      </p:sp>
      <p:sp>
        <p:nvSpPr>
          <p:cNvPr id="20" name="TextBox 19"/>
          <p:cNvSpPr txBox="1"/>
          <p:nvPr/>
        </p:nvSpPr>
        <p:spPr>
          <a:xfrm>
            <a:off x="7168896" y="4023360"/>
            <a:ext cx="4379976" cy="347472"/>
          </a:xfrm>
          <a:prstGeom prst="rect">
            <a:avLst/>
          </a:prstGeom>
          <a:noFill/>
        </p:spPr>
        <p:txBody>
          <a:bodyPr wrap="square" lIns="0" rIns="0" tIns="0" bIns="0" anchor="t">
            <a:spAutoFit/>
          </a:bodyPr>
          <a:lstStyle/>
          <a:p>
            <a:pPr algn="l">
              <a:lnSpc>
                <a:spcPct val="108000"/>
              </a:lnSpc>
              <a:spcBef>
                <a:spcPts val="0"/>
              </a:spcBef>
              <a:spcAft>
                <a:spcPts val="0"/>
              </a:spcAft>
              <a:defRPr sz="2000" b="1">
                <a:solidFill>
                  <a:srgbClr val="22312F"/>
                </a:solidFill>
                <a:latin typeface="Arial"/>
              </a:defRPr>
            </a:pPr>
            <a:r>
              <a:t>Cleanup plan selected</a:t>
            </a:r>
          </a:p>
        </p:txBody>
      </p:sp>
      <p:sp>
        <p:nvSpPr>
          <p:cNvPr id="21" name="TextBox 20"/>
          <p:cNvSpPr txBox="1"/>
          <p:nvPr/>
        </p:nvSpPr>
        <p:spPr>
          <a:xfrm>
            <a:off x="7168896" y="4425696"/>
            <a:ext cx="4379976" cy="566928"/>
          </a:xfrm>
          <a:prstGeom prst="rect">
            <a:avLst/>
          </a:prstGeom>
          <a:noFill/>
        </p:spPr>
        <p:txBody>
          <a:bodyPr wrap="square" lIns="0" rIns="0" tIns="0" bIns="0" anchor="t">
            <a:spAutoFit/>
          </a:bodyPr>
          <a:lstStyle/>
          <a:p>
            <a:pPr algn="l">
              <a:lnSpc>
                <a:spcPct val="108000"/>
              </a:lnSpc>
              <a:spcBef>
                <a:spcPts val="0"/>
              </a:spcBef>
              <a:spcAft>
                <a:spcPts val="0"/>
              </a:spcAft>
              <a:defRPr sz="1600" b="0">
                <a:solidFill>
                  <a:srgbClr val="5E6C68"/>
                </a:solidFill>
                <a:latin typeface="Arial"/>
              </a:defRPr>
            </a:pPr>
            <a:r>
              <a:t>EPA selects the site remedy</a:t>
            </a:r>
          </a:p>
        </p:txBody>
      </p:sp>
      <p:sp>
        <p:nvSpPr>
          <p:cNvPr id="22" name="Rectangle 21"/>
          <p:cNvSpPr/>
          <p:nvPr/>
        </p:nvSpPr>
        <p:spPr>
          <a:xfrm>
            <a:off x="5084064" y="5093208"/>
            <a:ext cx="146304" cy="146304"/>
          </a:xfrm>
          <a:prstGeom prst="rect">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449824" y="5010912"/>
            <a:ext cx="1591056" cy="274320"/>
          </a:xfrm>
          <a:prstGeom prst="rect">
            <a:avLst/>
          </a:prstGeom>
          <a:noFill/>
        </p:spPr>
        <p:txBody>
          <a:bodyPr wrap="square" lIns="0" rIns="0" tIns="0" bIns="0" anchor="t">
            <a:spAutoFit/>
          </a:bodyPr>
          <a:lstStyle/>
          <a:p>
            <a:pPr algn="l">
              <a:lnSpc>
                <a:spcPct val="108000"/>
              </a:lnSpc>
              <a:spcBef>
                <a:spcPts val="0"/>
              </a:spcBef>
              <a:spcAft>
                <a:spcPts val="0"/>
              </a:spcAft>
              <a:defRPr sz="1600" b="1">
                <a:solidFill>
                  <a:srgbClr val="20685F"/>
                </a:solidFill>
                <a:latin typeface="Arial"/>
              </a:defRPr>
            </a:pPr>
            <a:r>
              <a:t>SUMMER 2022</a:t>
            </a:r>
          </a:p>
        </p:txBody>
      </p:sp>
      <p:sp>
        <p:nvSpPr>
          <p:cNvPr id="24" name="TextBox 23"/>
          <p:cNvSpPr txBox="1"/>
          <p:nvPr/>
        </p:nvSpPr>
        <p:spPr>
          <a:xfrm>
            <a:off x="7168896" y="5001768"/>
            <a:ext cx="4379976" cy="347472"/>
          </a:xfrm>
          <a:prstGeom prst="rect">
            <a:avLst/>
          </a:prstGeom>
          <a:noFill/>
        </p:spPr>
        <p:txBody>
          <a:bodyPr wrap="square" lIns="0" rIns="0" tIns="0" bIns="0" anchor="t">
            <a:spAutoFit/>
          </a:bodyPr>
          <a:lstStyle/>
          <a:p>
            <a:pPr algn="l">
              <a:lnSpc>
                <a:spcPct val="108000"/>
              </a:lnSpc>
              <a:spcBef>
                <a:spcPts val="0"/>
              </a:spcBef>
              <a:spcAft>
                <a:spcPts val="0"/>
              </a:spcAft>
              <a:defRPr sz="2000" b="1">
                <a:solidFill>
                  <a:srgbClr val="22312F"/>
                </a:solidFill>
                <a:latin typeface="Arial"/>
              </a:defRPr>
            </a:pPr>
            <a:r>
              <a:t>Duwamish River People’s Park</a:t>
            </a:r>
          </a:p>
        </p:txBody>
      </p:sp>
      <p:sp>
        <p:nvSpPr>
          <p:cNvPr id="25" name="TextBox 24"/>
          <p:cNvSpPr txBox="1"/>
          <p:nvPr/>
        </p:nvSpPr>
        <p:spPr>
          <a:xfrm>
            <a:off x="7168896" y="5404104"/>
            <a:ext cx="4379976" cy="566928"/>
          </a:xfrm>
          <a:prstGeom prst="rect">
            <a:avLst/>
          </a:prstGeom>
          <a:noFill/>
        </p:spPr>
        <p:txBody>
          <a:bodyPr wrap="square" lIns="0" rIns="0" tIns="0" bIns="0" anchor="t">
            <a:spAutoFit/>
          </a:bodyPr>
          <a:lstStyle/>
          <a:p>
            <a:pPr algn="l">
              <a:lnSpc>
                <a:spcPct val="108000"/>
              </a:lnSpc>
              <a:spcBef>
                <a:spcPts val="0"/>
              </a:spcBef>
              <a:spcAft>
                <a:spcPts val="0"/>
              </a:spcAft>
              <a:defRPr sz="1600" b="0">
                <a:solidFill>
                  <a:srgbClr val="5E6C68"/>
                </a:solidFill>
                <a:latin typeface="Arial"/>
              </a:defRPr>
            </a:pPr>
            <a:r>
              <a:t>Opens; EPA describes habitat restoration</a:t>
            </a:r>
          </a:p>
          <a:p>
            <a:pPr algn="l">
              <a:lnSpc>
                <a:spcPct val="108000"/>
              </a:lnSpc>
              <a:spcBef>
                <a:spcPts val="0"/>
              </a:spcBef>
              <a:spcAft>
                <a:spcPts val="0"/>
              </a:spcAft>
              <a:defRPr sz="1600" b="0">
                <a:solidFill>
                  <a:srgbClr val="5E6C68"/>
                </a:solidFill>
                <a:latin typeface="Arial"/>
              </a:defRPr>
            </a:pPr>
            <a:r>
              <a:t>and increased public river access</a:t>
            </a:r>
          </a:p>
        </p:txBody>
      </p:sp>
      <p:sp>
        <p:nvSpPr>
          <p:cNvPr id="26" name="TextBox 25"/>
          <p:cNvSpPr txBox="1"/>
          <p:nvPr/>
        </p:nvSpPr>
        <p:spPr>
          <a:xfrm>
            <a:off x="5029200" y="6062472"/>
            <a:ext cx="6510528" cy="228600"/>
          </a:xfrm>
          <a:prstGeom prst="rect">
            <a:avLst/>
          </a:prstGeom>
          <a:noFill/>
        </p:spPr>
        <p:txBody>
          <a:bodyPr wrap="square" lIns="0" rIns="0" tIns="0" bIns="0" anchor="t">
            <a:spAutoFit/>
          </a:bodyPr>
          <a:lstStyle/>
          <a:p>
            <a:pPr algn="l">
              <a:lnSpc>
                <a:spcPct val="108000"/>
              </a:lnSpc>
              <a:spcBef>
                <a:spcPts val="0"/>
              </a:spcBef>
              <a:spcAft>
                <a:spcPts val="0"/>
              </a:spcAft>
              <a:defRPr sz="1150" b="0">
                <a:solidFill>
                  <a:srgbClr val="5E6C68"/>
                </a:solidFill>
                <a:latin typeface="Arial"/>
              </a:defRPr>
            </a:pPr>
            <a:r>
              <a:t>Milestones provide context; they do not establish corridor-wide access outcomes.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BF9"/>
        </a:solidFill>
        <a:effectLst/>
      </p:bgPr>
    </p:bg>
    <p:spTree>
      <p:nvGrpSpPr>
        <p:cNvPr id="1" name=""/>
        <p:cNvGrpSpPr/>
        <p:nvPr/>
      </p:nvGrpSpPr>
      <p:grpSpPr/>
      <p:sp>
        <p:nvSpPr>
          <p:cNvPr id="2" name="Rectangle 1"/>
          <p:cNvSpPr/>
          <p:nvPr/>
        </p:nvSpPr>
        <p:spPr>
          <a:xfrm>
            <a:off x="548640" y="448056"/>
            <a:ext cx="329184" cy="41148"/>
          </a:xfrm>
          <a:prstGeom prst="rect">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978408" y="365760"/>
            <a:ext cx="10561320" cy="256032"/>
          </a:xfrm>
          <a:prstGeom prst="rect">
            <a:avLst/>
          </a:prstGeom>
          <a:noFill/>
        </p:spPr>
        <p:txBody>
          <a:bodyPr wrap="square" lIns="0" rIns="0" tIns="0" bIns="0" anchor="t">
            <a:spAutoFit/>
          </a:bodyPr>
          <a:lstStyle/>
          <a:p>
            <a:pPr algn="l">
              <a:lnSpc>
                <a:spcPct val="108000"/>
              </a:lnSpc>
              <a:spcBef>
                <a:spcPts val="0"/>
              </a:spcBef>
              <a:spcAft>
                <a:spcPts val="0"/>
              </a:spcAft>
              <a:defRPr sz="1150" b="1">
                <a:solidFill>
                  <a:srgbClr val="20685F"/>
                </a:solidFill>
                <a:latin typeface="Arial"/>
              </a:defRPr>
            </a:pPr>
            <a:r>
              <a:t>APPROACH · REPORTED STUDY METHODS</a:t>
            </a:r>
          </a:p>
        </p:txBody>
      </p:sp>
      <p:sp>
        <p:nvSpPr>
          <p:cNvPr id="4" name="TextBox 3"/>
          <p:cNvSpPr txBox="1"/>
          <p:nvPr/>
        </p:nvSpPr>
        <p:spPr>
          <a:xfrm>
            <a:off x="548640" y="832104"/>
            <a:ext cx="11045952" cy="694944"/>
          </a:xfrm>
          <a:prstGeom prst="rect">
            <a:avLst/>
          </a:prstGeom>
          <a:noFill/>
        </p:spPr>
        <p:txBody>
          <a:bodyPr wrap="square" lIns="0" rIns="0" tIns="0" bIns="0" anchor="t">
            <a:spAutoFit/>
          </a:bodyPr>
          <a:lstStyle/>
          <a:p>
            <a:pPr algn="l">
              <a:lnSpc>
                <a:spcPct val="108000"/>
              </a:lnSpc>
              <a:spcBef>
                <a:spcPts val="0"/>
              </a:spcBef>
              <a:spcAft>
                <a:spcPts val="0"/>
              </a:spcAft>
              <a:defRPr sz="3100" b="1">
                <a:solidFill>
                  <a:srgbClr val="22312F"/>
                </a:solidFill>
                <a:latin typeface="Arial"/>
              </a:defRPr>
            </a:pPr>
            <a:r>
              <a:t>Connect spatial patterns with community input</a:t>
            </a:r>
          </a:p>
        </p:txBody>
      </p:sp>
      <p:sp>
        <p:nvSpPr>
          <p:cNvPr id="5" name="TextBox 4"/>
          <p:cNvSpPr txBox="1"/>
          <p:nvPr/>
        </p:nvSpPr>
        <p:spPr>
          <a:xfrm>
            <a:off x="548640" y="1536192"/>
            <a:ext cx="11045952" cy="502920"/>
          </a:xfrm>
          <a:prstGeom prst="rect">
            <a:avLst/>
          </a:prstGeom>
          <a:noFill/>
        </p:spPr>
        <p:txBody>
          <a:bodyPr wrap="square" lIns="0" rIns="0" tIns="0" bIns="0" anchor="t">
            <a:spAutoFit/>
          </a:bodyPr>
          <a:lstStyle/>
          <a:p>
            <a:pPr algn="l">
              <a:lnSpc>
                <a:spcPct val="108000"/>
              </a:lnSpc>
              <a:spcBef>
                <a:spcPts val="0"/>
              </a:spcBef>
              <a:spcAft>
                <a:spcPts val="0"/>
              </a:spcAft>
              <a:defRPr sz="1900" b="0">
                <a:solidFill>
                  <a:srgbClr val="5E6C68"/>
                </a:solidFill>
                <a:latin typeface="Arial"/>
              </a:defRPr>
            </a:pPr>
            <a:r>
              <a:t>Read spatial conditions and household context alongside lived experience</a:t>
            </a:r>
          </a:p>
        </p:txBody>
      </p:sp>
      <p:cxnSp>
        <p:nvCxnSpPr>
          <p:cNvPr id="6" name="Connector 5"/>
          <p:cNvCxnSpPr/>
          <p:nvPr/>
        </p:nvCxnSpPr>
        <p:spPr>
          <a:xfrm>
            <a:off x="548640" y="6391656"/>
            <a:ext cx="11091672"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548640" y="6487668"/>
            <a:ext cx="10607040" cy="228600"/>
          </a:xfrm>
          <a:prstGeom prst="rect">
            <a:avLst/>
          </a:prstGeom>
          <a:noFill/>
        </p:spPr>
        <p:txBody>
          <a:bodyPr wrap="square" lIns="0" rIns="0" tIns="0" bIns="0" anchor="t">
            <a:spAutoFit/>
          </a:bodyPr>
          <a:lstStyle/>
          <a:p>
            <a:pPr algn="l">
              <a:lnSpc>
                <a:spcPct val="108000"/>
              </a:lnSpc>
              <a:spcBef>
                <a:spcPts val="0"/>
              </a:spcBef>
              <a:spcAft>
                <a:spcPts val="0"/>
              </a:spcAft>
              <a:defRPr sz="1100" b="0">
                <a:solidFill>
                  <a:srgbClr val="5E6C68"/>
                </a:solidFill>
                <a:latin typeface="Arial"/>
              </a:defRPr>
            </a:pPr>
            <a:r>
              <a:t>Supplied ACSP abstract · Presenter clarification: team–community workshop; approximate 2023–2025 period</a:t>
            </a:r>
          </a:p>
        </p:txBody>
      </p:sp>
      <p:sp>
        <p:nvSpPr>
          <p:cNvPr id="8" name="TextBox 7"/>
          <p:cNvSpPr txBox="1"/>
          <p:nvPr/>
        </p:nvSpPr>
        <p:spPr>
          <a:xfrm>
            <a:off x="11192256" y="6473952"/>
            <a:ext cx="420624" cy="246888"/>
          </a:xfrm>
          <a:prstGeom prst="rect">
            <a:avLst/>
          </a:prstGeom>
          <a:noFill/>
        </p:spPr>
        <p:txBody>
          <a:bodyPr wrap="square" lIns="0" rIns="0" tIns="0" bIns="0" anchor="t">
            <a:spAutoFit/>
          </a:bodyPr>
          <a:lstStyle/>
          <a:p>
            <a:pPr algn="r">
              <a:lnSpc>
                <a:spcPct val="108000"/>
              </a:lnSpc>
              <a:spcBef>
                <a:spcPts val="0"/>
              </a:spcBef>
              <a:spcAft>
                <a:spcPts val="0"/>
              </a:spcAft>
              <a:defRPr sz="1200" b="1">
                <a:solidFill>
                  <a:srgbClr val="20685F"/>
                </a:solidFill>
                <a:latin typeface="Arial"/>
              </a:defRPr>
            </a:pPr>
            <a:r>
              <a:t>05</a:t>
            </a:r>
          </a:p>
        </p:txBody>
      </p:sp>
      <p:sp>
        <p:nvSpPr>
          <p:cNvPr id="9" name="Rectangle 8"/>
          <p:cNvSpPr/>
          <p:nvPr/>
        </p:nvSpPr>
        <p:spPr>
          <a:xfrm>
            <a:off x="585216" y="2423160"/>
            <a:ext cx="3456432" cy="2514600"/>
          </a:xfrm>
          <a:prstGeom prst="rect">
            <a:avLst/>
          </a:prstGeom>
          <a:solidFill>
            <a:srgbClr val="FFFFFF"/>
          </a:solidFill>
          <a:ln w="8890">
            <a:solidFill>
              <a:srgbClr val="D9E3D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86384" y="2715768"/>
            <a:ext cx="3054096" cy="475488"/>
          </a:xfrm>
          <a:prstGeom prst="rect">
            <a:avLst/>
          </a:prstGeom>
          <a:noFill/>
        </p:spPr>
        <p:txBody>
          <a:bodyPr wrap="square" lIns="0" rIns="0" tIns="0" bIns="0" anchor="t">
            <a:spAutoFit/>
          </a:bodyPr>
          <a:lstStyle/>
          <a:p>
            <a:pPr algn="l">
              <a:lnSpc>
                <a:spcPct val="108000"/>
              </a:lnSpc>
              <a:spcBef>
                <a:spcPts val="0"/>
              </a:spcBef>
              <a:spcAft>
                <a:spcPts val="0"/>
              </a:spcAft>
              <a:defRPr sz="2300" b="1">
                <a:solidFill>
                  <a:srgbClr val="20685F"/>
                </a:solidFill>
                <a:latin typeface="Arial"/>
              </a:defRPr>
            </a:pPr>
            <a:r>
              <a:t>Spatial patterns</a:t>
            </a:r>
          </a:p>
        </p:txBody>
      </p:sp>
      <p:sp>
        <p:nvSpPr>
          <p:cNvPr id="11" name="TextBox 10"/>
          <p:cNvSpPr txBox="1"/>
          <p:nvPr/>
        </p:nvSpPr>
        <p:spPr>
          <a:xfrm>
            <a:off x="786384" y="3410712"/>
            <a:ext cx="3054096" cy="530352"/>
          </a:xfrm>
          <a:prstGeom prst="rect">
            <a:avLst/>
          </a:prstGeom>
          <a:noFill/>
        </p:spPr>
        <p:txBody>
          <a:bodyPr wrap="square" lIns="0" rIns="0" tIns="0" bIns="0" anchor="t">
            <a:spAutoFit/>
          </a:bodyPr>
          <a:lstStyle/>
          <a:p>
            <a:pPr algn="l">
              <a:lnSpc>
                <a:spcPct val="108000"/>
              </a:lnSpc>
              <a:spcBef>
                <a:spcPts val="0"/>
              </a:spcBef>
              <a:spcAft>
                <a:spcPts val="0"/>
              </a:spcAft>
              <a:defRPr sz="1300" b="1">
                <a:solidFill>
                  <a:srgbClr val="5E6C68"/>
                </a:solidFill>
                <a:latin typeface="Arial"/>
              </a:defRPr>
            </a:pPr>
            <a:r>
              <a:t>MUNICIPAL DATA + GIS</a:t>
            </a:r>
          </a:p>
        </p:txBody>
      </p:sp>
      <p:sp>
        <p:nvSpPr>
          <p:cNvPr id="12" name="TextBox 11"/>
          <p:cNvSpPr txBox="1"/>
          <p:nvPr/>
        </p:nvSpPr>
        <p:spPr>
          <a:xfrm>
            <a:off x="786384" y="4087368"/>
            <a:ext cx="3054096" cy="612648"/>
          </a:xfrm>
          <a:prstGeom prst="rect">
            <a:avLst/>
          </a:prstGeom>
          <a:noFill/>
        </p:spPr>
        <p:txBody>
          <a:bodyPr wrap="square" lIns="0" rIns="0" tIns="0" bIns="0" anchor="t">
            <a:spAutoFit/>
          </a:bodyPr>
          <a:lstStyle/>
          <a:p>
            <a:pPr algn="l">
              <a:lnSpc>
                <a:spcPct val="108000"/>
              </a:lnSpc>
              <a:spcBef>
                <a:spcPts val="0"/>
              </a:spcBef>
              <a:spcAft>
                <a:spcPts val="0"/>
              </a:spcAft>
              <a:defRPr sz="1700" b="0">
                <a:solidFill>
                  <a:srgbClr val="22312F"/>
                </a:solidFill>
                <a:latin typeface="Arial"/>
              </a:defRPr>
            </a:pPr>
            <a:r>
              <a:t>Zoning + public and</a:t>
            </a:r>
          </a:p>
          <a:p>
            <a:pPr algn="l">
              <a:lnSpc>
                <a:spcPct val="108000"/>
              </a:lnSpc>
              <a:spcBef>
                <a:spcPts val="0"/>
              </a:spcBef>
              <a:spcAft>
                <a:spcPts val="0"/>
              </a:spcAft>
              <a:defRPr sz="1700" b="0">
                <a:solidFill>
                  <a:srgbClr val="22312F"/>
                </a:solidFill>
                <a:latin typeface="Arial"/>
              </a:defRPr>
            </a:pPr>
            <a:r>
              <a:t>environmental resources</a:t>
            </a:r>
          </a:p>
        </p:txBody>
      </p:sp>
      <p:sp>
        <p:nvSpPr>
          <p:cNvPr id="13" name="Rectangle 12"/>
          <p:cNvSpPr/>
          <p:nvPr/>
        </p:nvSpPr>
        <p:spPr>
          <a:xfrm>
            <a:off x="4361688" y="2423160"/>
            <a:ext cx="3456432" cy="2514600"/>
          </a:xfrm>
          <a:prstGeom prst="rect">
            <a:avLst/>
          </a:prstGeom>
          <a:solidFill>
            <a:srgbClr val="FFFFFF"/>
          </a:solidFill>
          <a:ln w="8890">
            <a:solidFill>
              <a:srgbClr val="D9E3D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562855" y="2715768"/>
            <a:ext cx="3054096" cy="475488"/>
          </a:xfrm>
          <a:prstGeom prst="rect">
            <a:avLst/>
          </a:prstGeom>
          <a:noFill/>
        </p:spPr>
        <p:txBody>
          <a:bodyPr wrap="square" lIns="0" rIns="0" tIns="0" bIns="0" anchor="t">
            <a:spAutoFit/>
          </a:bodyPr>
          <a:lstStyle/>
          <a:p>
            <a:pPr algn="l">
              <a:lnSpc>
                <a:spcPct val="108000"/>
              </a:lnSpc>
              <a:spcBef>
                <a:spcPts val="0"/>
              </a:spcBef>
              <a:spcAft>
                <a:spcPts val="0"/>
              </a:spcAft>
              <a:defRPr sz="2300" b="1">
                <a:solidFill>
                  <a:srgbClr val="20685F"/>
                </a:solidFill>
                <a:latin typeface="Arial"/>
              </a:defRPr>
            </a:pPr>
            <a:r>
              <a:t>Household context</a:t>
            </a:r>
          </a:p>
        </p:txBody>
      </p:sp>
      <p:sp>
        <p:nvSpPr>
          <p:cNvPr id="15" name="TextBox 14"/>
          <p:cNvSpPr txBox="1"/>
          <p:nvPr/>
        </p:nvSpPr>
        <p:spPr>
          <a:xfrm>
            <a:off x="4562855" y="3410712"/>
            <a:ext cx="3054096" cy="530352"/>
          </a:xfrm>
          <a:prstGeom prst="rect">
            <a:avLst/>
          </a:prstGeom>
          <a:noFill/>
        </p:spPr>
        <p:txBody>
          <a:bodyPr wrap="square" lIns="0" rIns="0" tIns="0" bIns="0" anchor="t">
            <a:spAutoFit/>
          </a:bodyPr>
          <a:lstStyle/>
          <a:p>
            <a:pPr algn="l">
              <a:lnSpc>
                <a:spcPct val="108000"/>
              </a:lnSpc>
              <a:spcBef>
                <a:spcPts val="0"/>
              </a:spcBef>
              <a:spcAft>
                <a:spcPts val="0"/>
              </a:spcAft>
              <a:defRPr sz="1300" b="1">
                <a:solidFill>
                  <a:srgbClr val="5E6C68"/>
                </a:solidFill>
                <a:latin typeface="Arial"/>
              </a:defRPr>
            </a:pPr>
            <a:r>
              <a:t>AMERICAN COMMUNITY SURVEY</a:t>
            </a:r>
          </a:p>
        </p:txBody>
      </p:sp>
      <p:sp>
        <p:nvSpPr>
          <p:cNvPr id="16" name="TextBox 15"/>
          <p:cNvSpPr txBox="1"/>
          <p:nvPr/>
        </p:nvSpPr>
        <p:spPr>
          <a:xfrm>
            <a:off x="4562855" y="4087368"/>
            <a:ext cx="3054096" cy="612648"/>
          </a:xfrm>
          <a:prstGeom prst="rect">
            <a:avLst/>
          </a:prstGeom>
          <a:noFill/>
        </p:spPr>
        <p:txBody>
          <a:bodyPr wrap="square" lIns="0" rIns="0" tIns="0" bIns="0" anchor="t">
            <a:spAutoFit/>
          </a:bodyPr>
          <a:lstStyle/>
          <a:p>
            <a:pPr algn="l">
              <a:lnSpc>
                <a:spcPct val="108000"/>
              </a:lnSpc>
              <a:spcBef>
                <a:spcPts val="0"/>
              </a:spcBef>
              <a:spcAft>
                <a:spcPts val="0"/>
              </a:spcAft>
              <a:defRPr sz="1700" b="0">
                <a:solidFill>
                  <a:srgbClr val="22312F"/>
                </a:solidFill>
                <a:latin typeface="Arial"/>
              </a:defRPr>
            </a:pPr>
            <a:r>
              <a:t>Socioeconomic conditions</a:t>
            </a:r>
          </a:p>
          <a:p>
            <a:pPr algn="l">
              <a:lnSpc>
                <a:spcPct val="108000"/>
              </a:lnSpc>
              <a:spcBef>
                <a:spcPts val="0"/>
              </a:spcBef>
              <a:spcAft>
                <a:spcPts val="0"/>
              </a:spcAft>
              <a:defRPr sz="1700" b="0">
                <a:solidFill>
                  <a:srgbClr val="22312F"/>
                </a:solidFill>
                <a:latin typeface="Arial"/>
              </a:defRPr>
            </a:pPr>
            <a:r>
              <a:t>across the two neighborhoods</a:t>
            </a:r>
          </a:p>
        </p:txBody>
      </p:sp>
      <p:sp>
        <p:nvSpPr>
          <p:cNvPr id="17" name="Rectangle 16"/>
          <p:cNvSpPr/>
          <p:nvPr/>
        </p:nvSpPr>
        <p:spPr>
          <a:xfrm>
            <a:off x="8138160" y="2423160"/>
            <a:ext cx="3456432" cy="2514600"/>
          </a:xfrm>
          <a:prstGeom prst="rect">
            <a:avLst/>
          </a:prstGeom>
          <a:solidFill>
            <a:srgbClr val="FFFFFF"/>
          </a:solidFill>
          <a:ln w="8890">
            <a:solidFill>
              <a:srgbClr val="D9E3D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339328" y="2715768"/>
            <a:ext cx="3054096" cy="475488"/>
          </a:xfrm>
          <a:prstGeom prst="rect">
            <a:avLst/>
          </a:prstGeom>
          <a:noFill/>
        </p:spPr>
        <p:txBody>
          <a:bodyPr wrap="square" lIns="0" rIns="0" tIns="0" bIns="0" anchor="t">
            <a:spAutoFit/>
          </a:bodyPr>
          <a:lstStyle/>
          <a:p>
            <a:pPr algn="l">
              <a:lnSpc>
                <a:spcPct val="108000"/>
              </a:lnSpc>
              <a:spcBef>
                <a:spcPts val="0"/>
              </a:spcBef>
              <a:spcAft>
                <a:spcPts val="0"/>
              </a:spcAft>
              <a:defRPr sz="2300" b="1">
                <a:solidFill>
                  <a:srgbClr val="20685F"/>
                </a:solidFill>
                <a:latin typeface="Arial"/>
              </a:defRPr>
            </a:pPr>
            <a:r>
              <a:t>Community input</a:t>
            </a:r>
          </a:p>
        </p:txBody>
      </p:sp>
      <p:sp>
        <p:nvSpPr>
          <p:cNvPr id="19" name="TextBox 18"/>
          <p:cNvSpPr txBox="1"/>
          <p:nvPr/>
        </p:nvSpPr>
        <p:spPr>
          <a:xfrm>
            <a:off x="8339328" y="3410712"/>
            <a:ext cx="3054096" cy="530352"/>
          </a:xfrm>
          <a:prstGeom prst="rect">
            <a:avLst/>
          </a:prstGeom>
          <a:noFill/>
        </p:spPr>
        <p:txBody>
          <a:bodyPr wrap="square" lIns="0" rIns="0" tIns="0" bIns="0" anchor="t">
            <a:spAutoFit/>
          </a:bodyPr>
          <a:lstStyle/>
          <a:p>
            <a:pPr algn="l">
              <a:lnSpc>
                <a:spcPct val="108000"/>
              </a:lnSpc>
              <a:spcBef>
                <a:spcPts val="0"/>
              </a:spcBef>
              <a:spcAft>
                <a:spcPts val="0"/>
              </a:spcAft>
              <a:defRPr sz="1300" b="1">
                <a:solidFill>
                  <a:srgbClr val="5E6C68"/>
                </a:solidFill>
                <a:latin typeface="Arial"/>
              </a:defRPr>
            </a:pPr>
            <a:r>
              <a:t>TEAM–COMMUNITY WORKSHOP</a:t>
            </a:r>
          </a:p>
        </p:txBody>
      </p:sp>
      <p:sp>
        <p:nvSpPr>
          <p:cNvPr id="20" name="TextBox 19"/>
          <p:cNvSpPr txBox="1"/>
          <p:nvPr/>
        </p:nvSpPr>
        <p:spPr>
          <a:xfrm>
            <a:off x="8339328" y="4087368"/>
            <a:ext cx="3054096" cy="612648"/>
          </a:xfrm>
          <a:prstGeom prst="rect">
            <a:avLst/>
          </a:prstGeom>
          <a:noFill/>
        </p:spPr>
        <p:txBody>
          <a:bodyPr wrap="square" lIns="0" rIns="0" tIns="0" bIns="0" anchor="t">
            <a:spAutoFit/>
          </a:bodyPr>
          <a:lstStyle/>
          <a:p>
            <a:pPr algn="l">
              <a:lnSpc>
                <a:spcPct val="108000"/>
              </a:lnSpc>
              <a:spcBef>
                <a:spcPts val="0"/>
              </a:spcBef>
              <a:spcAft>
                <a:spcPts val="0"/>
              </a:spcAft>
              <a:defRPr sz="1700" b="0">
                <a:solidFill>
                  <a:srgbClr val="22312F"/>
                </a:solidFill>
                <a:latin typeface="Arial"/>
              </a:defRPr>
            </a:pPr>
            <a:r>
              <a:t>Experiences of mobility,</a:t>
            </a:r>
          </a:p>
          <a:p>
            <a:pPr algn="l">
              <a:lnSpc>
                <a:spcPct val="108000"/>
              </a:lnSpc>
              <a:spcBef>
                <a:spcPts val="0"/>
              </a:spcBef>
              <a:spcAft>
                <a:spcPts val="0"/>
              </a:spcAft>
              <a:defRPr sz="1700" b="0">
                <a:solidFill>
                  <a:srgbClr val="22312F"/>
                </a:solidFill>
                <a:latin typeface="Arial"/>
              </a:defRPr>
            </a:pPr>
            <a:r>
              <a:t>resources, and participation</a:t>
            </a:r>
          </a:p>
        </p:txBody>
      </p:sp>
      <p:sp>
        <p:nvSpPr>
          <p:cNvPr id="21" name="TextBox 20"/>
          <p:cNvSpPr txBox="1"/>
          <p:nvPr/>
        </p:nvSpPr>
        <p:spPr>
          <a:xfrm>
            <a:off x="585216" y="5376672"/>
            <a:ext cx="10991088" cy="411480"/>
          </a:xfrm>
          <a:prstGeom prst="rect">
            <a:avLst/>
          </a:prstGeom>
          <a:noFill/>
        </p:spPr>
        <p:txBody>
          <a:bodyPr wrap="square" lIns="0" rIns="0" tIns="0" bIns="0" anchor="t">
            <a:spAutoFit/>
          </a:bodyPr>
          <a:lstStyle/>
          <a:p>
            <a:pPr algn="l">
              <a:lnSpc>
                <a:spcPct val="108000"/>
              </a:lnSpc>
              <a:spcBef>
                <a:spcPts val="0"/>
              </a:spcBef>
              <a:spcAft>
                <a:spcPts val="0"/>
              </a:spcAft>
              <a:defRPr sz="2200" b="1">
                <a:solidFill>
                  <a:srgbClr val="22312F"/>
                </a:solidFill>
                <a:latin typeface="Arial"/>
              </a:defRPr>
            </a:pPr>
            <a:r>
              <a:t>Approximate study period: 2023–2025</a:t>
            </a:r>
          </a:p>
        </p:txBody>
      </p:sp>
      <p:sp>
        <p:nvSpPr>
          <p:cNvPr id="22" name="TextBox 21"/>
          <p:cNvSpPr txBox="1"/>
          <p:nvPr/>
        </p:nvSpPr>
        <p:spPr>
          <a:xfrm>
            <a:off x="585216" y="5925312"/>
            <a:ext cx="10991088" cy="265176"/>
          </a:xfrm>
          <a:prstGeom prst="rect">
            <a:avLst/>
          </a:prstGeom>
          <a:noFill/>
        </p:spPr>
        <p:txBody>
          <a:bodyPr wrap="square" lIns="0" rIns="0" tIns="0" bIns="0" anchor="t">
            <a:spAutoFit/>
          </a:bodyPr>
          <a:lstStyle/>
          <a:p>
            <a:pPr algn="l">
              <a:lnSpc>
                <a:spcPct val="108000"/>
              </a:lnSpc>
              <a:spcBef>
                <a:spcPts val="0"/>
              </a:spcBef>
              <a:spcAft>
                <a:spcPts val="0"/>
              </a:spcAft>
              <a:defRPr sz="1400" b="0">
                <a:solidFill>
                  <a:srgbClr val="5E6C68"/>
                </a:solidFill>
                <a:latin typeface="Arial"/>
              </a:defRPr>
            </a:pPr>
            <a:r>
              <a:t>Dataset vintages, access measures, and workshop participation details are not supplied.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BF9"/>
        </a:solidFill>
        <a:effectLst/>
      </p:bgPr>
    </p:bg>
    <p:spTree>
      <p:nvGrpSpPr>
        <p:cNvPr id="1" name=""/>
        <p:cNvGrpSpPr/>
        <p:nvPr/>
      </p:nvGrpSpPr>
      <p:grpSpPr/>
      <p:sp>
        <p:nvSpPr>
          <p:cNvPr id="2" name="Rectangle 1"/>
          <p:cNvSpPr/>
          <p:nvPr/>
        </p:nvSpPr>
        <p:spPr>
          <a:xfrm>
            <a:off x="548640" y="448056"/>
            <a:ext cx="329184" cy="41148"/>
          </a:xfrm>
          <a:prstGeom prst="rect">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978408" y="365760"/>
            <a:ext cx="10561320" cy="256032"/>
          </a:xfrm>
          <a:prstGeom prst="rect">
            <a:avLst/>
          </a:prstGeom>
          <a:noFill/>
        </p:spPr>
        <p:txBody>
          <a:bodyPr wrap="square" lIns="0" rIns="0" tIns="0" bIns="0" anchor="t">
            <a:spAutoFit/>
          </a:bodyPr>
          <a:lstStyle/>
          <a:p>
            <a:pPr algn="l">
              <a:lnSpc>
                <a:spcPct val="108000"/>
              </a:lnSpc>
              <a:spcBef>
                <a:spcPts val="0"/>
              </a:spcBef>
              <a:spcAft>
                <a:spcPts val="0"/>
              </a:spcAft>
              <a:defRPr sz="1150" b="1">
                <a:solidFill>
                  <a:srgbClr val="20685F"/>
                </a:solidFill>
                <a:latin typeface="Arial"/>
              </a:defRPr>
            </a:pPr>
            <a:r>
              <a:t>FINDINGS · ABSTRACT-REPORTED ESTIMATES</a:t>
            </a:r>
          </a:p>
        </p:txBody>
      </p:sp>
      <p:sp>
        <p:nvSpPr>
          <p:cNvPr id="4" name="TextBox 3"/>
          <p:cNvSpPr txBox="1"/>
          <p:nvPr/>
        </p:nvSpPr>
        <p:spPr>
          <a:xfrm>
            <a:off x="548640" y="832104"/>
            <a:ext cx="11045952" cy="694944"/>
          </a:xfrm>
          <a:prstGeom prst="rect">
            <a:avLst/>
          </a:prstGeom>
          <a:noFill/>
        </p:spPr>
        <p:txBody>
          <a:bodyPr wrap="square" lIns="0" rIns="0" tIns="0" bIns="0" anchor="t">
            <a:spAutoFit/>
          </a:bodyPr>
          <a:lstStyle/>
          <a:p>
            <a:pPr algn="l">
              <a:lnSpc>
                <a:spcPct val="108000"/>
              </a:lnSpc>
              <a:spcBef>
                <a:spcPts val="0"/>
              </a:spcBef>
              <a:spcAft>
                <a:spcPts val="0"/>
              </a:spcAft>
              <a:defRPr sz="2800" b="1">
                <a:solidFill>
                  <a:srgbClr val="22312F"/>
                </a:solidFill>
                <a:latin typeface="Arial"/>
              </a:defRPr>
            </a:pPr>
            <a:r>
              <a:t>Industrial designation concentrates across both neighborhoods</a:t>
            </a:r>
          </a:p>
        </p:txBody>
      </p:sp>
      <p:sp>
        <p:nvSpPr>
          <p:cNvPr id="5" name="TextBox 4"/>
          <p:cNvSpPr txBox="1"/>
          <p:nvPr/>
        </p:nvSpPr>
        <p:spPr>
          <a:xfrm>
            <a:off x="548640" y="1536192"/>
            <a:ext cx="11045952" cy="502920"/>
          </a:xfrm>
          <a:prstGeom prst="rect">
            <a:avLst/>
          </a:prstGeom>
          <a:noFill/>
        </p:spPr>
        <p:txBody>
          <a:bodyPr wrap="square" lIns="0" rIns="0" tIns="0" bIns="0" anchor="t">
            <a:spAutoFit/>
          </a:bodyPr>
          <a:lstStyle/>
          <a:p>
            <a:pPr algn="l">
              <a:lnSpc>
                <a:spcPct val="108000"/>
              </a:lnSpc>
              <a:spcBef>
                <a:spcPts val="0"/>
              </a:spcBef>
              <a:spcAft>
                <a:spcPts val="0"/>
              </a:spcAft>
              <a:defRPr sz="1900" b="0">
                <a:solidFill>
                  <a:srgbClr val="5E6C68"/>
                </a:solidFill>
                <a:latin typeface="Arial"/>
              </a:defRPr>
            </a:pPr>
            <a:r>
              <a:t>Reported land share designated for maritime manufacturing and logistics</a:t>
            </a:r>
          </a:p>
        </p:txBody>
      </p:sp>
      <p:cxnSp>
        <p:nvCxnSpPr>
          <p:cNvPr id="6" name="Connector 5"/>
          <p:cNvCxnSpPr/>
          <p:nvPr/>
        </p:nvCxnSpPr>
        <p:spPr>
          <a:xfrm>
            <a:off x="548640" y="6391656"/>
            <a:ext cx="11091672"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548640" y="6487668"/>
            <a:ext cx="10607040" cy="228600"/>
          </a:xfrm>
          <a:prstGeom prst="rect">
            <a:avLst/>
          </a:prstGeom>
          <a:noFill/>
        </p:spPr>
        <p:txBody>
          <a:bodyPr wrap="square" lIns="0" rIns="0" tIns="0" bIns="0" anchor="t">
            <a:spAutoFit/>
          </a:bodyPr>
          <a:lstStyle/>
          <a:p>
            <a:pPr algn="l">
              <a:lnSpc>
                <a:spcPct val="108000"/>
              </a:lnSpc>
              <a:spcBef>
                <a:spcPts val="0"/>
              </a:spcBef>
              <a:spcAft>
                <a:spcPts val="0"/>
              </a:spcAft>
              <a:defRPr sz="1100" b="0">
                <a:solidFill>
                  <a:srgbClr val="5E6C68"/>
                </a:solidFill>
                <a:latin typeface="Arial"/>
              </a:defRPr>
            </a:pPr>
            <a:r>
              <a:t>Supplied ACSP abstract, p. 1 · Approximate values; zoning vintage, boundaries, and denominator not supplied</a:t>
            </a:r>
          </a:p>
        </p:txBody>
      </p:sp>
      <p:sp>
        <p:nvSpPr>
          <p:cNvPr id="8" name="TextBox 7"/>
          <p:cNvSpPr txBox="1"/>
          <p:nvPr/>
        </p:nvSpPr>
        <p:spPr>
          <a:xfrm>
            <a:off x="11192256" y="6473952"/>
            <a:ext cx="420624" cy="246888"/>
          </a:xfrm>
          <a:prstGeom prst="rect">
            <a:avLst/>
          </a:prstGeom>
          <a:noFill/>
        </p:spPr>
        <p:txBody>
          <a:bodyPr wrap="square" lIns="0" rIns="0" tIns="0" bIns="0" anchor="t">
            <a:spAutoFit/>
          </a:bodyPr>
          <a:lstStyle/>
          <a:p>
            <a:pPr algn="r">
              <a:lnSpc>
                <a:spcPct val="108000"/>
              </a:lnSpc>
              <a:spcBef>
                <a:spcPts val="0"/>
              </a:spcBef>
              <a:spcAft>
                <a:spcPts val="0"/>
              </a:spcAft>
              <a:defRPr sz="1200" b="1">
                <a:solidFill>
                  <a:srgbClr val="20685F"/>
                </a:solidFill>
                <a:latin typeface="Arial"/>
              </a:defRPr>
            </a:pPr>
            <a:r>
              <a:t>06</a:t>
            </a:r>
          </a:p>
        </p:txBody>
      </p:sp>
      <p:sp>
        <p:nvSpPr>
          <p:cNvPr id="9" name="TextBox 8"/>
          <p:cNvSpPr txBox="1"/>
          <p:nvPr/>
        </p:nvSpPr>
        <p:spPr>
          <a:xfrm>
            <a:off x="585216" y="2779776"/>
            <a:ext cx="2130552" cy="438912"/>
          </a:xfrm>
          <a:prstGeom prst="rect">
            <a:avLst/>
          </a:prstGeom>
          <a:noFill/>
        </p:spPr>
        <p:txBody>
          <a:bodyPr wrap="square" lIns="0" rIns="0" tIns="0" bIns="0" anchor="t">
            <a:spAutoFit/>
          </a:bodyPr>
          <a:lstStyle/>
          <a:p>
            <a:pPr algn="l">
              <a:lnSpc>
                <a:spcPct val="108000"/>
              </a:lnSpc>
              <a:spcBef>
                <a:spcPts val="0"/>
              </a:spcBef>
              <a:spcAft>
                <a:spcPts val="0"/>
              </a:spcAft>
              <a:defRPr sz="2400" b="1">
                <a:solidFill>
                  <a:srgbClr val="22312F"/>
                </a:solidFill>
                <a:latin typeface="Arial"/>
              </a:defRPr>
            </a:pPr>
            <a:r>
              <a:t>Georgetown</a:t>
            </a:r>
          </a:p>
        </p:txBody>
      </p:sp>
      <p:sp>
        <p:nvSpPr>
          <p:cNvPr id="10" name="Rectangle 9"/>
          <p:cNvSpPr/>
          <p:nvPr/>
        </p:nvSpPr>
        <p:spPr>
          <a:xfrm>
            <a:off x="2871216" y="2697480"/>
            <a:ext cx="7452360" cy="566928"/>
          </a:xfrm>
          <a:prstGeom prst="rect">
            <a:avLst/>
          </a:prstGeom>
          <a:solidFill>
            <a:srgbClr val="E5EB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primary_zoning_bar_87"/>
          <p:cNvSpPr/>
          <p:nvPr/>
        </p:nvSpPr>
        <p:spPr>
          <a:xfrm>
            <a:off x="2871216" y="2697480"/>
            <a:ext cx="6483553" cy="566928"/>
          </a:xfrm>
          <a:prstGeom prst="rect">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10533888" y="2761488"/>
            <a:ext cx="1005840" cy="448056"/>
          </a:xfrm>
          <a:prstGeom prst="rect">
            <a:avLst/>
          </a:prstGeom>
          <a:noFill/>
        </p:spPr>
        <p:txBody>
          <a:bodyPr wrap="square" lIns="0" rIns="0" tIns="0" bIns="0" anchor="t">
            <a:spAutoFit/>
          </a:bodyPr>
          <a:lstStyle/>
          <a:p>
            <a:pPr algn="l">
              <a:lnSpc>
                <a:spcPct val="108000"/>
              </a:lnSpc>
              <a:spcBef>
                <a:spcPts val="0"/>
              </a:spcBef>
              <a:spcAft>
                <a:spcPts val="0"/>
              </a:spcAft>
              <a:defRPr sz="2800" b="1">
                <a:solidFill>
                  <a:srgbClr val="20685F"/>
                </a:solidFill>
                <a:latin typeface="Arial"/>
              </a:defRPr>
            </a:pPr>
            <a:r>
              <a:t>≈87%</a:t>
            </a:r>
          </a:p>
        </p:txBody>
      </p:sp>
      <p:sp>
        <p:nvSpPr>
          <p:cNvPr id="13" name="TextBox 12"/>
          <p:cNvSpPr txBox="1"/>
          <p:nvPr/>
        </p:nvSpPr>
        <p:spPr>
          <a:xfrm>
            <a:off x="585216" y="4032504"/>
            <a:ext cx="2130552" cy="438912"/>
          </a:xfrm>
          <a:prstGeom prst="rect">
            <a:avLst/>
          </a:prstGeom>
          <a:noFill/>
        </p:spPr>
        <p:txBody>
          <a:bodyPr wrap="square" lIns="0" rIns="0" tIns="0" bIns="0" anchor="t">
            <a:spAutoFit/>
          </a:bodyPr>
          <a:lstStyle/>
          <a:p>
            <a:pPr algn="l">
              <a:lnSpc>
                <a:spcPct val="108000"/>
              </a:lnSpc>
              <a:spcBef>
                <a:spcPts val="0"/>
              </a:spcBef>
              <a:spcAft>
                <a:spcPts val="0"/>
              </a:spcAft>
              <a:defRPr sz="2400" b="1">
                <a:solidFill>
                  <a:srgbClr val="22312F"/>
                </a:solidFill>
                <a:latin typeface="Arial"/>
              </a:defRPr>
            </a:pPr>
            <a:r>
              <a:t>South Park</a:t>
            </a:r>
          </a:p>
        </p:txBody>
      </p:sp>
      <p:sp>
        <p:nvSpPr>
          <p:cNvPr id="14" name="Rectangle 13"/>
          <p:cNvSpPr/>
          <p:nvPr/>
        </p:nvSpPr>
        <p:spPr>
          <a:xfrm>
            <a:off x="2871216" y="3950208"/>
            <a:ext cx="7452360" cy="566928"/>
          </a:xfrm>
          <a:prstGeom prst="rect">
            <a:avLst/>
          </a:prstGeom>
          <a:solidFill>
            <a:srgbClr val="E5EB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primary_zoning_bar_61"/>
          <p:cNvSpPr/>
          <p:nvPr/>
        </p:nvSpPr>
        <p:spPr>
          <a:xfrm>
            <a:off x="2871216" y="3950208"/>
            <a:ext cx="4545939" cy="566928"/>
          </a:xfrm>
          <a:prstGeom prst="rect">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10533888" y="4014216"/>
            <a:ext cx="1005840" cy="448056"/>
          </a:xfrm>
          <a:prstGeom prst="rect">
            <a:avLst/>
          </a:prstGeom>
          <a:noFill/>
        </p:spPr>
        <p:txBody>
          <a:bodyPr wrap="square" lIns="0" rIns="0" tIns="0" bIns="0" anchor="t">
            <a:spAutoFit/>
          </a:bodyPr>
          <a:lstStyle/>
          <a:p>
            <a:pPr algn="l">
              <a:lnSpc>
                <a:spcPct val="108000"/>
              </a:lnSpc>
              <a:spcBef>
                <a:spcPts val="0"/>
              </a:spcBef>
              <a:spcAft>
                <a:spcPts val="0"/>
              </a:spcAft>
              <a:defRPr sz="2800" b="1">
                <a:solidFill>
                  <a:srgbClr val="20685F"/>
                </a:solidFill>
                <a:latin typeface="Arial"/>
              </a:defRPr>
            </a:pPr>
            <a:r>
              <a:t>≈61%</a:t>
            </a:r>
          </a:p>
        </p:txBody>
      </p:sp>
      <p:cxnSp>
        <p:nvCxnSpPr>
          <p:cNvPr id="17" name="Connector 16"/>
          <p:cNvCxnSpPr/>
          <p:nvPr/>
        </p:nvCxnSpPr>
        <p:spPr>
          <a:xfrm>
            <a:off x="2871216" y="4791456"/>
            <a:ext cx="0" cy="109728"/>
          </a:xfrm>
          <a:prstGeom prst="line">
            <a:avLst/>
          </a:prstGeom>
          <a:ln w="12700">
            <a:solidFill>
              <a:srgbClr val="5E6C68"/>
            </a:solidFill>
          </a:ln>
          <a:effectLst/>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2542032" y="5001768"/>
            <a:ext cx="658368" cy="274320"/>
          </a:xfrm>
          <a:prstGeom prst="rect">
            <a:avLst/>
          </a:prstGeom>
          <a:noFill/>
        </p:spPr>
        <p:txBody>
          <a:bodyPr wrap="square" lIns="0" rIns="0" tIns="0" bIns="0" anchor="t">
            <a:spAutoFit/>
          </a:bodyPr>
          <a:lstStyle/>
          <a:p>
            <a:pPr algn="ctr">
              <a:lnSpc>
                <a:spcPct val="108000"/>
              </a:lnSpc>
              <a:spcBef>
                <a:spcPts val="0"/>
              </a:spcBef>
              <a:spcAft>
                <a:spcPts val="0"/>
              </a:spcAft>
              <a:defRPr sz="1400" b="0">
                <a:solidFill>
                  <a:srgbClr val="5E6C68"/>
                </a:solidFill>
                <a:latin typeface="Arial"/>
              </a:defRPr>
            </a:pPr>
            <a:r>
              <a:t>0%</a:t>
            </a:r>
          </a:p>
        </p:txBody>
      </p:sp>
      <p:cxnSp>
        <p:nvCxnSpPr>
          <p:cNvPr id="19" name="Connector 18"/>
          <p:cNvCxnSpPr/>
          <p:nvPr/>
        </p:nvCxnSpPr>
        <p:spPr>
          <a:xfrm>
            <a:off x="6597396" y="4791456"/>
            <a:ext cx="0" cy="109728"/>
          </a:xfrm>
          <a:prstGeom prst="line">
            <a:avLst/>
          </a:prstGeom>
          <a:ln w="12700">
            <a:solidFill>
              <a:srgbClr val="5E6C68"/>
            </a:solidFill>
          </a:ln>
          <a:effectLst/>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6268212" y="5001768"/>
            <a:ext cx="658368" cy="274320"/>
          </a:xfrm>
          <a:prstGeom prst="rect">
            <a:avLst/>
          </a:prstGeom>
          <a:noFill/>
        </p:spPr>
        <p:txBody>
          <a:bodyPr wrap="square" lIns="0" rIns="0" tIns="0" bIns="0" anchor="t">
            <a:spAutoFit/>
          </a:bodyPr>
          <a:lstStyle/>
          <a:p>
            <a:pPr algn="ctr">
              <a:lnSpc>
                <a:spcPct val="108000"/>
              </a:lnSpc>
              <a:spcBef>
                <a:spcPts val="0"/>
              </a:spcBef>
              <a:spcAft>
                <a:spcPts val="0"/>
              </a:spcAft>
              <a:defRPr sz="1400" b="0">
                <a:solidFill>
                  <a:srgbClr val="5E6C68"/>
                </a:solidFill>
                <a:latin typeface="Arial"/>
              </a:defRPr>
            </a:pPr>
            <a:r>
              <a:t>50%</a:t>
            </a:r>
          </a:p>
        </p:txBody>
      </p:sp>
      <p:cxnSp>
        <p:nvCxnSpPr>
          <p:cNvPr id="21" name="Connector 20"/>
          <p:cNvCxnSpPr/>
          <p:nvPr/>
        </p:nvCxnSpPr>
        <p:spPr>
          <a:xfrm>
            <a:off x="10323576" y="4791456"/>
            <a:ext cx="0" cy="109728"/>
          </a:xfrm>
          <a:prstGeom prst="line">
            <a:avLst/>
          </a:prstGeom>
          <a:ln w="12700">
            <a:solidFill>
              <a:srgbClr val="5E6C68"/>
            </a:solidFill>
          </a:ln>
          <a:effectLst/>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9994392" y="5001768"/>
            <a:ext cx="658368" cy="274320"/>
          </a:xfrm>
          <a:prstGeom prst="rect">
            <a:avLst/>
          </a:prstGeom>
          <a:noFill/>
        </p:spPr>
        <p:txBody>
          <a:bodyPr wrap="square" lIns="0" rIns="0" tIns="0" bIns="0" anchor="t">
            <a:spAutoFit/>
          </a:bodyPr>
          <a:lstStyle/>
          <a:p>
            <a:pPr algn="ctr">
              <a:lnSpc>
                <a:spcPct val="108000"/>
              </a:lnSpc>
              <a:spcBef>
                <a:spcPts val="0"/>
              </a:spcBef>
              <a:spcAft>
                <a:spcPts val="0"/>
              </a:spcAft>
              <a:defRPr sz="1400" b="0">
                <a:solidFill>
                  <a:srgbClr val="5E6C68"/>
                </a:solidFill>
                <a:latin typeface="Arial"/>
              </a:defRPr>
            </a:pPr>
            <a:r>
              <a:t>100%</a:t>
            </a:r>
          </a:p>
        </p:txBody>
      </p:sp>
      <p:sp>
        <p:nvSpPr>
          <p:cNvPr id="23" name="TextBox 22"/>
          <p:cNvSpPr txBox="1"/>
          <p:nvPr/>
        </p:nvSpPr>
        <p:spPr>
          <a:xfrm>
            <a:off x="585216" y="5660136"/>
            <a:ext cx="10991088" cy="457200"/>
          </a:xfrm>
          <a:prstGeom prst="rect">
            <a:avLst/>
          </a:prstGeom>
          <a:noFill/>
        </p:spPr>
        <p:txBody>
          <a:bodyPr wrap="square" lIns="0" rIns="0" tIns="0" bIns="0" anchor="t">
            <a:spAutoFit/>
          </a:bodyPr>
          <a:lstStyle/>
          <a:p>
            <a:pPr algn="l">
              <a:lnSpc>
                <a:spcPct val="108000"/>
              </a:lnSpc>
              <a:spcBef>
                <a:spcPts val="0"/>
              </a:spcBef>
              <a:spcAft>
                <a:spcPts val="0"/>
              </a:spcAft>
              <a:defRPr sz="2400" b="1">
                <a:solidFill>
                  <a:srgbClr val="22312F"/>
                </a:solidFill>
                <a:latin typeface="Arial"/>
              </a:defRPr>
            </a:pPr>
            <a:r>
              <a:t>Concentration establishes the setting for an access inquiry.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BF9"/>
        </a:solidFill>
        <a:effectLst/>
      </p:bgPr>
    </p:bg>
    <p:spTree>
      <p:nvGrpSpPr>
        <p:cNvPr id="1" name=""/>
        <p:cNvGrpSpPr/>
        <p:nvPr/>
      </p:nvGrpSpPr>
      <p:grpSpPr/>
      <p:sp>
        <p:nvSpPr>
          <p:cNvPr id="2" name="Rectangle 1"/>
          <p:cNvSpPr/>
          <p:nvPr/>
        </p:nvSpPr>
        <p:spPr>
          <a:xfrm>
            <a:off x="548640" y="448056"/>
            <a:ext cx="329184" cy="41148"/>
          </a:xfrm>
          <a:prstGeom prst="rect">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978408" y="365760"/>
            <a:ext cx="10561320" cy="256032"/>
          </a:xfrm>
          <a:prstGeom prst="rect">
            <a:avLst/>
          </a:prstGeom>
          <a:noFill/>
        </p:spPr>
        <p:txBody>
          <a:bodyPr wrap="square" lIns="0" rIns="0" tIns="0" bIns="0" anchor="t">
            <a:spAutoFit/>
          </a:bodyPr>
          <a:lstStyle/>
          <a:p>
            <a:pPr algn="l">
              <a:lnSpc>
                <a:spcPct val="108000"/>
              </a:lnSpc>
              <a:spcBef>
                <a:spcPts val="0"/>
              </a:spcBef>
              <a:spcAft>
                <a:spcPts val="0"/>
              </a:spcAft>
              <a:defRPr sz="1150" b="1">
                <a:solidFill>
                  <a:srgbClr val="20685F"/>
                </a:solidFill>
                <a:latin typeface="Arial"/>
              </a:defRPr>
            </a:pPr>
            <a:r>
              <a:t>FINDINGS · PRIMARY RESEARCH ABSTRACT</a:t>
            </a:r>
          </a:p>
        </p:txBody>
      </p:sp>
      <p:sp>
        <p:nvSpPr>
          <p:cNvPr id="4" name="TextBox 3"/>
          <p:cNvSpPr txBox="1"/>
          <p:nvPr/>
        </p:nvSpPr>
        <p:spPr>
          <a:xfrm>
            <a:off x="548640" y="832104"/>
            <a:ext cx="11045952" cy="694944"/>
          </a:xfrm>
          <a:prstGeom prst="rect">
            <a:avLst/>
          </a:prstGeom>
          <a:noFill/>
        </p:spPr>
        <p:txBody>
          <a:bodyPr wrap="square" lIns="0" rIns="0" tIns="0" bIns="0" anchor="t">
            <a:spAutoFit/>
          </a:bodyPr>
          <a:lstStyle/>
          <a:p>
            <a:pPr algn="l">
              <a:lnSpc>
                <a:spcPct val="108000"/>
              </a:lnSpc>
              <a:spcBef>
                <a:spcPts val="0"/>
              </a:spcBef>
              <a:spcAft>
                <a:spcPts val="0"/>
              </a:spcAft>
              <a:defRPr sz="2900" b="1">
                <a:solidFill>
                  <a:srgbClr val="22312F"/>
                </a:solidFill>
                <a:latin typeface="Arial"/>
              </a:defRPr>
            </a:pPr>
            <a:r>
              <a:t>Access constraints span mobility, space, and resources</a:t>
            </a:r>
          </a:p>
        </p:txBody>
      </p:sp>
      <p:sp>
        <p:nvSpPr>
          <p:cNvPr id="5" name="TextBox 4"/>
          <p:cNvSpPr txBox="1"/>
          <p:nvPr/>
        </p:nvSpPr>
        <p:spPr>
          <a:xfrm>
            <a:off x="548640" y="1536192"/>
            <a:ext cx="11045952" cy="502920"/>
          </a:xfrm>
          <a:prstGeom prst="rect">
            <a:avLst/>
          </a:prstGeom>
          <a:noFill/>
        </p:spPr>
        <p:txBody>
          <a:bodyPr wrap="square" lIns="0" rIns="0" tIns="0" bIns="0" anchor="t">
            <a:spAutoFit/>
          </a:bodyPr>
          <a:lstStyle/>
          <a:p>
            <a:pPr algn="l">
              <a:lnSpc>
                <a:spcPct val="108000"/>
              </a:lnSpc>
              <a:spcBef>
                <a:spcPts val="0"/>
              </a:spcBef>
              <a:spcAft>
                <a:spcPts val="0"/>
              </a:spcAft>
              <a:defRPr sz="1900" b="0">
                <a:solidFill>
                  <a:srgbClr val="5E6C68"/>
                </a:solidFill>
                <a:latin typeface="Arial"/>
              </a:defRPr>
            </a:pPr>
            <a:r>
              <a:t>The abstract reports several connected dimensions of everyday access</a:t>
            </a:r>
          </a:p>
        </p:txBody>
      </p:sp>
      <p:cxnSp>
        <p:nvCxnSpPr>
          <p:cNvPr id="6" name="Connector 5"/>
          <p:cNvCxnSpPr/>
          <p:nvPr/>
        </p:nvCxnSpPr>
        <p:spPr>
          <a:xfrm>
            <a:off x="548640" y="6391656"/>
            <a:ext cx="11091672"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548640" y="6487668"/>
            <a:ext cx="10607040" cy="228600"/>
          </a:xfrm>
          <a:prstGeom prst="rect">
            <a:avLst/>
          </a:prstGeom>
          <a:noFill/>
        </p:spPr>
        <p:txBody>
          <a:bodyPr wrap="square" lIns="0" rIns="0" tIns="0" bIns="0" anchor="t">
            <a:spAutoFit/>
          </a:bodyPr>
          <a:lstStyle/>
          <a:p>
            <a:pPr algn="l">
              <a:lnSpc>
                <a:spcPct val="108000"/>
              </a:lnSpc>
              <a:spcBef>
                <a:spcPts val="0"/>
              </a:spcBef>
              <a:spcAft>
                <a:spcPts val="0"/>
              </a:spcAft>
              <a:defRPr sz="1100" b="0">
                <a:solidFill>
                  <a:srgbClr val="5E6C68"/>
                </a:solidFill>
                <a:latin typeface="Arial"/>
              </a:defRPr>
            </a:pPr>
            <a:r>
              <a:t>Supplied ACSP abstract, p. 1 · Qualitative findings; no access metrics or income amounts supplied</a:t>
            </a:r>
          </a:p>
        </p:txBody>
      </p:sp>
      <p:sp>
        <p:nvSpPr>
          <p:cNvPr id="8" name="TextBox 7"/>
          <p:cNvSpPr txBox="1"/>
          <p:nvPr/>
        </p:nvSpPr>
        <p:spPr>
          <a:xfrm>
            <a:off x="11192256" y="6473952"/>
            <a:ext cx="420624" cy="246888"/>
          </a:xfrm>
          <a:prstGeom prst="rect">
            <a:avLst/>
          </a:prstGeom>
          <a:noFill/>
        </p:spPr>
        <p:txBody>
          <a:bodyPr wrap="square" lIns="0" rIns="0" tIns="0" bIns="0" anchor="t">
            <a:spAutoFit/>
          </a:bodyPr>
          <a:lstStyle/>
          <a:p>
            <a:pPr algn="r">
              <a:lnSpc>
                <a:spcPct val="108000"/>
              </a:lnSpc>
              <a:spcBef>
                <a:spcPts val="0"/>
              </a:spcBef>
              <a:spcAft>
                <a:spcPts val="0"/>
              </a:spcAft>
              <a:defRPr sz="1200" b="1">
                <a:solidFill>
                  <a:srgbClr val="20685F"/>
                </a:solidFill>
                <a:latin typeface="Arial"/>
              </a:defRPr>
            </a:pPr>
            <a:r>
              <a:t>07</a:t>
            </a:r>
          </a:p>
        </p:txBody>
      </p:sp>
      <p:cxnSp>
        <p:nvCxnSpPr>
          <p:cNvPr id="9" name="Connector 8"/>
          <p:cNvCxnSpPr/>
          <p:nvPr/>
        </p:nvCxnSpPr>
        <p:spPr>
          <a:xfrm>
            <a:off x="585216" y="2331720"/>
            <a:ext cx="10991088"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85216" y="2532888"/>
            <a:ext cx="4389120" cy="539496"/>
          </a:xfrm>
          <a:prstGeom prst="rect">
            <a:avLst/>
          </a:prstGeom>
          <a:noFill/>
        </p:spPr>
        <p:txBody>
          <a:bodyPr wrap="square" lIns="0" rIns="0" tIns="0" bIns="0" anchor="t">
            <a:spAutoFit/>
          </a:bodyPr>
          <a:lstStyle/>
          <a:p>
            <a:pPr algn="l">
              <a:lnSpc>
                <a:spcPct val="108000"/>
              </a:lnSpc>
              <a:spcBef>
                <a:spcPts val="0"/>
              </a:spcBef>
              <a:spcAft>
                <a:spcPts val="0"/>
              </a:spcAft>
              <a:defRPr sz="2300" b="1">
                <a:solidFill>
                  <a:srgbClr val="20685F"/>
                </a:solidFill>
                <a:latin typeface="Arial"/>
              </a:defRPr>
            </a:pPr>
            <a:r>
              <a:t>Mobility</a:t>
            </a:r>
          </a:p>
        </p:txBody>
      </p:sp>
      <p:sp>
        <p:nvSpPr>
          <p:cNvPr id="11" name="TextBox 10"/>
          <p:cNvSpPr txBox="1"/>
          <p:nvPr/>
        </p:nvSpPr>
        <p:spPr>
          <a:xfrm>
            <a:off x="5266944" y="2532888"/>
            <a:ext cx="6309360" cy="502920"/>
          </a:xfrm>
          <a:prstGeom prst="rect">
            <a:avLst/>
          </a:prstGeom>
          <a:noFill/>
        </p:spPr>
        <p:txBody>
          <a:bodyPr wrap="square" lIns="0" rIns="0" tIns="0" bIns="0" anchor="t">
            <a:spAutoFit/>
          </a:bodyPr>
          <a:lstStyle/>
          <a:p>
            <a:pPr algn="l">
              <a:lnSpc>
                <a:spcPct val="108000"/>
              </a:lnSpc>
              <a:spcBef>
                <a:spcPts val="0"/>
              </a:spcBef>
              <a:spcAft>
                <a:spcPts val="0"/>
              </a:spcAft>
              <a:defRPr sz="2300" b="0">
                <a:solidFill>
                  <a:srgbClr val="22312F"/>
                </a:solidFill>
                <a:latin typeface="Arial"/>
              </a:defRPr>
            </a:pPr>
            <a:r>
              <a:t>Fragmented mobility networks</a:t>
            </a:r>
          </a:p>
        </p:txBody>
      </p:sp>
      <p:cxnSp>
        <p:nvCxnSpPr>
          <p:cNvPr id="12" name="Connector 11"/>
          <p:cNvCxnSpPr/>
          <p:nvPr/>
        </p:nvCxnSpPr>
        <p:spPr>
          <a:xfrm>
            <a:off x="585216" y="3310128"/>
            <a:ext cx="10991088"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585216" y="3511296"/>
            <a:ext cx="4389120" cy="539496"/>
          </a:xfrm>
          <a:prstGeom prst="rect">
            <a:avLst/>
          </a:prstGeom>
          <a:noFill/>
        </p:spPr>
        <p:txBody>
          <a:bodyPr wrap="square" lIns="0" rIns="0" tIns="0" bIns="0" anchor="t">
            <a:spAutoFit/>
          </a:bodyPr>
          <a:lstStyle/>
          <a:p>
            <a:pPr algn="l">
              <a:lnSpc>
                <a:spcPct val="108000"/>
              </a:lnSpc>
              <a:spcBef>
                <a:spcPts val="0"/>
              </a:spcBef>
              <a:spcAft>
                <a:spcPts val="0"/>
              </a:spcAft>
              <a:defRPr sz="2300" b="1">
                <a:solidFill>
                  <a:srgbClr val="20685F"/>
                </a:solidFill>
                <a:latin typeface="Arial"/>
              </a:defRPr>
            </a:pPr>
            <a:r>
              <a:t>Public space</a:t>
            </a:r>
          </a:p>
        </p:txBody>
      </p:sp>
      <p:sp>
        <p:nvSpPr>
          <p:cNvPr id="14" name="TextBox 13"/>
          <p:cNvSpPr txBox="1"/>
          <p:nvPr/>
        </p:nvSpPr>
        <p:spPr>
          <a:xfrm>
            <a:off x="5266944" y="3511296"/>
            <a:ext cx="6309360" cy="502920"/>
          </a:xfrm>
          <a:prstGeom prst="rect">
            <a:avLst/>
          </a:prstGeom>
          <a:noFill/>
        </p:spPr>
        <p:txBody>
          <a:bodyPr wrap="square" lIns="0" rIns="0" tIns="0" bIns="0" anchor="t">
            <a:spAutoFit/>
          </a:bodyPr>
          <a:lstStyle/>
          <a:p>
            <a:pPr algn="l">
              <a:lnSpc>
                <a:spcPct val="108000"/>
              </a:lnSpc>
              <a:spcBef>
                <a:spcPts val="0"/>
              </a:spcBef>
              <a:spcAft>
                <a:spcPts val="0"/>
              </a:spcAft>
              <a:defRPr sz="2300" b="0">
                <a:solidFill>
                  <a:srgbClr val="22312F"/>
                </a:solidFill>
                <a:latin typeface="Arial"/>
              </a:defRPr>
            </a:pPr>
            <a:r>
              <a:t>Limited public green space</a:t>
            </a:r>
          </a:p>
        </p:txBody>
      </p:sp>
      <p:cxnSp>
        <p:nvCxnSpPr>
          <p:cNvPr id="15" name="Connector 14"/>
          <p:cNvCxnSpPr/>
          <p:nvPr/>
        </p:nvCxnSpPr>
        <p:spPr>
          <a:xfrm>
            <a:off x="585216" y="4288536"/>
            <a:ext cx="10991088"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85216" y="4489703"/>
            <a:ext cx="4389120" cy="539496"/>
          </a:xfrm>
          <a:prstGeom prst="rect">
            <a:avLst/>
          </a:prstGeom>
          <a:noFill/>
        </p:spPr>
        <p:txBody>
          <a:bodyPr wrap="square" lIns="0" rIns="0" tIns="0" bIns="0" anchor="t">
            <a:spAutoFit/>
          </a:bodyPr>
          <a:lstStyle/>
          <a:p>
            <a:pPr algn="l">
              <a:lnSpc>
                <a:spcPct val="108000"/>
              </a:lnSpc>
              <a:spcBef>
                <a:spcPts val="0"/>
              </a:spcBef>
              <a:spcAft>
                <a:spcPts val="0"/>
              </a:spcAft>
              <a:defRPr sz="2300" b="1">
                <a:solidFill>
                  <a:srgbClr val="20685F"/>
                </a:solidFill>
                <a:latin typeface="Arial"/>
              </a:defRPr>
            </a:pPr>
            <a:r>
              <a:t>Environmental resources</a:t>
            </a:r>
          </a:p>
        </p:txBody>
      </p:sp>
      <p:sp>
        <p:nvSpPr>
          <p:cNvPr id="17" name="TextBox 16"/>
          <p:cNvSpPr txBox="1"/>
          <p:nvPr/>
        </p:nvSpPr>
        <p:spPr>
          <a:xfrm>
            <a:off x="5266944" y="4489703"/>
            <a:ext cx="6309360" cy="502920"/>
          </a:xfrm>
          <a:prstGeom prst="rect">
            <a:avLst/>
          </a:prstGeom>
          <a:noFill/>
        </p:spPr>
        <p:txBody>
          <a:bodyPr wrap="square" lIns="0" rIns="0" tIns="0" bIns="0" anchor="t">
            <a:spAutoFit/>
          </a:bodyPr>
          <a:lstStyle/>
          <a:p>
            <a:pPr algn="l">
              <a:lnSpc>
                <a:spcPct val="108000"/>
              </a:lnSpc>
              <a:spcBef>
                <a:spcPts val="0"/>
              </a:spcBef>
              <a:spcAft>
                <a:spcPts val="0"/>
              </a:spcAft>
              <a:defRPr sz="2300" b="0">
                <a:solidFill>
                  <a:srgbClr val="22312F"/>
                </a:solidFill>
                <a:latin typeface="Arial"/>
              </a:defRPr>
            </a:pPr>
            <a:r>
              <a:t>Reduced environmental amenities</a:t>
            </a:r>
          </a:p>
        </p:txBody>
      </p:sp>
      <p:sp>
        <p:nvSpPr>
          <p:cNvPr id="18" name="Rectangle 17"/>
          <p:cNvSpPr/>
          <p:nvPr/>
        </p:nvSpPr>
        <p:spPr>
          <a:xfrm>
            <a:off x="585216" y="5513832"/>
            <a:ext cx="10991088" cy="640080"/>
          </a:xfrm>
          <a:prstGeom prst="rect">
            <a:avLst/>
          </a:prstGeom>
          <a:solidFill>
            <a:srgbClr val="E9F1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86384" y="5696712"/>
            <a:ext cx="10588752" cy="292608"/>
          </a:xfrm>
          <a:prstGeom prst="rect">
            <a:avLst/>
          </a:prstGeom>
          <a:noFill/>
        </p:spPr>
        <p:txBody>
          <a:bodyPr wrap="square" lIns="0" rIns="0" tIns="0" bIns="0" anchor="t">
            <a:spAutoFit/>
          </a:bodyPr>
          <a:lstStyle/>
          <a:p>
            <a:pPr algn="l">
              <a:lnSpc>
                <a:spcPct val="108000"/>
              </a:lnSpc>
              <a:spcBef>
                <a:spcPts val="0"/>
              </a:spcBef>
              <a:spcAft>
                <a:spcPts val="0"/>
              </a:spcAft>
              <a:defRPr sz="1800" b="0">
                <a:solidFill>
                  <a:srgbClr val="22312F"/>
                </a:solidFill>
                <a:latin typeface="Arial"/>
              </a:defRPr>
            </a:pPr>
            <a:r>
              <a:t>Household context: both neighborhoods’ median incomes are reported below the King County average.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BF9"/>
        </a:solidFill>
        <a:effectLst/>
      </p:bgPr>
    </p:bg>
    <p:spTree>
      <p:nvGrpSpPr>
        <p:cNvPr id="1" name=""/>
        <p:cNvGrpSpPr/>
        <p:nvPr/>
      </p:nvGrpSpPr>
      <p:grpSpPr/>
      <p:sp>
        <p:nvSpPr>
          <p:cNvPr id="2" name="Rectangle 1"/>
          <p:cNvSpPr/>
          <p:nvPr/>
        </p:nvSpPr>
        <p:spPr>
          <a:xfrm>
            <a:off x="548640" y="448056"/>
            <a:ext cx="329184" cy="41148"/>
          </a:xfrm>
          <a:prstGeom prst="rect">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978408" y="365760"/>
            <a:ext cx="10561320" cy="256032"/>
          </a:xfrm>
          <a:prstGeom prst="rect">
            <a:avLst/>
          </a:prstGeom>
          <a:noFill/>
        </p:spPr>
        <p:txBody>
          <a:bodyPr wrap="square" lIns="0" rIns="0" tIns="0" bIns="0" anchor="t">
            <a:spAutoFit/>
          </a:bodyPr>
          <a:lstStyle/>
          <a:p>
            <a:pPr algn="l">
              <a:lnSpc>
                <a:spcPct val="108000"/>
              </a:lnSpc>
              <a:spcBef>
                <a:spcPts val="0"/>
              </a:spcBef>
              <a:spcAft>
                <a:spcPts val="0"/>
              </a:spcAft>
              <a:defRPr sz="1150" b="1">
                <a:solidFill>
                  <a:srgbClr val="20685F"/>
                </a:solidFill>
                <a:latin typeface="Arial"/>
              </a:defRPr>
            </a:pPr>
            <a:r>
              <a:t>FOOD. CO. · PROPOSED PLANNING RESPONSE</a:t>
            </a:r>
          </a:p>
        </p:txBody>
      </p:sp>
      <p:sp>
        <p:nvSpPr>
          <p:cNvPr id="4" name="TextBox 3"/>
          <p:cNvSpPr txBox="1"/>
          <p:nvPr/>
        </p:nvSpPr>
        <p:spPr>
          <a:xfrm>
            <a:off x="548640" y="832104"/>
            <a:ext cx="11045952" cy="694944"/>
          </a:xfrm>
          <a:prstGeom prst="rect">
            <a:avLst/>
          </a:prstGeom>
          <a:noFill/>
        </p:spPr>
        <p:txBody>
          <a:bodyPr wrap="square" lIns="0" rIns="0" tIns="0" bIns="0" anchor="t">
            <a:spAutoFit/>
          </a:bodyPr>
          <a:lstStyle/>
          <a:p>
            <a:pPr algn="l">
              <a:lnSpc>
                <a:spcPct val="108000"/>
              </a:lnSpc>
              <a:spcBef>
                <a:spcPts val="0"/>
              </a:spcBef>
              <a:spcAft>
                <a:spcPts val="0"/>
              </a:spcAft>
              <a:defRPr sz="3100" b="1">
                <a:solidFill>
                  <a:srgbClr val="22312F"/>
                </a:solidFill>
                <a:latin typeface="Arial"/>
              </a:defRPr>
            </a:pPr>
            <a:r>
              <a:t>Studio illustration: a four-site service network</a:t>
            </a:r>
          </a:p>
        </p:txBody>
      </p:sp>
      <p:sp>
        <p:nvSpPr>
          <p:cNvPr id="5" name="TextBox 4"/>
          <p:cNvSpPr txBox="1"/>
          <p:nvPr/>
        </p:nvSpPr>
        <p:spPr>
          <a:xfrm>
            <a:off x="548640" y="1536192"/>
            <a:ext cx="11045952" cy="502920"/>
          </a:xfrm>
          <a:prstGeom prst="rect">
            <a:avLst/>
          </a:prstGeom>
          <a:noFill/>
        </p:spPr>
        <p:txBody>
          <a:bodyPr wrap="square" lIns="0" rIns="0" tIns="0" bIns="0" anchor="t">
            <a:spAutoFit/>
          </a:bodyPr>
          <a:lstStyle/>
          <a:p>
            <a:pPr algn="l">
              <a:lnSpc>
                <a:spcPct val="108000"/>
              </a:lnSpc>
              <a:spcBef>
                <a:spcPts val="0"/>
              </a:spcBef>
              <a:spcAft>
                <a:spcPts val="0"/>
              </a:spcAft>
              <a:defRPr sz="1900" b="0">
                <a:solidFill>
                  <a:srgbClr val="5E6C68"/>
                </a:solidFill>
                <a:latin typeface="Arial"/>
              </a:defRPr>
            </a:pPr>
            <a:r>
              <a:t>Proposed links among community services and destinations</a:t>
            </a:r>
          </a:p>
        </p:txBody>
      </p:sp>
      <p:cxnSp>
        <p:nvCxnSpPr>
          <p:cNvPr id="6" name="Connector 5"/>
          <p:cNvCxnSpPr/>
          <p:nvPr/>
        </p:nvCxnSpPr>
        <p:spPr>
          <a:xfrm>
            <a:off x="548640" y="6391656"/>
            <a:ext cx="11091672"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548640" y="6487668"/>
            <a:ext cx="10607040" cy="228600"/>
          </a:xfrm>
          <a:prstGeom prst="rect">
            <a:avLst/>
          </a:prstGeom>
          <a:noFill/>
        </p:spPr>
        <p:txBody>
          <a:bodyPr wrap="square" lIns="0" rIns="0" tIns="0" bIns="0" anchor="t">
            <a:spAutoFit/>
          </a:bodyPr>
          <a:lstStyle/>
          <a:p>
            <a:pPr algn="l">
              <a:lnSpc>
                <a:spcPct val="108000"/>
              </a:lnSpc>
              <a:spcBef>
                <a:spcPts val="0"/>
              </a:spcBef>
              <a:spcAft>
                <a:spcPts val="0"/>
              </a:spcAft>
              <a:defRPr sz="1100" b="0">
                <a:solidFill>
                  <a:srgbClr val="5E6C68"/>
                </a:solidFill>
                <a:latin typeface="Arial"/>
              </a:defRPr>
            </a:pPr>
            <a:r>
              <a:t>Studio PDF pp. 1, 9 · Su Li, Yijun Zhang, Yanrong Zheng · LARCH 507, Catherine de Almeida</a:t>
            </a:r>
          </a:p>
        </p:txBody>
      </p:sp>
      <p:sp>
        <p:nvSpPr>
          <p:cNvPr id="8" name="TextBox 7"/>
          <p:cNvSpPr txBox="1"/>
          <p:nvPr/>
        </p:nvSpPr>
        <p:spPr>
          <a:xfrm>
            <a:off x="11192256" y="6473952"/>
            <a:ext cx="420624" cy="246888"/>
          </a:xfrm>
          <a:prstGeom prst="rect">
            <a:avLst/>
          </a:prstGeom>
          <a:noFill/>
        </p:spPr>
        <p:txBody>
          <a:bodyPr wrap="square" lIns="0" rIns="0" tIns="0" bIns="0" anchor="t">
            <a:spAutoFit/>
          </a:bodyPr>
          <a:lstStyle/>
          <a:p>
            <a:pPr algn="r">
              <a:lnSpc>
                <a:spcPct val="108000"/>
              </a:lnSpc>
              <a:spcBef>
                <a:spcPts val="0"/>
              </a:spcBef>
              <a:spcAft>
                <a:spcPts val="0"/>
              </a:spcAft>
              <a:defRPr sz="1200" b="1">
                <a:solidFill>
                  <a:srgbClr val="20685F"/>
                </a:solidFill>
                <a:latin typeface="Arial"/>
              </a:defRPr>
            </a:pPr>
            <a:r>
              <a:t>08</a:t>
            </a:r>
          </a:p>
        </p:txBody>
      </p:sp>
      <p:sp>
        <p:nvSpPr>
          <p:cNvPr id="9" name="Rectangle 8"/>
          <p:cNvSpPr/>
          <p:nvPr/>
        </p:nvSpPr>
        <p:spPr>
          <a:xfrm>
            <a:off x="585216" y="2066543"/>
            <a:ext cx="10991088" cy="326440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0" name="Picture 9" descr="Original studio axonometric drawing of proposed container services linking South Park, Marra Farm, Duwamish River Community Hub, and Food Lifeline; not a measured access map."/>
          <p:cNvPicPr>
            <a:picLocks noChangeAspect="1"/>
          </p:cNvPicPr>
          <p:nvPr/>
        </p:nvPicPr>
        <p:blipFill>
          <a:blip r:embed="rId3"/>
          <a:stretch>
            <a:fillRect/>
          </a:stretch>
        </p:blipFill>
        <p:spPr>
          <a:xfrm>
            <a:off x="2380708" y="2075688"/>
            <a:ext cx="7400102" cy="3246120"/>
          </a:xfrm>
          <a:prstGeom prst="rect">
            <a:avLst/>
          </a:prstGeom>
        </p:spPr>
      </p:pic>
      <p:cxnSp>
        <p:nvCxnSpPr>
          <p:cNvPr id="11" name="Connector 10"/>
          <p:cNvCxnSpPr/>
          <p:nvPr/>
        </p:nvCxnSpPr>
        <p:spPr>
          <a:xfrm>
            <a:off x="585216" y="5404104"/>
            <a:ext cx="2487168" cy="0"/>
          </a:xfrm>
          <a:prstGeom prst="line">
            <a:avLst/>
          </a:prstGeom>
          <a:ln w="17780">
            <a:solidFill>
              <a:srgbClr val="20685F"/>
            </a:solidFill>
          </a:ln>
          <a:effectLst/>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585216" y="5550408"/>
            <a:ext cx="2505456" cy="585216"/>
          </a:xfrm>
          <a:prstGeom prst="rect">
            <a:avLst/>
          </a:prstGeom>
          <a:noFill/>
        </p:spPr>
        <p:txBody>
          <a:bodyPr wrap="square" lIns="0" rIns="0" tIns="0" bIns="0" anchor="t">
            <a:spAutoFit/>
          </a:bodyPr>
          <a:lstStyle/>
          <a:p>
            <a:pPr algn="l">
              <a:lnSpc>
                <a:spcPct val="108000"/>
              </a:lnSpc>
              <a:spcBef>
                <a:spcPts val="0"/>
              </a:spcBef>
              <a:spcAft>
                <a:spcPts val="0"/>
              </a:spcAft>
              <a:defRPr sz="2000" b="1">
                <a:solidFill>
                  <a:srgbClr val="22312F"/>
                </a:solidFill>
                <a:latin typeface="Arial"/>
              </a:defRPr>
            </a:pPr>
            <a:r>
              <a:t>South Park</a:t>
            </a:r>
          </a:p>
        </p:txBody>
      </p:sp>
      <p:cxnSp>
        <p:nvCxnSpPr>
          <p:cNvPr id="13" name="Connector 12"/>
          <p:cNvCxnSpPr/>
          <p:nvPr/>
        </p:nvCxnSpPr>
        <p:spPr>
          <a:xfrm>
            <a:off x="3401568" y="5404104"/>
            <a:ext cx="2487168" cy="0"/>
          </a:xfrm>
          <a:prstGeom prst="line">
            <a:avLst/>
          </a:prstGeom>
          <a:ln w="17780">
            <a:solidFill>
              <a:srgbClr val="20685F"/>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3401568" y="5550408"/>
            <a:ext cx="2505456" cy="585216"/>
          </a:xfrm>
          <a:prstGeom prst="rect">
            <a:avLst/>
          </a:prstGeom>
          <a:noFill/>
        </p:spPr>
        <p:txBody>
          <a:bodyPr wrap="square" lIns="0" rIns="0" tIns="0" bIns="0" anchor="t">
            <a:spAutoFit/>
          </a:bodyPr>
          <a:lstStyle/>
          <a:p>
            <a:pPr algn="l">
              <a:lnSpc>
                <a:spcPct val="108000"/>
              </a:lnSpc>
              <a:spcBef>
                <a:spcPts val="0"/>
              </a:spcBef>
              <a:spcAft>
                <a:spcPts val="0"/>
              </a:spcAft>
              <a:defRPr sz="2000" b="1">
                <a:solidFill>
                  <a:srgbClr val="22312F"/>
                </a:solidFill>
                <a:latin typeface="Arial"/>
              </a:defRPr>
            </a:pPr>
            <a:r>
              <a:t>Marra Farm</a:t>
            </a:r>
          </a:p>
        </p:txBody>
      </p:sp>
      <p:cxnSp>
        <p:nvCxnSpPr>
          <p:cNvPr id="15" name="Connector 14"/>
          <p:cNvCxnSpPr/>
          <p:nvPr/>
        </p:nvCxnSpPr>
        <p:spPr>
          <a:xfrm>
            <a:off x="6217920" y="5404104"/>
            <a:ext cx="2487168" cy="0"/>
          </a:xfrm>
          <a:prstGeom prst="line">
            <a:avLst/>
          </a:prstGeom>
          <a:ln w="17780">
            <a:solidFill>
              <a:srgbClr val="20685F"/>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217920" y="5550408"/>
            <a:ext cx="2505456" cy="585216"/>
          </a:xfrm>
          <a:prstGeom prst="rect">
            <a:avLst/>
          </a:prstGeom>
          <a:noFill/>
        </p:spPr>
        <p:txBody>
          <a:bodyPr wrap="square" lIns="0" rIns="0" tIns="0" bIns="0" anchor="t">
            <a:spAutoFit/>
          </a:bodyPr>
          <a:lstStyle/>
          <a:p>
            <a:pPr algn="l">
              <a:lnSpc>
                <a:spcPct val="108000"/>
              </a:lnSpc>
              <a:spcBef>
                <a:spcPts val="0"/>
              </a:spcBef>
              <a:spcAft>
                <a:spcPts val="0"/>
              </a:spcAft>
              <a:defRPr sz="2000" b="1">
                <a:solidFill>
                  <a:srgbClr val="22312F"/>
                </a:solidFill>
                <a:latin typeface="Arial"/>
              </a:defRPr>
            </a:pPr>
            <a:r>
              <a:t>Duwamish River</a:t>
            </a:r>
          </a:p>
          <a:p>
            <a:pPr algn="l">
              <a:lnSpc>
                <a:spcPct val="108000"/>
              </a:lnSpc>
              <a:spcBef>
                <a:spcPts val="0"/>
              </a:spcBef>
              <a:spcAft>
                <a:spcPts val="0"/>
              </a:spcAft>
              <a:defRPr sz="2000" b="1">
                <a:solidFill>
                  <a:srgbClr val="22312F"/>
                </a:solidFill>
                <a:latin typeface="Arial"/>
              </a:defRPr>
            </a:pPr>
            <a:r>
              <a:t>Community Hub</a:t>
            </a:r>
          </a:p>
        </p:txBody>
      </p:sp>
      <p:cxnSp>
        <p:nvCxnSpPr>
          <p:cNvPr id="17" name="Connector 16"/>
          <p:cNvCxnSpPr/>
          <p:nvPr/>
        </p:nvCxnSpPr>
        <p:spPr>
          <a:xfrm>
            <a:off x="9034272" y="5404104"/>
            <a:ext cx="2487168" cy="0"/>
          </a:xfrm>
          <a:prstGeom prst="line">
            <a:avLst/>
          </a:prstGeom>
          <a:ln w="17780">
            <a:solidFill>
              <a:srgbClr val="20685F"/>
            </a:solidFill>
          </a:ln>
          <a:effectLst/>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9034272" y="5550408"/>
            <a:ext cx="2505456" cy="585216"/>
          </a:xfrm>
          <a:prstGeom prst="rect">
            <a:avLst/>
          </a:prstGeom>
          <a:noFill/>
        </p:spPr>
        <p:txBody>
          <a:bodyPr wrap="square" lIns="0" rIns="0" tIns="0" bIns="0" anchor="t">
            <a:spAutoFit/>
          </a:bodyPr>
          <a:lstStyle/>
          <a:p>
            <a:pPr algn="l">
              <a:lnSpc>
                <a:spcPct val="108000"/>
              </a:lnSpc>
              <a:spcBef>
                <a:spcPts val="0"/>
              </a:spcBef>
              <a:spcAft>
                <a:spcPts val="0"/>
              </a:spcAft>
              <a:defRPr sz="2000" b="1">
                <a:solidFill>
                  <a:srgbClr val="22312F"/>
                </a:solidFill>
                <a:latin typeface="Arial"/>
              </a:defRPr>
            </a:pPr>
            <a:r>
              <a:t>Food Lifeline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BF9"/>
        </a:solidFill>
        <a:effectLst/>
      </p:bgPr>
    </p:bg>
    <p:spTree>
      <p:nvGrpSpPr>
        <p:cNvPr id="1" name=""/>
        <p:cNvGrpSpPr/>
        <p:nvPr/>
      </p:nvGrpSpPr>
      <p:grpSpPr/>
      <p:sp>
        <p:nvSpPr>
          <p:cNvPr id="2" name="Rectangle 1"/>
          <p:cNvSpPr/>
          <p:nvPr/>
        </p:nvSpPr>
        <p:spPr>
          <a:xfrm>
            <a:off x="548640" y="448056"/>
            <a:ext cx="329184" cy="41148"/>
          </a:xfrm>
          <a:prstGeom prst="rect">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978408" y="365760"/>
            <a:ext cx="10561320" cy="256032"/>
          </a:xfrm>
          <a:prstGeom prst="rect">
            <a:avLst/>
          </a:prstGeom>
          <a:noFill/>
        </p:spPr>
        <p:txBody>
          <a:bodyPr wrap="square" lIns="0" rIns="0" tIns="0" bIns="0" anchor="t">
            <a:spAutoFit/>
          </a:bodyPr>
          <a:lstStyle/>
          <a:p>
            <a:pPr algn="l">
              <a:lnSpc>
                <a:spcPct val="108000"/>
              </a:lnSpc>
              <a:spcBef>
                <a:spcPts val="0"/>
              </a:spcBef>
              <a:spcAft>
                <a:spcPts val="0"/>
              </a:spcAft>
              <a:defRPr sz="1150" b="1">
                <a:solidFill>
                  <a:srgbClr val="20685F"/>
                </a:solidFill>
                <a:latin typeface="Arial"/>
              </a:defRPr>
            </a:pPr>
            <a:r>
              <a:t>FOOD. CO. · PROPOSED PLANNING RESPONSE</a:t>
            </a:r>
          </a:p>
        </p:txBody>
      </p:sp>
      <p:sp>
        <p:nvSpPr>
          <p:cNvPr id="4" name="TextBox 3"/>
          <p:cNvSpPr txBox="1"/>
          <p:nvPr/>
        </p:nvSpPr>
        <p:spPr>
          <a:xfrm>
            <a:off x="548640" y="832104"/>
            <a:ext cx="11045952" cy="694944"/>
          </a:xfrm>
          <a:prstGeom prst="rect">
            <a:avLst/>
          </a:prstGeom>
          <a:noFill/>
        </p:spPr>
        <p:txBody>
          <a:bodyPr wrap="square" lIns="0" rIns="0" tIns="0" bIns="0" anchor="t">
            <a:spAutoFit/>
          </a:bodyPr>
          <a:lstStyle/>
          <a:p>
            <a:pPr algn="l">
              <a:lnSpc>
                <a:spcPct val="108000"/>
              </a:lnSpc>
              <a:spcBef>
                <a:spcPts val="0"/>
              </a:spcBef>
              <a:spcAft>
                <a:spcPts val="0"/>
              </a:spcAft>
              <a:defRPr sz="2900" b="1">
                <a:solidFill>
                  <a:srgbClr val="22312F"/>
                </a:solidFill>
                <a:latin typeface="Arial"/>
              </a:defRPr>
            </a:pPr>
            <a:r>
              <a:t>Studio illustration: Food Lifeline’s public interface</a:t>
            </a:r>
          </a:p>
        </p:txBody>
      </p:sp>
      <p:cxnSp>
        <p:nvCxnSpPr>
          <p:cNvPr id="5" name="Connector 4"/>
          <p:cNvCxnSpPr/>
          <p:nvPr/>
        </p:nvCxnSpPr>
        <p:spPr>
          <a:xfrm>
            <a:off x="548640" y="6391656"/>
            <a:ext cx="11091672"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48640" y="6487668"/>
            <a:ext cx="10607040" cy="228600"/>
          </a:xfrm>
          <a:prstGeom prst="rect">
            <a:avLst/>
          </a:prstGeom>
          <a:noFill/>
        </p:spPr>
        <p:txBody>
          <a:bodyPr wrap="square" lIns="0" rIns="0" tIns="0" bIns="0" anchor="t">
            <a:spAutoFit/>
          </a:bodyPr>
          <a:lstStyle/>
          <a:p>
            <a:pPr algn="l">
              <a:lnSpc>
                <a:spcPct val="108000"/>
              </a:lnSpc>
              <a:spcBef>
                <a:spcPts val="0"/>
              </a:spcBef>
              <a:spcAft>
                <a:spcPts val="0"/>
              </a:spcAft>
              <a:defRPr sz="1100" b="0">
                <a:solidFill>
                  <a:srgbClr val="5E6C68"/>
                </a:solidFill>
                <a:latin typeface="Arial"/>
              </a:defRPr>
            </a:pPr>
            <a:r>
              <a:t>Proposed site plan: studio PDF p. 10 · Presentation annotations; no evaluated access or safety outcomes</a:t>
            </a:r>
          </a:p>
        </p:txBody>
      </p:sp>
      <p:sp>
        <p:nvSpPr>
          <p:cNvPr id="7" name="TextBox 6"/>
          <p:cNvSpPr txBox="1"/>
          <p:nvPr/>
        </p:nvSpPr>
        <p:spPr>
          <a:xfrm>
            <a:off x="11192256" y="6473952"/>
            <a:ext cx="420624" cy="246888"/>
          </a:xfrm>
          <a:prstGeom prst="rect">
            <a:avLst/>
          </a:prstGeom>
          <a:noFill/>
        </p:spPr>
        <p:txBody>
          <a:bodyPr wrap="square" lIns="0" rIns="0" tIns="0" bIns="0" anchor="t">
            <a:spAutoFit/>
          </a:bodyPr>
          <a:lstStyle/>
          <a:p>
            <a:pPr algn="r">
              <a:lnSpc>
                <a:spcPct val="108000"/>
              </a:lnSpc>
              <a:spcBef>
                <a:spcPts val="0"/>
              </a:spcBef>
              <a:spcAft>
                <a:spcPts val="0"/>
              </a:spcAft>
              <a:defRPr sz="1200" b="1">
                <a:solidFill>
                  <a:srgbClr val="20685F"/>
                </a:solidFill>
                <a:latin typeface="Arial"/>
              </a:defRPr>
            </a:pPr>
            <a:r>
              <a:t>09</a:t>
            </a:r>
          </a:p>
        </p:txBody>
      </p:sp>
      <p:sp>
        <p:nvSpPr>
          <p:cNvPr id="8" name="Rectangle 7"/>
          <p:cNvSpPr/>
          <p:nvPr/>
        </p:nvSpPr>
        <p:spPr>
          <a:xfrm>
            <a:off x="576072" y="1700784"/>
            <a:ext cx="7040880" cy="452628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Original proposed Food Lifeline site plan: entry plaza, cafe, pedestrian edge, urban farm, loading, and vehicle functions."/>
          <p:cNvPicPr>
            <a:picLocks noChangeAspect="1"/>
          </p:cNvPicPr>
          <p:nvPr/>
        </p:nvPicPr>
        <p:blipFill>
          <a:blip r:embed="rId3"/>
          <a:stretch>
            <a:fillRect/>
          </a:stretch>
        </p:blipFill>
        <p:spPr>
          <a:xfrm>
            <a:off x="1288128" y="1719072"/>
            <a:ext cx="5607622" cy="4489704"/>
          </a:xfrm>
          <a:prstGeom prst="rect">
            <a:avLst/>
          </a:prstGeom>
        </p:spPr>
      </p:pic>
      <p:sp>
        <p:nvSpPr>
          <p:cNvPr id="10" name="Oval 9"/>
          <p:cNvSpPr/>
          <p:nvPr/>
        </p:nvSpPr>
        <p:spPr>
          <a:xfrm>
            <a:off x="2240280" y="2551176"/>
            <a:ext cx="310896" cy="310896"/>
          </a:xfrm>
          <a:prstGeom prst="ellipse">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1200">
                <a:solidFill>
                  <a:srgbClr val="FFFFFF"/>
                </a:solidFill>
                <a:latin typeface="Arial"/>
              </a:defRPr>
            </a:pPr>
            <a:r>
              <a:t>1</a:t>
            </a:r>
          </a:p>
        </p:txBody>
      </p:sp>
      <p:sp>
        <p:nvSpPr>
          <p:cNvPr id="11" name="Oval 10"/>
          <p:cNvSpPr/>
          <p:nvPr/>
        </p:nvSpPr>
        <p:spPr>
          <a:xfrm>
            <a:off x="1527048" y="4123944"/>
            <a:ext cx="310896" cy="310896"/>
          </a:xfrm>
          <a:prstGeom prst="ellipse">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1200">
                <a:solidFill>
                  <a:srgbClr val="FFFFFF"/>
                </a:solidFill>
                <a:latin typeface="Arial"/>
              </a:defRPr>
            </a:pPr>
            <a:r>
              <a:t>2</a:t>
            </a:r>
          </a:p>
        </p:txBody>
      </p:sp>
      <p:sp>
        <p:nvSpPr>
          <p:cNvPr id="12" name="Oval 11"/>
          <p:cNvSpPr/>
          <p:nvPr/>
        </p:nvSpPr>
        <p:spPr>
          <a:xfrm>
            <a:off x="4334256" y="4105656"/>
            <a:ext cx="310896" cy="310896"/>
          </a:xfrm>
          <a:prstGeom prst="ellipse">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1200">
                <a:solidFill>
                  <a:srgbClr val="FFFFFF"/>
                </a:solidFill>
                <a:latin typeface="Arial"/>
              </a:defRPr>
            </a:pPr>
            <a:r>
              <a:t>3</a:t>
            </a:r>
          </a:p>
        </p:txBody>
      </p:sp>
      <p:sp>
        <p:nvSpPr>
          <p:cNvPr id="13" name="Oval 12"/>
          <p:cNvSpPr/>
          <p:nvPr/>
        </p:nvSpPr>
        <p:spPr>
          <a:xfrm>
            <a:off x="8046720" y="2121408"/>
            <a:ext cx="310896" cy="310896"/>
          </a:xfrm>
          <a:prstGeom prst="ellipse">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1200">
                <a:solidFill>
                  <a:srgbClr val="FFFFFF"/>
                </a:solidFill>
                <a:latin typeface="Arial"/>
              </a:defRPr>
            </a:pPr>
            <a:r>
              <a:t>1</a:t>
            </a:r>
          </a:p>
        </p:txBody>
      </p:sp>
      <p:sp>
        <p:nvSpPr>
          <p:cNvPr id="14" name="TextBox 13"/>
          <p:cNvSpPr txBox="1"/>
          <p:nvPr/>
        </p:nvSpPr>
        <p:spPr>
          <a:xfrm>
            <a:off x="8503920" y="2084831"/>
            <a:ext cx="3008376" cy="438912"/>
          </a:xfrm>
          <a:prstGeom prst="rect">
            <a:avLst/>
          </a:prstGeom>
          <a:noFill/>
        </p:spPr>
        <p:txBody>
          <a:bodyPr wrap="square" lIns="0" rIns="0" tIns="0" bIns="0" anchor="t">
            <a:spAutoFit/>
          </a:bodyPr>
          <a:lstStyle/>
          <a:p>
            <a:pPr algn="l">
              <a:lnSpc>
                <a:spcPct val="108000"/>
              </a:lnSpc>
              <a:spcBef>
                <a:spcPts val="0"/>
              </a:spcBef>
              <a:spcAft>
                <a:spcPts val="0"/>
              </a:spcAft>
              <a:defRPr sz="2300" b="1">
                <a:solidFill>
                  <a:srgbClr val="22312F"/>
                </a:solidFill>
                <a:latin typeface="Arial"/>
              </a:defRPr>
            </a:pPr>
            <a:r>
              <a:t>Entry plaza</a:t>
            </a:r>
          </a:p>
        </p:txBody>
      </p:sp>
      <p:sp>
        <p:nvSpPr>
          <p:cNvPr id="15" name="TextBox 14"/>
          <p:cNvSpPr txBox="1"/>
          <p:nvPr/>
        </p:nvSpPr>
        <p:spPr>
          <a:xfrm>
            <a:off x="8503920" y="2596896"/>
            <a:ext cx="2962656" cy="530352"/>
          </a:xfrm>
          <a:prstGeom prst="rect">
            <a:avLst/>
          </a:prstGeom>
          <a:noFill/>
        </p:spPr>
        <p:txBody>
          <a:bodyPr wrap="square" lIns="0" rIns="0" tIns="0" bIns="0" anchor="t">
            <a:spAutoFit/>
          </a:bodyPr>
          <a:lstStyle/>
          <a:p>
            <a:pPr algn="l">
              <a:lnSpc>
                <a:spcPct val="108000"/>
              </a:lnSpc>
              <a:spcBef>
                <a:spcPts val="0"/>
              </a:spcBef>
              <a:spcAft>
                <a:spcPts val="0"/>
              </a:spcAft>
              <a:defRPr sz="1900" b="0">
                <a:solidFill>
                  <a:srgbClr val="5E6C68"/>
                </a:solidFill>
                <a:latin typeface="Arial"/>
              </a:defRPr>
            </a:pPr>
            <a:r>
              <a:t>Events + café</a:t>
            </a:r>
          </a:p>
        </p:txBody>
      </p:sp>
      <p:sp>
        <p:nvSpPr>
          <p:cNvPr id="16" name="Oval 15"/>
          <p:cNvSpPr/>
          <p:nvPr/>
        </p:nvSpPr>
        <p:spPr>
          <a:xfrm>
            <a:off x="8046720" y="3246120"/>
            <a:ext cx="310896" cy="310896"/>
          </a:xfrm>
          <a:prstGeom prst="ellipse">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1200">
                <a:solidFill>
                  <a:srgbClr val="FFFFFF"/>
                </a:solidFill>
                <a:latin typeface="Arial"/>
              </a:defRPr>
            </a:pPr>
            <a:r>
              <a:t>2</a:t>
            </a:r>
          </a:p>
        </p:txBody>
      </p:sp>
      <p:sp>
        <p:nvSpPr>
          <p:cNvPr id="17" name="TextBox 16"/>
          <p:cNvSpPr txBox="1"/>
          <p:nvPr/>
        </p:nvSpPr>
        <p:spPr>
          <a:xfrm>
            <a:off x="8503920" y="3209544"/>
            <a:ext cx="3008376" cy="438912"/>
          </a:xfrm>
          <a:prstGeom prst="rect">
            <a:avLst/>
          </a:prstGeom>
          <a:noFill/>
        </p:spPr>
        <p:txBody>
          <a:bodyPr wrap="square" lIns="0" rIns="0" tIns="0" bIns="0" anchor="t">
            <a:spAutoFit/>
          </a:bodyPr>
          <a:lstStyle/>
          <a:p>
            <a:pPr algn="l">
              <a:lnSpc>
                <a:spcPct val="108000"/>
              </a:lnSpc>
              <a:spcBef>
                <a:spcPts val="0"/>
              </a:spcBef>
              <a:spcAft>
                <a:spcPts val="0"/>
              </a:spcAft>
              <a:defRPr sz="2300" b="1">
                <a:solidFill>
                  <a:srgbClr val="22312F"/>
                </a:solidFill>
                <a:latin typeface="Arial"/>
              </a:defRPr>
            </a:pPr>
            <a:r>
              <a:t>Pedestrian edge</a:t>
            </a:r>
          </a:p>
        </p:txBody>
      </p:sp>
      <p:sp>
        <p:nvSpPr>
          <p:cNvPr id="18" name="TextBox 17"/>
          <p:cNvSpPr txBox="1"/>
          <p:nvPr/>
        </p:nvSpPr>
        <p:spPr>
          <a:xfrm>
            <a:off x="8503920" y="3721608"/>
            <a:ext cx="2962656" cy="530352"/>
          </a:xfrm>
          <a:prstGeom prst="rect">
            <a:avLst/>
          </a:prstGeom>
          <a:noFill/>
        </p:spPr>
        <p:txBody>
          <a:bodyPr wrap="square" lIns="0" rIns="0" tIns="0" bIns="0" anchor="t">
            <a:spAutoFit/>
          </a:bodyPr>
          <a:lstStyle/>
          <a:p>
            <a:pPr algn="l">
              <a:lnSpc>
                <a:spcPct val="108000"/>
              </a:lnSpc>
              <a:spcBef>
                <a:spcPts val="0"/>
              </a:spcBef>
              <a:spcAft>
                <a:spcPts val="0"/>
              </a:spcAft>
              <a:defRPr sz="1900" b="0">
                <a:solidFill>
                  <a:srgbClr val="5E6C68"/>
                </a:solidFill>
                <a:latin typeface="Arial"/>
              </a:defRPr>
            </a:pPr>
            <a:r>
              <a:t>Movement + urban farm</a:t>
            </a:r>
          </a:p>
        </p:txBody>
      </p:sp>
      <p:sp>
        <p:nvSpPr>
          <p:cNvPr id="19" name="Oval 18"/>
          <p:cNvSpPr/>
          <p:nvPr/>
        </p:nvSpPr>
        <p:spPr>
          <a:xfrm>
            <a:off x="8046720" y="4370831"/>
            <a:ext cx="310896" cy="310896"/>
          </a:xfrm>
          <a:prstGeom prst="ellipse">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1200">
                <a:solidFill>
                  <a:srgbClr val="FFFFFF"/>
                </a:solidFill>
                <a:latin typeface="Arial"/>
              </a:defRPr>
            </a:pPr>
            <a:r>
              <a:t>3</a:t>
            </a:r>
          </a:p>
        </p:txBody>
      </p:sp>
      <p:sp>
        <p:nvSpPr>
          <p:cNvPr id="20" name="TextBox 19"/>
          <p:cNvSpPr txBox="1"/>
          <p:nvPr/>
        </p:nvSpPr>
        <p:spPr>
          <a:xfrm>
            <a:off x="8503920" y="4334256"/>
            <a:ext cx="3008376" cy="438912"/>
          </a:xfrm>
          <a:prstGeom prst="rect">
            <a:avLst/>
          </a:prstGeom>
          <a:noFill/>
        </p:spPr>
        <p:txBody>
          <a:bodyPr wrap="square" lIns="0" rIns="0" tIns="0" bIns="0" anchor="t">
            <a:spAutoFit/>
          </a:bodyPr>
          <a:lstStyle/>
          <a:p>
            <a:pPr algn="l">
              <a:lnSpc>
                <a:spcPct val="108000"/>
              </a:lnSpc>
              <a:spcBef>
                <a:spcPts val="0"/>
              </a:spcBef>
              <a:spcAft>
                <a:spcPts val="0"/>
              </a:spcAft>
              <a:defRPr sz="2300" b="1">
                <a:solidFill>
                  <a:srgbClr val="22312F"/>
                </a:solidFill>
                <a:latin typeface="Arial"/>
              </a:defRPr>
            </a:pPr>
            <a:r>
              <a:t>Loading areas</a:t>
            </a:r>
          </a:p>
        </p:txBody>
      </p:sp>
      <p:sp>
        <p:nvSpPr>
          <p:cNvPr id="21" name="TextBox 20"/>
          <p:cNvSpPr txBox="1"/>
          <p:nvPr/>
        </p:nvSpPr>
        <p:spPr>
          <a:xfrm>
            <a:off x="8503920" y="4846320"/>
            <a:ext cx="2962656" cy="530352"/>
          </a:xfrm>
          <a:prstGeom prst="rect">
            <a:avLst/>
          </a:prstGeom>
          <a:noFill/>
        </p:spPr>
        <p:txBody>
          <a:bodyPr wrap="square" lIns="0" rIns="0" tIns="0" bIns="0" anchor="t">
            <a:spAutoFit/>
          </a:bodyPr>
          <a:lstStyle/>
          <a:p>
            <a:pPr algn="l">
              <a:lnSpc>
                <a:spcPct val="108000"/>
              </a:lnSpc>
              <a:spcBef>
                <a:spcPts val="0"/>
              </a:spcBef>
              <a:spcAft>
                <a:spcPts val="0"/>
              </a:spcAft>
              <a:defRPr sz="1900" b="0">
                <a:solidFill>
                  <a:srgbClr val="5E6C68"/>
                </a:solidFill>
                <a:latin typeface="Arial"/>
              </a:defRPr>
            </a:pPr>
            <a:r>
              <a:t>Operational functions</a:t>
            </a:r>
          </a:p>
        </p:txBody>
      </p:sp>
      <p:sp>
        <p:nvSpPr>
          <p:cNvPr id="22" name="TextBox 21"/>
          <p:cNvSpPr txBox="1"/>
          <p:nvPr/>
        </p:nvSpPr>
        <p:spPr>
          <a:xfrm>
            <a:off x="8055864" y="5669280"/>
            <a:ext cx="3529584" cy="512064"/>
          </a:xfrm>
          <a:prstGeom prst="rect">
            <a:avLst/>
          </a:prstGeom>
          <a:noFill/>
        </p:spPr>
        <p:txBody>
          <a:bodyPr wrap="square" lIns="0" rIns="0" tIns="0" bIns="0" anchor="t">
            <a:spAutoFit/>
          </a:bodyPr>
          <a:lstStyle/>
          <a:p>
            <a:pPr algn="l">
              <a:lnSpc>
                <a:spcPct val="108000"/>
              </a:lnSpc>
              <a:spcBef>
                <a:spcPts val="0"/>
              </a:spcBef>
              <a:spcAft>
                <a:spcPts val="0"/>
              </a:spcAft>
              <a:defRPr sz="1600" b="0">
                <a:solidFill>
                  <a:srgbClr val="20685F"/>
                </a:solidFill>
                <a:latin typeface="Arial"/>
              </a:defRPr>
            </a:pPr>
            <a:r>
              <a:t>Test usefulness, circulation,</a:t>
            </a:r>
          </a:p>
          <a:p>
            <a:pPr algn="l">
              <a:lnSpc>
                <a:spcPct val="108000"/>
              </a:lnSpc>
              <a:spcBef>
                <a:spcPts val="0"/>
              </a:spcBef>
              <a:spcAft>
                <a:spcPts val="0"/>
              </a:spcAft>
              <a:defRPr sz="1600" b="0">
                <a:solidFill>
                  <a:srgbClr val="20685F"/>
                </a:solidFill>
                <a:latin typeface="Arial"/>
              </a:defRPr>
            </a:pPr>
            <a:r>
              <a:t>and responsibilities with users.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BF9"/>
        </a:solidFill>
        <a:effectLst/>
      </p:bgPr>
    </p:bg>
    <p:spTree>
      <p:nvGrpSpPr>
        <p:cNvPr id="1" name=""/>
        <p:cNvGrpSpPr/>
        <p:nvPr/>
      </p:nvGrpSpPr>
      <p:grpSpPr/>
      <p:sp>
        <p:nvSpPr>
          <p:cNvPr id="2" name="Rectangle 1"/>
          <p:cNvSpPr/>
          <p:nvPr/>
        </p:nvSpPr>
        <p:spPr>
          <a:xfrm>
            <a:off x="548640" y="448056"/>
            <a:ext cx="329184" cy="41148"/>
          </a:xfrm>
          <a:prstGeom prst="rect">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978408" y="365760"/>
            <a:ext cx="10561320" cy="256032"/>
          </a:xfrm>
          <a:prstGeom prst="rect">
            <a:avLst/>
          </a:prstGeom>
          <a:noFill/>
        </p:spPr>
        <p:txBody>
          <a:bodyPr wrap="square" lIns="0" rIns="0" tIns="0" bIns="0" anchor="t">
            <a:spAutoFit/>
          </a:bodyPr>
          <a:lstStyle/>
          <a:p>
            <a:pPr algn="l">
              <a:lnSpc>
                <a:spcPct val="108000"/>
              </a:lnSpc>
              <a:spcBef>
                <a:spcPts val="0"/>
              </a:spcBef>
              <a:spcAft>
                <a:spcPts val="0"/>
              </a:spcAft>
              <a:defRPr sz="1150" b="1">
                <a:solidFill>
                  <a:srgbClr val="20685F"/>
                </a:solidFill>
                <a:latin typeface="Arial"/>
              </a:defRPr>
            </a:pPr>
            <a:r>
              <a:t>CONCLUSIONS · PLANNING IMPLICATIONS</a:t>
            </a:r>
          </a:p>
        </p:txBody>
      </p:sp>
      <p:sp>
        <p:nvSpPr>
          <p:cNvPr id="4" name="TextBox 3"/>
          <p:cNvSpPr txBox="1"/>
          <p:nvPr/>
        </p:nvSpPr>
        <p:spPr>
          <a:xfrm>
            <a:off x="548640" y="832104"/>
            <a:ext cx="11045952" cy="694944"/>
          </a:xfrm>
          <a:prstGeom prst="rect">
            <a:avLst/>
          </a:prstGeom>
          <a:noFill/>
        </p:spPr>
        <p:txBody>
          <a:bodyPr wrap="square" lIns="0" rIns="0" tIns="0" bIns="0" anchor="t">
            <a:spAutoFit/>
          </a:bodyPr>
          <a:lstStyle/>
          <a:p>
            <a:pPr algn="l">
              <a:lnSpc>
                <a:spcPct val="108000"/>
              </a:lnSpc>
              <a:spcBef>
                <a:spcPts val="0"/>
              </a:spcBef>
              <a:spcAft>
                <a:spcPts val="0"/>
              </a:spcAft>
              <a:defRPr sz="3100" b="1">
                <a:solidFill>
                  <a:srgbClr val="22312F"/>
                </a:solidFill>
                <a:latin typeface="Arial"/>
              </a:defRPr>
            </a:pPr>
            <a:r>
              <a:t>Make access a criterion of industrial planning</a:t>
            </a:r>
          </a:p>
        </p:txBody>
      </p:sp>
      <p:sp>
        <p:nvSpPr>
          <p:cNvPr id="5" name="TextBox 4"/>
          <p:cNvSpPr txBox="1"/>
          <p:nvPr/>
        </p:nvSpPr>
        <p:spPr>
          <a:xfrm>
            <a:off x="548640" y="1536192"/>
            <a:ext cx="11045952" cy="502920"/>
          </a:xfrm>
          <a:prstGeom prst="rect">
            <a:avLst/>
          </a:prstGeom>
          <a:noFill/>
        </p:spPr>
        <p:txBody>
          <a:bodyPr wrap="square" lIns="0" rIns="0" tIns="0" bIns="0" anchor="t">
            <a:spAutoFit/>
          </a:bodyPr>
          <a:lstStyle/>
          <a:p>
            <a:pPr algn="l">
              <a:lnSpc>
                <a:spcPct val="108000"/>
              </a:lnSpc>
              <a:spcBef>
                <a:spcPts val="0"/>
              </a:spcBef>
              <a:spcAft>
                <a:spcPts val="0"/>
              </a:spcAft>
              <a:defRPr sz="1900" b="0">
                <a:solidFill>
                  <a:srgbClr val="5E6C68"/>
                </a:solidFill>
                <a:latin typeface="Arial"/>
              </a:defRPr>
            </a:pPr>
            <a:r>
              <a:t>Connect industrial land decisions to everyday resources and responsibilities</a:t>
            </a:r>
          </a:p>
        </p:txBody>
      </p:sp>
      <p:cxnSp>
        <p:nvCxnSpPr>
          <p:cNvPr id="6" name="Connector 5"/>
          <p:cNvCxnSpPr/>
          <p:nvPr/>
        </p:nvCxnSpPr>
        <p:spPr>
          <a:xfrm>
            <a:off x="548640" y="6391656"/>
            <a:ext cx="11091672"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548640" y="6487668"/>
            <a:ext cx="10607040" cy="228600"/>
          </a:xfrm>
          <a:prstGeom prst="rect">
            <a:avLst/>
          </a:prstGeom>
          <a:noFill/>
        </p:spPr>
        <p:txBody>
          <a:bodyPr wrap="square" lIns="0" rIns="0" tIns="0" bIns="0" anchor="t">
            <a:spAutoFit/>
          </a:bodyPr>
          <a:lstStyle/>
          <a:p>
            <a:pPr algn="l">
              <a:lnSpc>
                <a:spcPct val="108000"/>
              </a:lnSpc>
              <a:spcBef>
                <a:spcPts val="0"/>
              </a:spcBef>
              <a:spcAft>
                <a:spcPts val="0"/>
              </a:spcAft>
              <a:defRPr sz="1100" b="0">
                <a:solidFill>
                  <a:srgbClr val="5E6C68"/>
                </a:solidFill>
                <a:latin typeface="Arial"/>
              </a:defRPr>
            </a:pPr>
            <a:r>
              <a:t>Interpretation of primary findings, with literature framing [1–3] · Implications are proposed, not evaluated</a:t>
            </a:r>
          </a:p>
        </p:txBody>
      </p:sp>
      <p:sp>
        <p:nvSpPr>
          <p:cNvPr id="8" name="TextBox 7"/>
          <p:cNvSpPr txBox="1"/>
          <p:nvPr/>
        </p:nvSpPr>
        <p:spPr>
          <a:xfrm>
            <a:off x="11192256" y="6473952"/>
            <a:ext cx="420624" cy="246888"/>
          </a:xfrm>
          <a:prstGeom prst="rect">
            <a:avLst/>
          </a:prstGeom>
          <a:noFill/>
        </p:spPr>
        <p:txBody>
          <a:bodyPr wrap="square" lIns="0" rIns="0" tIns="0" bIns="0" anchor="t">
            <a:spAutoFit/>
          </a:bodyPr>
          <a:lstStyle/>
          <a:p>
            <a:pPr algn="r">
              <a:lnSpc>
                <a:spcPct val="108000"/>
              </a:lnSpc>
              <a:spcBef>
                <a:spcPts val="0"/>
              </a:spcBef>
              <a:spcAft>
                <a:spcPts val="0"/>
              </a:spcAft>
              <a:defRPr sz="1200" b="1">
                <a:solidFill>
                  <a:srgbClr val="20685F"/>
                </a:solidFill>
                <a:latin typeface="Arial"/>
              </a:defRPr>
            </a:pPr>
            <a:r>
              <a:t>10</a:t>
            </a:r>
          </a:p>
        </p:txBody>
      </p:sp>
      <p:cxnSp>
        <p:nvCxnSpPr>
          <p:cNvPr id="9" name="Connector 8"/>
          <p:cNvCxnSpPr/>
          <p:nvPr/>
        </p:nvCxnSpPr>
        <p:spPr>
          <a:xfrm>
            <a:off x="585216" y="2350008"/>
            <a:ext cx="10991088"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85216" y="2606039"/>
            <a:ext cx="3145536" cy="438912"/>
          </a:xfrm>
          <a:prstGeom prst="rect">
            <a:avLst/>
          </a:prstGeom>
          <a:noFill/>
        </p:spPr>
        <p:txBody>
          <a:bodyPr wrap="square" lIns="0" rIns="0" tIns="0" bIns="0" anchor="t">
            <a:spAutoFit/>
          </a:bodyPr>
          <a:lstStyle/>
          <a:p>
            <a:pPr algn="l">
              <a:lnSpc>
                <a:spcPct val="108000"/>
              </a:lnSpc>
              <a:spcBef>
                <a:spcPts val="0"/>
              </a:spcBef>
              <a:spcAft>
                <a:spcPts val="0"/>
              </a:spcAft>
              <a:defRPr sz="2600" b="1">
                <a:solidFill>
                  <a:srgbClr val="20685F"/>
                </a:solidFill>
                <a:latin typeface="Arial"/>
              </a:defRPr>
            </a:pPr>
            <a:r>
              <a:t>Knowledge</a:t>
            </a:r>
          </a:p>
        </p:txBody>
      </p:sp>
      <p:sp>
        <p:nvSpPr>
          <p:cNvPr id="11" name="TextBox 10"/>
          <p:cNvSpPr txBox="1"/>
          <p:nvPr/>
        </p:nvSpPr>
        <p:spPr>
          <a:xfrm>
            <a:off x="3922776" y="2596896"/>
            <a:ext cx="7644383" cy="740664"/>
          </a:xfrm>
          <a:prstGeom prst="rect">
            <a:avLst/>
          </a:prstGeom>
          <a:noFill/>
        </p:spPr>
        <p:txBody>
          <a:bodyPr wrap="square" lIns="0" rIns="0" tIns="0" bIns="0" anchor="t">
            <a:spAutoFit/>
          </a:bodyPr>
          <a:lstStyle/>
          <a:p>
            <a:pPr algn="l">
              <a:lnSpc>
                <a:spcPct val="108000"/>
              </a:lnSpc>
              <a:spcBef>
                <a:spcPts val="0"/>
              </a:spcBef>
              <a:spcAft>
                <a:spcPts val="0"/>
              </a:spcAft>
              <a:defRPr sz="2500" b="0">
                <a:solidFill>
                  <a:srgbClr val="22312F"/>
                </a:solidFill>
                <a:latin typeface="Arial"/>
              </a:defRPr>
            </a:pPr>
            <a:r>
              <a:t>Connect industrial designation with</a:t>
            </a:r>
          </a:p>
          <a:p>
            <a:pPr algn="l">
              <a:lnSpc>
                <a:spcPct val="108000"/>
              </a:lnSpc>
              <a:spcBef>
                <a:spcPts val="0"/>
              </a:spcBef>
              <a:spcAft>
                <a:spcPts val="0"/>
              </a:spcAft>
              <a:defRPr sz="2500" b="0">
                <a:solidFill>
                  <a:srgbClr val="22312F"/>
                </a:solidFill>
                <a:latin typeface="Arial"/>
              </a:defRPr>
            </a:pPr>
            <a:r>
              <a:t>multidimensional accounts of access.</a:t>
            </a:r>
          </a:p>
        </p:txBody>
      </p:sp>
      <p:cxnSp>
        <p:nvCxnSpPr>
          <p:cNvPr id="12" name="Connector 11"/>
          <p:cNvCxnSpPr/>
          <p:nvPr/>
        </p:nvCxnSpPr>
        <p:spPr>
          <a:xfrm>
            <a:off x="585216" y="3547872"/>
            <a:ext cx="10991088"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585216" y="3803904"/>
            <a:ext cx="3145536" cy="438912"/>
          </a:xfrm>
          <a:prstGeom prst="rect">
            <a:avLst/>
          </a:prstGeom>
          <a:noFill/>
        </p:spPr>
        <p:txBody>
          <a:bodyPr wrap="square" lIns="0" rIns="0" tIns="0" bIns="0" anchor="t">
            <a:spAutoFit/>
          </a:bodyPr>
          <a:lstStyle/>
          <a:p>
            <a:pPr algn="l">
              <a:lnSpc>
                <a:spcPct val="108000"/>
              </a:lnSpc>
              <a:spcBef>
                <a:spcPts val="0"/>
              </a:spcBef>
              <a:spcAft>
                <a:spcPts val="0"/>
              </a:spcAft>
              <a:defRPr sz="2600" b="1">
                <a:solidFill>
                  <a:srgbClr val="20685F"/>
                </a:solidFill>
                <a:latin typeface="Arial"/>
              </a:defRPr>
            </a:pPr>
            <a:r>
              <a:t>Practice</a:t>
            </a:r>
          </a:p>
        </p:txBody>
      </p:sp>
      <p:sp>
        <p:nvSpPr>
          <p:cNvPr id="14" name="TextBox 13"/>
          <p:cNvSpPr txBox="1"/>
          <p:nvPr/>
        </p:nvSpPr>
        <p:spPr>
          <a:xfrm>
            <a:off x="3922776" y="3794760"/>
            <a:ext cx="7644383" cy="740664"/>
          </a:xfrm>
          <a:prstGeom prst="rect">
            <a:avLst/>
          </a:prstGeom>
          <a:noFill/>
        </p:spPr>
        <p:txBody>
          <a:bodyPr wrap="square" lIns="0" rIns="0" tIns="0" bIns="0" anchor="t">
            <a:spAutoFit/>
          </a:bodyPr>
          <a:lstStyle/>
          <a:p>
            <a:pPr algn="l">
              <a:lnSpc>
                <a:spcPct val="108000"/>
              </a:lnSpc>
              <a:spcBef>
                <a:spcPts val="0"/>
              </a:spcBef>
              <a:spcAft>
                <a:spcPts val="0"/>
              </a:spcAft>
              <a:defRPr sz="2500" b="0">
                <a:solidFill>
                  <a:srgbClr val="22312F"/>
                </a:solidFill>
                <a:latin typeface="Arial"/>
              </a:defRPr>
            </a:pPr>
            <a:r>
              <a:t>Use access audits in land-use</a:t>
            </a:r>
          </a:p>
          <a:p>
            <a:pPr algn="l">
              <a:lnSpc>
                <a:spcPct val="108000"/>
              </a:lnSpc>
              <a:spcBef>
                <a:spcPts val="0"/>
              </a:spcBef>
              <a:spcAft>
                <a:spcPts val="0"/>
              </a:spcAft>
              <a:defRPr sz="2500" b="0">
                <a:solidFill>
                  <a:srgbClr val="22312F"/>
                </a:solidFill>
                <a:latin typeface="Arial"/>
              </a:defRPr>
            </a:pPr>
            <a:r>
              <a:t>and infrastructure decisions.</a:t>
            </a:r>
          </a:p>
        </p:txBody>
      </p:sp>
      <p:cxnSp>
        <p:nvCxnSpPr>
          <p:cNvPr id="15" name="Connector 14"/>
          <p:cNvCxnSpPr/>
          <p:nvPr/>
        </p:nvCxnSpPr>
        <p:spPr>
          <a:xfrm>
            <a:off x="585216" y="4745736"/>
            <a:ext cx="10991088"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85216" y="5001768"/>
            <a:ext cx="3145536" cy="438912"/>
          </a:xfrm>
          <a:prstGeom prst="rect">
            <a:avLst/>
          </a:prstGeom>
          <a:noFill/>
        </p:spPr>
        <p:txBody>
          <a:bodyPr wrap="square" lIns="0" rIns="0" tIns="0" bIns="0" anchor="t">
            <a:spAutoFit/>
          </a:bodyPr>
          <a:lstStyle/>
          <a:p>
            <a:pPr algn="l">
              <a:lnSpc>
                <a:spcPct val="108000"/>
              </a:lnSpc>
              <a:spcBef>
                <a:spcPts val="0"/>
              </a:spcBef>
              <a:spcAft>
                <a:spcPts val="0"/>
              </a:spcAft>
              <a:defRPr sz="2600" b="1">
                <a:solidFill>
                  <a:srgbClr val="20685F"/>
                </a:solidFill>
                <a:latin typeface="Arial"/>
              </a:defRPr>
            </a:pPr>
            <a:r>
              <a:t>Pedagogy</a:t>
            </a:r>
          </a:p>
        </p:txBody>
      </p:sp>
      <p:sp>
        <p:nvSpPr>
          <p:cNvPr id="17" name="TextBox 16"/>
          <p:cNvSpPr txBox="1"/>
          <p:nvPr/>
        </p:nvSpPr>
        <p:spPr>
          <a:xfrm>
            <a:off x="3922776" y="4992623"/>
            <a:ext cx="7644383" cy="740664"/>
          </a:xfrm>
          <a:prstGeom prst="rect">
            <a:avLst/>
          </a:prstGeom>
          <a:noFill/>
        </p:spPr>
        <p:txBody>
          <a:bodyPr wrap="square" lIns="0" rIns="0" tIns="0" bIns="0" anchor="t">
            <a:spAutoFit/>
          </a:bodyPr>
          <a:lstStyle/>
          <a:p>
            <a:pPr algn="l">
              <a:lnSpc>
                <a:spcPct val="108000"/>
              </a:lnSpc>
              <a:spcBef>
                <a:spcPts val="0"/>
              </a:spcBef>
              <a:spcAft>
                <a:spcPts val="0"/>
              </a:spcAft>
              <a:defRPr sz="2500" b="0">
                <a:solidFill>
                  <a:srgbClr val="22312F"/>
                </a:solidFill>
                <a:latin typeface="Arial"/>
              </a:defRPr>
            </a:pPr>
            <a:r>
              <a:t>Use studio drawings to formulate</a:t>
            </a:r>
          </a:p>
          <a:p>
            <a:pPr algn="l">
              <a:lnSpc>
                <a:spcPct val="108000"/>
              </a:lnSpc>
              <a:spcBef>
                <a:spcPts val="0"/>
              </a:spcBef>
              <a:spcAft>
                <a:spcPts val="0"/>
              </a:spcAft>
              <a:defRPr sz="2500" b="0">
                <a:solidFill>
                  <a:srgbClr val="22312F"/>
                </a:solidFill>
                <a:latin typeface="Arial"/>
              </a:defRPr>
            </a:pPr>
            <a:r>
              <a:t>and test planning questions.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BF9"/>
        </a:solidFill>
        <a:effectLst/>
      </p:bgPr>
    </p:bg>
    <p:spTree>
      <p:nvGrpSpPr>
        <p:cNvPr id="1" name=""/>
        <p:cNvGrpSpPr/>
        <p:nvPr/>
      </p:nvGrpSpPr>
      <p:grpSpPr/>
      <p:sp>
        <p:nvSpPr>
          <p:cNvPr id="2" name="Rectangle 1"/>
          <p:cNvSpPr/>
          <p:nvPr/>
        </p:nvSpPr>
        <p:spPr>
          <a:xfrm>
            <a:off x="548640" y="448056"/>
            <a:ext cx="329184" cy="41148"/>
          </a:xfrm>
          <a:prstGeom prst="rect">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978408" y="365760"/>
            <a:ext cx="10561320" cy="256032"/>
          </a:xfrm>
          <a:prstGeom prst="rect">
            <a:avLst/>
          </a:prstGeom>
          <a:noFill/>
        </p:spPr>
        <p:txBody>
          <a:bodyPr wrap="square" lIns="0" rIns="0" tIns="0" bIns="0" anchor="t">
            <a:spAutoFit/>
          </a:bodyPr>
          <a:lstStyle/>
          <a:p>
            <a:pPr algn="l">
              <a:lnSpc>
                <a:spcPct val="108000"/>
              </a:lnSpc>
              <a:spcBef>
                <a:spcPts val="0"/>
              </a:spcBef>
              <a:spcAft>
                <a:spcPts val="0"/>
              </a:spcAft>
              <a:defRPr sz="1150" b="1">
                <a:solidFill>
                  <a:srgbClr val="20685F"/>
                </a:solidFill>
                <a:latin typeface="Arial"/>
              </a:defRPr>
            </a:pPr>
            <a:r>
              <a:t>NEXT STEPS · PLANNING RESEARCH</a:t>
            </a:r>
          </a:p>
        </p:txBody>
      </p:sp>
      <p:sp>
        <p:nvSpPr>
          <p:cNvPr id="4" name="TextBox 3"/>
          <p:cNvSpPr txBox="1"/>
          <p:nvPr/>
        </p:nvSpPr>
        <p:spPr>
          <a:xfrm>
            <a:off x="548640" y="832104"/>
            <a:ext cx="11045952" cy="694944"/>
          </a:xfrm>
          <a:prstGeom prst="rect">
            <a:avLst/>
          </a:prstGeom>
          <a:noFill/>
        </p:spPr>
        <p:txBody>
          <a:bodyPr wrap="square" lIns="0" rIns="0" tIns="0" bIns="0" anchor="t">
            <a:spAutoFit/>
          </a:bodyPr>
          <a:lstStyle/>
          <a:p>
            <a:pPr algn="l">
              <a:lnSpc>
                <a:spcPct val="108000"/>
              </a:lnSpc>
              <a:spcBef>
                <a:spcPts val="0"/>
              </a:spcBef>
              <a:spcAft>
                <a:spcPts val="0"/>
              </a:spcAft>
              <a:defRPr sz="3100" b="1">
                <a:solidFill>
                  <a:srgbClr val="22312F"/>
                </a:solidFill>
                <a:latin typeface="Arial"/>
              </a:defRPr>
            </a:pPr>
            <a:r>
              <a:t>From a corridor case to a research agenda</a:t>
            </a:r>
          </a:p>
        </p:txBody>
      </p:sp>
      <p:sp>
        <p:nvSpPr>
          <p:cNvPr id="5" name="TextBox 4"/>
          <p:cNvSpPr txBox="1"/>
          <p:nvPr/>
        </p:nvSpPr>
        <p:spPr>
          <a:xfrm>
            <a:off x="548640" y="1536192"/>
            <a:ext cx="11045952" cy="502920"/>
          </a:xfrm>
          <a:prstGeom prst="rect">
            <a:avLst/>
          </a:prstGeom>
          <a:noFill/>
        </p:spPr>
        <p:txBody>
          <a:bodyPr wrap="square" lIns="0" rIns="0" tIns="0" bIns="0" anchor="t">
            <a:spAutoFit/>
          </a:bodyPr>
          <a:lstStyle/>
          <a:p>
            <a:pPr algn="l">
              <a:lnSpc>
                <a:spcPct val="108000"/>
              </a:lnSpc>
              <a:spcBef>
                <a:spcPts val="0"/>
              </a:spcBef>
              <a:spcAft>
                <a:spcPts val="0"/>
              </a:spcAft>
              <a:defRPr sz="1900" b="0">
                <a:solidFill>
                  <a:srgbClr val="5E6C68"/>
                </a:solidFill>
                <a:latin typeface="Arial"/>
              </a:defRPr>
            </a:pPr>
            <a:r>
              <a:t>Questions for comparative and longitudinal work</a:t>
            </a:r>
          </a:p>
        </p:txBody>
      </p:sp>
      <p:cxnSp>
        <p:nvCxnSpPr>
          <p:cNvPr id="6" name="Connector 5"/>
          <p:cNvCxnSpPr/>
          <p:nvPr/>
        </p:nvCxnSpPr>
        <p:spPr>
          <a:xfrm>
            <a:off x="548640" y="6391656"/>
            <a:ext cx="11091672"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548640" y="6487668"/>
            <a:ext cx="10607040" cy="228600"/>
          </a:xfrm>
          <a:prstGeom prst="rect">
            <a:avLst/>
          </a:prstGeom>
          <a:noFill/>
        </p:spPr>
        <p:txBody>
          <a:bodyPr wrap="square" lIns="0" rIns="0" tIns="0" bIns="0" anchor="t">
            <a:spAutoFit/>
          </a:bodyPr>
          <a:lstStyle/>
          <a:p>
            <a:pPr algn="l">
              <a:lnSpc>
                <a:spcPct val="108000"/>
              </a:lnSpc>
              <a:spcBef>
                <a:spcPts val="0"/>
              </a:spcBef>
              <a:spcAft>
                <a:spcPts val="0"/>
              </a:spcAft>
              <a:defRPr sz="1100" b="0">
                <a:solidFill>
                  <a:srgbClr val="5E6C68"/>
                </a:solidFill>
                <a:latin typeface="Arial"/>
              </a:defRPr>
            </a:pPr>
            <a:r>
              <a:t>Research questions proposed from this case · Causal effects and generalizability are not established</a:t>
            </a:r>
          </a:p>
        </p:txBody>
      </p:sp>
      <p:sp>
        <p:nvSpPr>
          <p:cNvPr id="8" name="TextBox 7"/>
          <p:cNvSpPr txBox="1"/>
          <p:nvPr/>
        </p:nvSpPr>
        <p:spPr>
          <a:xfrm>
            <a:off x="11192256" y="6473952"/>
            <a:ext cx="420624" cy="246888"/>
          </a:xfrm>
          <a:prstGeom prst="rect">
            <a:avLst/>
          </a:prstGeom>
          <a:noFill/>
        </p:spPr>
        <p:txBody>
          <a:bodyPr wrap="square" lIns="0" rIns="0" tIns="0" bIns="0" anchor="t">
            <a:spAutoFit/>
          </a:bodyPr>
          <a:lstStyle/>
          <a:p>
            <a:pPr algn="r">
              <a:lnSpc>
                <a:spcPct val="108000"/>
              </a:lnSpc>
              <a:spcBef>
                <a:spcPts val="0"/>
              </a:spcBef>
              <a:spcAft>
                <a:spcPts val="0"/>
              </a:spcAft>
              <a:defRPr sz="1200" b="1">
                <a:solidFill>
                  <a:srgbClr val="20685F"/>
                </a:solidFill>
                <a:latin typeface="Arial"/>
              </a:defRPr>
            </a:pPr>
            <a:r>
              <a:t>11</a:t>
            </a:r>
          </a:p>
        </p:txBody>
      </p:sp>
      <p:sp>
        <p:nvSpPr>
          <p:cNvPr id="9" name="Oval 8"/>
          <p:cNvSpPr/>
          <p:nvPr/>
        </p:nvSpPr>
        <p:spPr>
          <a:xfrm>
            <a:off x="585216" y="2350008"/>
            <a:ext cx="310896" cy="310896"/>
          </a:xfrm>
          <a:prstGeom prst="ellipse">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1200">
                <a:solidFill>
                  <a:srgbClr val="FFFFFF"/>
                </a:solidFill>
                <a:latin typeface="Arial"/>
              </a:defRPr>
            </a:pPr>
            <a:r>
              <a:t>1</a:t>
            </a:r>
          </a:p>
        </p:txBody>
      </p:sp>
      <p:sp>
        <p:nvSpPr>
          <p:cNvPr id="10" name="TextBox 9"/>
          <p:cNvSpPr txBox="1"/>
          <p:nvPr/>
        </p:nvSpPr>
        <p:spPr>
          <a:xfrm>
            <a:off x="1115568" y="2267712"/>
            <a:ext cx="10387584" cy="786384"/>
          </a:xfrm>
          <a:prstGeom prst="rect">
            <a:avLst/>
          </a:prstGeom>
          <a:noFill/>
        </p:spPr>
        <p:txBody>
          <a:bodyPr wrap="square" lIns="0" rIns="0" tIns="0" bIns="0" anchor="t">
            <a:spAutoFit/>
          </a:bodyPr>
          <a:lstStyle/>
          <a:p>
            <a:pPr algn="l">
              <a:lnSpc>
                <a:spcPct val="108000"/>
              </a:lnSpc>
              <a:spcBef>
                <a:spcPts val="0"/>
              </a:spcBef>
              <a:spcAft>
                <a:spcPts val="0"/>
              </a:spcAft>
              <a:defRPr sz="2500" b="1">
                <a:solidFill>
                  <a:srgbClr val="22312F"/>
                </a:solidFill>
                <a:latin typeface="Arial"/>
              </a:defRPr>
            </a:pPr>
            <a:r>
              <a:t>How does industrial designation relate to access</a:t>
            </a:r>
          </a:p>
          <a:p>
            <a:pPr algn="l">
              <a:lnSpc>
                <a:spcPct val="108000"/>
              </a:lnSpc>
              <a:spcBef>
                <a:spcPts val="0"/>
              </a:spcBef>
              <a:spcAft>
                <a:spcPts val="0"/>
              </a:spcAft>
              <a:defRPr sz="2500" b="1">
                <a:solidFill>
                  <a:srgbClr val="22312F"/>
                </a:solidFill>
                <a:latin typeface="Arial"/>
              </a:defRPr>
            </a:pPr>
            <a:r>
              <a:t>across households and networks?</a:t>
            </a:r>
          </a:p>
        </p:txBody>
      </p:sp>
      <p:sp>
        <p:nvSpPr>
          <p:cNvPr id="11" name="Oval 10"/>
          <p:cNvSpPr/>
          <p:nvPr/>
        </p:nvSpPr>
        <p:spPr>
          <a:xfrm>
            <a:off x="585216" y="3355848"/>
            <a:ext cx="310896" cy="310896"/>
          </a:xfrm>
          <a:prstGeom prst="ellipse">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1200">
                <a:solidFill>
                  <a:srgbClr val="FFFFFF"/>
                </a:solidFill>
                <a:latin typeface="Arial"/>
              </a:defRPr>
            </a:pPr>
            <a:r>
              <a:t>2</a:t>
            </a:r>
          </a:p>
        </p:txBody>
      </p:sp>
      <p:sp>
        <p:nvSpPr>
          <p:cNvPr id="12" name="TextBox 11"/>
          <p:cNvSpPr txBox="1"/>
          <p:nvPr/>
        </p:nvSpPr>
        <p:spPr>
          <a:xfrm>
            <a:off x="1115568" y="3273552"/>
            <a:ext cx="10387584" cy="786384"/>
          </a:xfrm>
          <a:prstGeom prst="rect">
            <a:avLst/>
          </a:prstGeom>
          <a:noFill/>
        </p:spPr>
        <p:txBody>
          <a:bodyPr wrap="square" lIns="0" rIns="0" tIns="0" bIns="0" anchor="t">
            <a:spAutoFit/>
          </a:bodyPr>
          <a:lstStyle/>
          <a:p>
            <a:pPr algn="l">
              <a:lnSpc>
                <a:spcPct val="108000"/>
              </a:lnSpc>
              <a:spcBef>
                <a:spcPts val="0"/>
              </a:spcBef>
              <a:spcAft>
                <a:spcPts val="0"/>
              </a:spcAft>
              <a:defRPr sz="2500" b="1">
                <a:solidFill>
                  <a:srgbClr val="22312F"/>
                </a:solidFill>
                <a:latin typeface="Arial"/>
              </a:defRPr>
            </a:pPr>
            <a:r>
              <a:t>Whose experiences do mapped indicators miss?</a:t>
            </a:r>
          </a:p>
        </p:txBody>
      </p:sp>
      <p:sp>
        <p:nvSpPr>
          <p:cNvPr id="13" name="Oval 12"/>
          <p:cNvSpPr/>
          <p:nvPr/>
        </p:nvSpPr>
        <p:spPr>
          <a:xfrm>
            <a:off x="585216" y="4361688"/>
            <a:ext cx="310896" cy="310896"/>
          </a:xfrm>
          <a:prstGeom prst="ellipse">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1200">
                <a:solidFill>
                  <a:srgbClr val="FFFFFF"/>
                </a:solidFill>
                <a:latin typeface="Arial"/>
              </a:defRPr>
            </a:pPr>
            <a:r>
              <a:t>3</a:t>
            </a:r>
          </a:p>
        </p:txBody>
      </p:sp>
      <p:sp>
        <p:nvSpPr>
          <p:cNvPr id="14" name="TextBox 13"/>
          <p:cNvSpPr txBox="1"/>
          <p:nvPr/>
        </p:nvSpPr>
        <p:spPr>
          <a:xfrm>
            <a:off x="1115568" y="4279392"/>
            <a:ext cx="10387584" cy="786384"/>
          </a:xfrm>
          <a:prstGeom prst="rect">
            <a:avLst/>
          </a:prstGeom>
          <a:noFill/>
        </p:spPr>
        <p:txBody>
          <a:bodyPr wrap="square" lIns="0" rIns="0" tIns="0" bIns="0" anchor="t">
            <a:spAutoFit/>
          </a:bodyPr>
          <a:lstStyle/>
          <a:p>
            <a:pPr algn="l">
              <a:lnSpc>
                <a:spcPct val="108000"/>
              </a:lnSpc>
              <a:spcBef>
                <a:spcPts val="0"/>
              </a:spcBef>
              <a:spcAft>
                <a:spcPts val="0"/>
              </a:spcAft>
              <a:defRPr sz="2500" b="1">
                <a:solidFill>
                  <a:srgbClr val="22312F"/>
                </a:solidFill>
                <a:latin typeface="Arial"/>
              </a:defRPr>
            </a:pPr>
            <a:r>
              <a:t>Which decisions expand resources</a:t>
            </a:r>
          </a:p>
          <a:p>
            <a:pPr algn="l">
              <a:lnSpc>
                <a:spcPct val="108000"/>
              </a:lnSpc>
              <a:spcBef>
                <a:spcPts val="0"/>
              </a:spcBef>
              <a:spcAft>
                <a:spcPts val="0"/>
              </a:spcAft>
              <a:defRPr sz="2500" b="1">
                <a:solidFill>
                  <a:srgbClr val="22312F"/>
                </a:solidFill>
                <a:latin typeface="Arial"/>
              </a:defRPr>
            </a:pPr>
            <a:r>
              <a:t>without shifting burdens?</a:t>
            </a:r>
          </a:p>
        </p:txBody>
      </p:sp>
      <p:sp>
        <p:nvSpPr>
          <p:cNvPr id="15" name="Rectangle 14"/>
          <p:cNvSpPr/>
          <p:nvPr/>
        </p:nvSpPr>
        <p:spPr>
          <a:xfrm>
            <a:off x="585216" y="5586984"/>
            <a:ext cx="10991088" cy="594360"/>
          </a:xfrm>
          <a:prstGeom prst="rect">
            <a:avLst/>
          </a:prstGeom>
          <a:solidFill>
            <a:srgbClr val="E9F1E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77240" y="5760720"/>
            <a:ext cx="10607040" cy="292608"/>
          </a:xfrm>
          <a:prstGeom prst="rect">
            <a:avLst/>
          </a:prstGeom>
          <a:noFill/>
        </p:spPr>
        <p:txBody>
          <a:bodyPr wrap="square" lIns="0" rIns="0" tIns="0" bIns="0" anchor="t">
            <a:spAutoFit/>
          </a:bodyPr>
          <a:lstStyle/>
          <a:p>
            <a:pPr algn="l">
              <a:lnSpc>
                <a:spcPct val="108000"/>
              </a:lnSpc>
              <a:spcBef>
                <a:spcPts val="0"/>
              </a:spcBef>
              <a:spcAft>
                <a:spcPts val="0"/>
              </a:spcAft>
              <a:defRPr sz="1700" b="0">
                <a:solidFill>
                  <a:srgbClr val="20685F"/>
                </a:solidFill>
                <a:latin typeface="Arial"/>
              </a:defRPr>
            </a:pPr>
            <a:r>
              <a:t>Next evidence: defined boundaries · dated datasets · access measures · documented community input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BF9"/>
        </a:solidFill>
        <a:effectLst/>
      </p:bgPr>
    </p:bg>
    <p:spTree>
      <p:nvGrpSpPr>
        <p:cNvPr id="1" name=""/>
        <p:cNvGrpSpPr/>
        <p:nvPr/>
      </p:nvGrpSpPr>
      <p:grpSpPr/>
      <p:sp>
        <p:nvSpPr>
          <p:cNvPr id="2" name="Rectangle 1"/>
          <p:cNvSpPr/>
          <p:nvPr/>
        </p:nvSpPr>
        <p:spPr>
          <a:xfrm>
            <a:off x="548640" y="448056"/>
            <a:ext cx="329184" cy="41148"/>
          </a:xfrm>
          <a:prstGeom prst="rect">
            <a:avLst/>
          </a:prstGeom>
          <a:solidFill>
            <a:srgbClr val="2068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978408" y="365760"/>
            <a:ext cx="10561320" cy="256032"/>
          </a:xfrm>
          <a:prstGeom prst="rect">
            <a:avLst/>
          </a:prstGeom>
          <a:noFill/>
        </p:spPr>
        <p:txBody>
          <a:bodyPr wrap="square" lIns="0" rIns="0" tIns="0" bIns="0" anchor="t">
            <a:spAutoFit/>
          </a:bodyPr>
          <a:lstStyle/>
          <a:p>
            <a:pPr algn="l">
              <a:lnSpc>
                <a:spcPct val="108000"/>
              </a:lnSpc>
              <a:spcBef>
                <a:spcPts val="0"/>
              </a:spcBef>
              <a:spcAft>
                <a:spcPts val="0"/>
              </a:spcAft>
              <a:defRPr sz="1150" b="1">
                <a:solidFill>
                  <a:srgbClr val="20685F"/>
                </a:solidFill>
                <a:latin typeface="Arial"/>
              </a:defRPr>
            </a:pPr>
            <a:r>
              <a:t>SOURCES · PRIMARY EVIDENCE AND EXTERNAL FRAMING</a:t>
            </a:r>
          </a:p>
        </p:txBody>
      </p:sp>
      <p:sp>
        <p:nvSpPr>
          <p:cNvPr id="4" name="TextBox 3"/>
          <p:cNvSpPr txBox="1"/>
          <p:nvPr/>
        </p:nvSpPr>
        <p:spPr>
          <a:xfrm>
            <a:off x="548640" y="832104"/>
            <a:ext cx="11045952" cy="694944"/>
          </a:xfrm>
          <a:prstGeom prst="rect">
            <a:avLst/>
          </a:prstGeom>
          <a:noFill/>
        </p:spPr>
        <p:txBody>
          <a:bodyPr wrap="square" lIns="0" rIns="0" tIns="0" bIns="0" anchor="t">
            <a:spAutoFit/>
          </a:bodyPr>
          <a:lstStyle/>
          <a:p>
            <a:pPr algn="l">
              <a:lnSpc>
                <a:spcPct val="108000"/>
              </a:lnSpc>
              <a:spcBef>
                <a:spcPts val="0"/>
              </a:spcBef>
              <a:spcAft>
                <a:spcPts val="0"/>
              </a:spcAft>
              <a:defRPr sz="3100" b="1">
                <a:solidFill>
                  <a:srgbClr val="22312F"/>
                </a:solidFill>
                <a:latin typeface="Arial"/>
              </a:defRPr>
            </a:pPr>
            <a:r>
              <a:t>References</a:t>
            </a:r>
          </a:p>
        </p:txBody>
      </p:sp>
      <p:cxnSp>
        <p:nvCxnSpPr>
          <p:cNvPr id="5" name="Connector 4"/>
          <p:cNvCxnSpPr/>
          <p:nvPr/>
        </p:nvCxnSpPr>
        <p:spPr>
          <a:xfrm>
            <a:off x="548640" y="6391656"/>
            <a:ext cx="11091672" cy="0"/>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48640" y="6487668"/>
            <a:ext cx="10607040" cy="228600"/>
          </a:xfrm>
          <a:prstGeom prst="rect">
            <a:avLst/>
          </a:prstGeom>
          <a:noFill/>
        </p:spPr>
        <p:txBody>
          <a:bodyPr wrap="square" lIns="0" rIns="0" tIns="0" bIns="0" anchor="t">
            <a:spAutoFit/>
          </a:bodyPr>
          <a:lstStyle/>
          <a:p>
            <a:pPr algn="l">
              <a:lnSpc>
                <a:spcPct val="108000"/>
              </a:lnSpc>
              <a:spcBef>
                <a:spcPts val="0"/>
              </a:spcBef>
              <a:spcAft>
                <a:spcPts val="0"/>
              </a:spcAft>
              <a:defRPr sz="1100" b="0">
                <a:solidFill>
                  <a:srgbClr val="5E6C68"/>
                </a:solidFill>
                <a:latin typeface="Arial"/>
              </a:defRPr>
            </a:pPr>
            <a:r>
              <a:t>Verification: publisher content, Crossref abstract/metadata, original author documentation, and official EPA text</a:t>
            </a:r>
          </a:p>
        </p:txBody>
      </p:sp>
      <p:sp>
        <p:nvSpPr>
          <p:cNvPr id="7" name="TextBox 6"/>
          <p:cNvSpPr txBox="1"/>
          <p:nvPr/>
        </p:nvSpPr>
        <p:spPr>
          <a:xfrm>
            <a:off x="11192256" y="6473952"/>
            <a:ext cx="420624" cy="246888"/>
          </a:xfrm>
          <a:prstGeom prst="rect">
            <a:avLst/>
          </a:prstGeom>
          <a:noFill/>
        </p:spPr>
        <p:txBody>
          <a:bodyPr wrap="square" lIns="0" rIns="0" tIns="0" bIns="0" anchor="t">
            <a:spAutoFit/>
          </a:bodyPr>
          <a:lstStyle/>
          <a:p>
            <a:pPr algn="r">
              <a:lnSpc>
                <a:spcPct val="108000"/>
              </a:lnSpc>
              <a:spcBef>
                <a:spcPts val="0"/>
              </a:spcBef>
              <a:spcAft>
                <a:spcPts val="0"/>
              </a:spcAft>
              <a:defRPr sz="1200" b="1">
                <a:solidFill>
                  <a:srgbClr val="20685F"/>
                </a:solidFill>
                <a:latin typeface="Arial"/>
              </a:defRPr>
            </a:pPr>
            <a:r>
              <a:t>12</a:t>
            </a:r>
          </a:p>
        </p:txBody>
      </p:sp>
      <p:sp>
        <p:nvSpPr>
          <p:cNvPr id="8" name="TextBox 7"/>
          <p:cNvSpPr txBox="1"/>
          <p:nvPr/>
        </p:nvSpPr>
        <p:spPr>
          <a:xfrm>
            <a:off x="585216" y="1737360"/>
            <a:ext cx="5312664" cy="256032"/>
          </a:xfrm>
          <a:prstGeom prst="rect">
            <a:avLst/>
          </a:prstGeom>
          <a:noFill/>
        </p:spPr>
        <p:txBody>
          <a:bodyPr wrap="square" lIns="0" rIns="0" tIns="0" bIns="0" anchor="t">
            <a:spAutoFit/>
          </a:bodyPr>
          <a:lstStyle/>
          <a:p>
            <a:pPr algn="l">
              <a:lnSpc>
                <a:spcPct val="108000"/>
              </a:lnSpc>
              <a:spcBef>
                <a:spcPts val="0"/>
              </a:spcBef>
              <a:spcAft>
                <a:spcPts val="0"/>
              </a:spcAft>
              <a:defRPr sz="1200" b="1">
                <a:solidFill>
                  <a:srgbClr val="20685F"/>
                </a:solidFill>
                <a:latin typeface="Arial"/>
              </a:defRPr>
            </a:pPr>
            <a:r>
              <a:t>PLANNING LITERATURE</a:t>
            </a:r>
          </a:p>
        </p:txBody>
      </p:sp>
      <p:sp>
        <p:nvSpPr>
          <p:cNvPr id="9" name="TextBox 8"/>
          <p:cNvSpPr txBox="1"/>
          <p:nvPr/>
        </p:nvSpPr>
        <p:spPr>
          <a:xfrm>
            <a:off x="585216" y="2093976"/>
            <a:ext cx="5312664" cy="539496"/>
          </a:xfrm>
          <a:prstGeom prst="rect">
            <a:avLst/>
          </a:prstGeom>
          <a:noFill/>
        </p:spPr>
        <p:txBody>
          <a:bodyPr wrap="square" lIns="0" rIns="0" tIns="0" bIns="0" anchor="t">
            <a:spAutoFit/>
          </a:bodyPr>
          <a:lstStyle/>
          <a:p>
            <a:pPr algn="l">
              <a:lnSpc>
                <a:spcPct val="108000"/>
              </a:lnSpc>
              <a:spcBef>
                <a:spcPts val="0"/>
              </a:spcBef>
              <a:spcAft>
                <a:spcPts val="0"/>
              </a:spcAft>
              <a:defRPr sz="1500" b="0">
                <a:solidFill>
                  <a:srgbClr val="22312F"/>
                </a:solidFill>
                <a:latin typeface="Arial"/>
              </a:defRPr>
            </a:pPr>
            <a:r>
              <a:t>[1] Fainstein, Susan S. (2010). The Just City.</a:t>
            </a:r>
          </a:p>
          <a:p>
            <a:pPr algn="l">
              <a:lnSpc>
                <a:spcPct val="108000"/>
              </a:lnSpc>
              <a:spcBef>
                <a:spcPts val="0"/>
              </a:spcBef>
              <a:spcAft>
                <a:spcPts val="0"/>
              </a:spcAft>
              <a:defRPr sz="1500" b="0">
                <a:solidFill>
                  <a:srgbClr val="22312F"/>
                </a:solidFill>
                <a:latin typeface="Arial"/>
              </a:defRPr>
            </a:pPr>
            <a:r>
              <a:t>Cornell University Press.</a:t>
            </a:r>
          </a:p>
        </p:txBody>
      </p:sp>
      <p:sp>
        <p:nvSpPr>
          <p:cNvPr id="10" name="TextBox 9"/>
          <p:cNvSpPr txBox="1"/>
          <p:nvPr/>
        </p:nvSpPr>
        <p:spPr>
          <a:xfrm>
            <a:off x="585216" y="2688336"/>
            <a:ext cx="5312664" cy="512064"/>
          </a:xfrm>
          <a:prstGeom prst="rect">
            <a:avLst/>
          </a:prstGeom>
          <a:noFill/>
        </p:spPr>
        <p:txBody>
          <a:bodyPr wrap="square" lIns="0" rIns="0" tIns="0" bIns="0" anchor="t">
            <a:spAutoFit/>
          </a:bodyPr>
          <a:lstStyle/>
          <a:p>
            <a:pPr algn="l">
              <a:lnSpc>
                <a:spcPct val="108000"/>
              </a:lnSpc>
              <a:spcBef>
                <a:spcPts val="0"/>
              </a:spcBef>
              <a:spcAft>
                <a:spcPts val="0"/>
              </a:spcAft>
              <a:defRPr sz="1250" b="0">
                <a:solidFill>
                  <a:srgbClr val="20685F"/>
                </a:solidFill>
                <a:latin typeface="Arial"/>
              </a:defRPr>
            </a:pPr>
            <a:r>
              <a:rPr>
                <a:solidFill>
                  <a:srgbClr val="20685F"/>
                </a:solidFill>
                <a:hlinkClick r:id="rId3"/>
              </a:rPr>
              <a:t>https://cornellpress.cornell.edu/book/9780801476907/the-just-city/</a:t>
            </a:r>
          </a:p>
        </p:txBody>
      </p:sp>
      <p:sp>
        <p:nvSpPr>
          <p:cNvPr id="11" name="TextBox 10"/>
          <p:cNvSpPr txBox="1"/>
          <p:nvPr/>
        </p:nvSpPr>
        <p:spPr>
          <a:xfrm>
            <a:off x="585216" y="3383280"/>
            <a:ext cx="5312664" cy="1014984"/>
          </a:xfrm>
          <a:prstGeom prst="rect">
            <a:avLst/>
          </a:prstGeom>
          <a:noFill/>
        </p:spPr>
        <p:txBody>
          <a:bodyPr wrap="square" lIns="0" rIns="0" tIns="0" bIns="0" anchor="t">
            <a:spAutoFit/>
          </a:bodyPr>
          <a:lstStyle/>
          <a:p>
            <a:pPr algn="l">
              <a:lnSpc>
                <a:spcPct val="108000"/>
              </a:lnSpc>
              <a:spcBef>
                <a:spcPts val="0"/>
              </a:spcBef>
              <a:spcAft>
                <a:spcPts val="0"/>
              </a:spcAft>
              <a:defRPr sz="1500" b="0">
                <a:solidFill>
                  <a:srgbClr val="22312F"/>
                </a:solidFill>
                <a:latin typeface="Arial"/>
              </a:defRPr>
            </a:pPr>
            <a:r>
              <a:t>[2] Waddell, Paul. (2002). UrbanSim: Modeling Urban Development for Land Use, Transportation, and Environmental Planning. Journal of the American Planning Association, 68(3), 297–314.</a:t>
            </a:r>
          </a:p>
        </p:txBody>
      </p:sp>
      <p:sp>
        <p:nvSpPr>
          <p:cNvPr id="12" name="TextBox 11"/>
          <p:cNvSpPr txBox="1"/>
          <p:nvPr/>
        </p:nvSpPr>
        <p:spPr>
          <a:xfrm>
            <a:off x="585216" y="4453128"/>
            <a:ext cx="5312664" cy="265176"/>
          </a:xfrm>
          <a:prstGeom prst="rect">
            <a:avLst/>
          </a:prstGeom>
          <a:noFill/>
        </p:spPr>
        <p:txBody>
          <a:bodyPr wrap="square" lIns="0" rIns="0" tIns="0" bIns="0" anchor="t">
            <a:spAutoFit/>
          </a:bodyPr>
          <a:lstStyle/>
          <a:p>
            <a:pPr algn="l">
              <a:lnSpc>
                <a:spcPct val="108000"/>
              </a:lnSpc>
              <a:spcBef>
                <a:spcPts val="0"/>
              </a:spcBef>
              <a:spcAft>
                <a:spcPts val="0"/>
              </a:spcAft>
              <a:defRPr sz="1250" b="0">
                <a:solidFill>
                  <a:srgbClr val="20685F"/>
                </a:solidFill>
                <a:latin typeface="Arial"/>
              </a:defRPr>
            </a:pPr>
            <a:r>
              <a:rPr>
                <a:solidFill>
                  <a:srgbClr val="20685F"/>
                </a:solidFill>
                <a:hlinkClick r:id="rId4"/>
              </a:rPr>
              <a:t>https://doi.org/10.1080/01944360208976274</a:t>
            </a:r>
          </a:p>
        </p:txBody>
      </p:sp>
      <p:sp>
        <p:nvSpPr>
          <p:cNvPr id="13" name="TextBox 12"/>
          <p:cNvSpPr txBox="1"/>
          <p:nvPr/>
        </p:nvSpPr>
        <p:spPr>
          <a:xfrm>
            <a:off x="585216" y="4928616"/>
            <a:ext cx="5449824" cy="1024128"/>
          </a:xfrm>
          <a:prstGeom prst="rect">
            <a:avLst/>
          </a:prstGeom>
          <a:noFill/>
        </p:spPr>
        <p:txBody>
          <a:bodyPr wrap="square" lIns="0" rIns="0" tIns="0" bIns="0" anchor="t">
            <a:spAutoFit/>
          </a:bodyPr>
          <a:lstStyle/>
          <a:p>
            <a:pPr algn="l">
              <a:lnSpc>
                <a:spcPct val="108000"/>
              </a:lnSpc>
              <a:spcBef>
                <a:spcPts val="0"/>
              </a:spcBef>
              <a:spcAft>
                <a:spcPts val="0"/>
              </a:spcAft>
              <a:defRPr sz="1400" b="0">
                <a:solidFill>
                  <a:srgbClr val="22312F"/>
                </a:solidFill>
                <a:latin typeface="Arial"/>
              </a:defRPr>
            </a:pPr>
            <a:r>
              <a:t>[3] Blanchard, Samuel D., &amp; Waddell, Paul. (2017). UrbanAccess: Generalized Methodology for Measuring Regional Accessibility with an Integrated Pedestrian and Transit Network. Transportation Research Record, 2653(1), 35–44.</a:t>
            </a:r>
          </a:p>
        </p:txBody>
      </p:sp>
      <p:sp>
        <p:nvSpPr>
          <p:cNvPr id="14" name="TextBox 13"/>
          <p:cNvSpPr txBox="1"/>
          <p:nvPr/>
        </p:nvSpPr>
        <p:spPr>
          <a:xfrm>
            <a:off x="585216" y="6035040"/>
            <a:ext cx="5312664" cy="246888"/>
          </a:xfrm>
          <a:prstGeom prst="rect">
            <a:avLst/>
          </a:prstGeom>
          <a:noFill/>
        </p:spPr>
        <p:txBody>
          <a:bodyPr wrap="square" lIns="0" rIns="0" tIns="0" bIns="0" anchor="t">
            <a:spAutoFit/>
          </a:bodyPr>
          <a:lstStyle/>
          <a:p>
            <a:pPr algn="l">
              <a:lnSpc>
                <a:spcPct val="108000"/>
              </a:lnSpc>
              <a:spcBef>
                <a:spcPts val="0"/>
              </a:spcBef>
              <a:spcAft>
                <a:spcPts val="0"/>
              </a:spcAft>
              <a:defRPr sz="1250" b="0">
                <a:solidFill>
                  <a:srgbClr val="20685F"/>
                </a:solidFill>
                <a:latin typeface="Arial"/>
              </a:defRPr>
            </a:pPr>
            <a:r>
              <a:rPr>
                <a:solidFill>
                  <a:srgbClr val="20685F"/>
                </a:solidFill>
                <a:hlinkClick r:id="rId5"/>
              </a:rPr>
              <a:t>https://doi.org/10.3141/2653-05</a:t>
            </a:r>
          </a:p>
        </p:txBody>
      </p:sp>
      <p:cxnSp>
        <p:nvCxnSpPr>
          <p:cNvPr id="15" name="Connector 14"/>
          <p:cNvCxnSpPr/>
          <p:nvPr/>
        </p:nvCxnSpPr>
        <p:spPr>
          <a:xfrm>
            <a:off x="6117336" y="1737360"/>
            <a:ext cx="0" cy="4443984"/>
          </a:xfrm>
          <a:prstGeom prst="line">
            <a:avLst/>
          </a:prstGeom>
          <a:ln w="12700">
            <a:solidFill>
              <a:srgbClr val="D9E3DE"/>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373368" y="1737360"/>
            <a:ext cx="5175504" cy="256032"/>
          </a:xfrm>
          <a:prstGeom prst="rect">
            <a:avLst/>
          </a:prstGeom>
          <a:noFill/>
        </p:spPr>
        <p:txBody>
          <a:bodyPr wrap="square" lIns="0" rIns="0" tIns="0" bIns="0" anchor="t">
            <a:spAutoFit/>
          </a:bodyPr>
          <a:lstStyle/>
          <a:p>
            <a:pPr algn="l">
              <a:lnSpc>
                <a:spcPct val="108000"/>
              </a:lnSpc>
              <a:spcBef>
                <a:spcPts val="0"/>
              </a:spcBef>
              <a:spcAft>
                <a:spcPts val="0"/>
              </a:spcAft>
              <a:defRPr sz="1200" b="1">
                <a:solidFill>
                  <a:srgbClr val="20685F"/>
                </a:solidFill>
                <a:latin typeface="Arial"/>
              </a:defRPr>
            </a:pPr>
            <a:r>
              <a:t>OFFICIAL CONTEXT + AUTHOR DOCUMENTATION</a:t>
            </a:r>
          </a:p>
        </p:txBody>
      </p:sp>
      <p:sp>
        <p:nvSpPr>
          <p:cNvPr id="17" name="TextBox 16"/>
          <p:cNvSpPr txBox="1"/>
          <p:nvPr/>
        </p:nvSpPr>
        <p:spPr>
          <a:xfrm>
            <a:off x="6373368" y="2093976"/>
            <a:ext cx="5175504" cy="768096"/>
          </a:xfrm>
          <a:prstGeom prst="rect">
            <a:avLst/>
          </a:prstGeom>
          <a:noFill/>
        </p:spPr>
        <p:txBody>
          <a:bodyPr wrap="square" lIns="0" rIns="0" tIns="0" bIns="0" anchor="t">
            <a:spAutoFit/>
          </a:bodyPr>
          <a:lstStyle/>
          <a:p>
            <a:pPr algn="l">
              <a:lnSpc>
                <a:spcPct val="108000"/>
              </a:lnSpc>
              <a:spcBef>
                <a:spcPts val="0"/>
              </a:spcBef>
              <a:spcAft>
                <a:spcPts val="0"/>
              </a:spcAft>
              <a:defRPr sz="1400" b="0">
                <a:solidFill>
                  <a:srgbClr val="22312F"/>
                </a:solidFill>
                <a:latin typeface="Arial"/>
              </a:defRPr>
            </a:pPr>
            <a:r>
              <a:t>[4] U.S. Environmental Protection Agency. (2025). Superfund Sites in Reuse in Washington. Lower Duwamish Waterway section (updated October 2025).</a:t>
            </a:r>
          </a:p>
        </p:txBody>
      </p:sp>
      <p:sp>
        <p:nvSpPr>
          <p:cNvPr id="18" name="TextBox 17"/>
          <p:cNvSpPr txBox="1"/>
          <p:nvPr/>
        </p:nvSpPr>
        <p:spPr>
          <a:xfrm>
            <a:off x="6373368" y="2916936"/>
            <a:ext cx="5175504" cy="502920"/>
          </a:xfrm>
          <a:prstGeom prst="rect">
            <a:avLst/>
          </a:prstGeom>
          <a:noFill/>
        </p:spPr>
        <p:txBody>
          <a:bodyPr wrap="square" lIns="0" rIns="0" tIns="0" bIns="0" anchor="t">
            <a:spAutoFit/>
          </a:bodyPr>
          <a:lstStyle/>
          <a:p>
            <a:pPr algn="l">
              <a:lnSpc>
                <a:spcPct val="108000"/>
              </a:lnSpc>
              <a:spcBef>
                <a:spcPts val="0"/>
              </a:spcBef>
              <a:spcAft>
                <a:spcPts val="0"/>
              </a:spcAft>
              <a:defRPr sz="1200" b="0">
                <a:solidFill>
                  <a:srgbClr val="20685F"/>
                </a:solidFill>
                <a:latin typeface="Arial"/>
              </a:defRPr>
            </a:pPr>
            <a:r>
              <a:rPr>
                <a:solidFill>
                  <a:srgbClr val="20685F"/>
                </a:solidFill>
                <a:hlinkClick r:id="rId6"/>
              </a:rPr>
              <a:t>https://www.epa.gov/superfund-redevelopment/superfund-sites-reuse-washington</a:t>
            </a:r>
          </a:p>
        </p:txBody>
      </p:sp>
      <p:sp>
        <p:nvSpPr>
          <p:cNvPr id="19" name="TextBox 18"/>
          <p:cNvSpPr txBox="1"/>
          <p:nvPr/>
        </p:nvSpPr>
        <p:spPr>
          <a:xfrm>
            <a:off x="6373368" y="3584448"/>
            <a:ext cx="5175504" cy="530352"/>
          </a:xfrm>
          <a:prstGeom prst="rect">
            <a:avLst/>
          </a:prstGeom>
          <a:noFill/>
        </p:spPr>
        <p:txBody>
          <a:bodyPr wrap="square" lIns="0" rIns="0" tIns="0" bIns="0" anchor="t">
            <a:spAutoFit/>
          </a:bodyPr>
          <a:lstStyle/>
          <a:p>
            <a:pPr algn="l">
              <a:lnSpc>
                <a:spcPct val="108000"/>
              </a:lnSpc>
              <a:spcBef>
                <a:spcPts val="0"/>
              </a:spcBef>
              <a:spcAft>
                <a:spcPts val="0"/>
              </a:spcAft>
              <a:defRPr sz="1400" b="0">
                <a:solidFill>
                  <a:srgbClr val="22312F"/>
                </a:solidFill>
                <a:latin typeface="Arial"/>
              </a:defRPr>
            </a:pPr>
            <a:r>
              <a:t>[5] Urban Data Science Toolkit. (n.d.). History of UrbanSim and UDST. Original author documentation.</a:t>
            </a:r>
          </a:p>
        </p:txBody>
      </p:sp>
      <p:sp>
        <p:nvSpPr>
          <p:cNvPr id="20" name="TextBox 19"/>
          <p:cNvSpPr txBox="1"/>
          <p:nvPr/>
        </p:nvSpPr>
        <p:spPr>
          <a:xfrm>
            <a:off x="6373368" y="4160520"/>
            <a:ext cx="5175504" cy="301752"/>
          </a:xfrm>
          <a:prstGeom prst="rect">
            <a:avLst/>
          </a:prstGeom>
          <a:noFill/>
        </p:spPr>
        <p:txBody>
          <a:bodyPr wrap="square" lIns="0" rIns="0" tIns="0" bIns="0" anchor="t">
            <a:spAutoFit/>
          </a:bodyPr>
          <a:lstStyle/>
          <a:p>
            <a:pPr algn="l">
              <a:lnSpc>
                <a:spcPct val="108000"/>
              </a:lnSpc>
              <a:spcBef>
                <a:spcPts val="0"/>
              </a:spcBef>
              <a:spcAft>
                <a:spcPts val="0"/>
              </a:spcAft>
              <a:defRPr sz="1200" b="0">
                <a:solidFill>
                  <a:srgbClr val="20685F"/>
                </a:solidFill>
                <a:latin typeface="Arial"/>
              </a:defRPr>
            </a:pPr>
            <a:r>
              <a:rPr>
                <a:solidFill>
                  <a:srgbClr val="20685F"/>
                </a:solidFill>
                <a:hlinkClick r:id="rId7"/>
              </a:rPr>
              <a:t>https://github.com/UDST/.github/blob/main/HISTORY.md</a:t>
            </a:r>
          </a:p>
        </p:txBody>
      </p:sp>
      <p:sp>
        <p:nvSpPr>
          <p:cNvPr id="21" name="TextBox 20"/>
          <p:cNvSpPr txBox="1"/>
          <p:nvPr/>
        </p:nvSpPr>
        <p:spPr>
          <a:xfrm>
            <a:off x="6373368" y="4562856"/>
            <a:ext cx="5175504" cy="228600"/>
          </a:xfrm>
          <a:prstGeom prst="rect">
            <a:avLst/>
          </a:prstGeom>
          <a:noFill/>
        </p:spPr>
        <p:txBody>
          <a:bodyPr wrap="square" lIns="0" rIns="0" tIns="0" bIns="0" anchor="t">
            <a:spAutoFit/>
          </a:bodyPr>
          <a:lstStyle/>
          <a:p>
            <a:pPr algn="l">
              <a:lnSpc>
                <a:spcPct val="108000"/>
              </a:lnSpc>
              <a:spcBef>
                <a:spcPts val="0"/>
              </a:spcBef>
              <a:spcAft>
                <a:spcPts val="0"/>
              </a:spcAft>
              <a:defRPr sz="1200" b="1">
                <a:solidFill>
                  <a:srgbClr val="20685F"/>
                </a:solidFill>
                <a:latin typeface="Arial"/>
              </a:defRPr>
            </a:pPr>
            <a:r>
              <a:t>PRIMARY MATERIALS</a:t>
            </a:r>
          </a:p>
        </p:txBody>
      </p:sp>
      <p:sp>
        <p:nvSpPr>
          <p:cNvPr id="22" name="TextBox 21"/>
          <p:cNvSpPr txBox="1"/>
          <p:nvPr/>
        </p:nvSpPr>
        <p:spPr>
          <a:xfrm>
            <a:off x="6373368" y="4892040"/>
            <a:ext cx="5175504" cy="1243584"/>
          </a:xfrm>
          <a:prstGeom prst="rect">
            <a:avLst/>
          </a:prstGeom>
          <a:noFill/>
        </p:spPr>
        <p:txBody>
          <a:bodyPr wrap="square" lIns="0" rIns="0" tIns="0" bIns="0" anchor="t">
            <a:spAutoFit/>
          </a:bodyPr>
          <a:lstStyle/>
          <a:p>
            <a:pPr algn="l">
              <a:lnSpc>
                <a:spcPct val="102000"/>
              </a:lnSpc>
              <a:spcBef>
                <a:spcPts val="0"/>
              </a:spcBef>
              <a:spcAft>
                <a:spcPts val="0"/>
              </a:spcAft>
              <a:defRPr sz="1250" b="0">
                <a:solidFill>
                  <a:srgbClr val="22312F"/>
                </a:solidFill>
                <a:latin typeface="Arial"/>
              </a:defRPr>
            </a:pPr>
            <a:r>
              <a:t>Author/date unstated. Unequal Access by Design: Industrial Zoning and Spatial Justice in Seattle’s Lower Duwamish Corridor. Supplied abstract: ACSP.pdf, p. 1.</a:t>
            </a:r>
          </a:p>
          <a:p>
            <a:pPr algn="l">
              <a:lnSpc>
                <a:spcPct val="102000"/>
              </a:lnSpc>
              <a:spcBef>
                <a:spcPts val="0"/>
              </a:spcBef>
              <a:spcAft>
                <a:spcPts val="0"/>
              </a:spcAft>
              <a:defRPr sz="1250" b="0">
                <a:solidFill>
                  <a:srgbClr val="22312F"/>
                </a:solidFill>
                <a:latin typeface="Arial"/>
              </a:defRPr>
            </a:pPr>
          </a:p>
          <a:p>
            <a:pPr algn="l">
              <a:lnSpc>
                <a:spcPct val="102000"/>
              </a:lnSpc>
              <a:spcBef>
                <a:spcPts val="0"/>
              </a:spcBef>
              <a:spcAft>
                <a:spcPts val="0"/>
              </a:spcAft>
              <a:defRPr sz="1250" b="0">
                <a:solidFill>
                  <a:srgbClr val="22312F"/>
                </a:solidFill>
                <a:latin typeface="Arial"/>
              </a:defRPr>
            </a:pPr>
            <a:r>
              <a:t>Li, Su; Zhang, Yijun; Zheng, Yanrong. (n.d.). FOOD. CO. LARCH 507, Catherine de Almeida. Supplied portfolio: LARC507_SL_YZ_YZ.PDF.pdf, pp. 1–12.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20685F"/>
      </a:hlink>
      <a:folHlink>
        <a:srgbClr val="20685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Unequal Access by Design: Industrial Zoning and Spatial Justice in Seattle’s Lower Duwamish Corridor</dc:title>
  <dc:subject>ACSP planning research presentation; literature, abstract-reported findings and two studio illustrations</dc:subject>
  <dc:creator>Yijun Zhang, MKSK</dc:creator>
  <cp:keywords>ACSP, Duwamish, Georgetown, South Park, spatial justice, FOOD. CO.</cp:keywords>
  <dc:description>Built with python-pptx from presenter materials and verified external planning literature/context; see References.</dc:description>
  <cp:lastModifiedBy>Steve Canny</cp:lastModifiedBy>
  <cp:revision>1</cp:revision>
  <dcterms:created xsi:type="dcterms:W3CDTF">2013-01-27T09:14:16Z</dcterms:created>
  <dcterms:modified xsi:type="dcterms:W3CDTF">2013-01-27T09:15:58Z</dcterms:modified>
  <cp:category/>
</cp:coreProperties>
</file>